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62AAF-DA0E-4373-9F91-4D9360AA6E77}" v="101" dt="2025-09-23T14:05:49.711"/>
    <p1510:client id="{C562E3F6-AFF7-46A4-A919-712CB8307B14}" v="1135" dt="2025-09-23T13:51:43.6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74798-B498-401C-B4DA-74901E0B7A1E}" type="datetimeFigureOut"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0AA7A-5A6E-4BC8-8BAE-359C063FDA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5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98685" y="186203"/>
            <a:ext cx="515493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101124"/>
            <a:ext cx="18288000" cy="186055"/>
          </a:xfrm>
          <a:custGeom>
            <a:avLst/>
            <a:gdLst/>
            <a:ahLst/>
            <a:cxnLst/>
            <a:rect l="l" t="t" r="r" b="b"/>
            <a:pathLst>
              <a:path w="18288000" h="186054">
                <a:moveTo>
                  <a:pt x="0" y="185874"/>
                </a:moveTo>
                <a:lnTo>
                  <a:pt x="18287998" y="185874"/>
                </a:lnTo>
                <a:lnTo>
                  <a:pt x="18287998" y="0"/>
                </a:lnTo>
                <a:lnTo>
                  <a:pt x="0" y="0"/>
                </a:lnTo>
                <a:lnTo>
                  <a:pt x="0" y="185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9760585"/>
          </a:xfrm>
          <a:custGeom>
            <a:avLst/>
            <a:gdLst/>
            <a:ahLst/>
            <a:cxnLst/>
            <a:rect l="l" t="t" r="r" b="b"/>
            <a:pathLst>
              <a:path w="18288000" h="9760585">
                <a:moveTo>
                  <a:pt x="0" y="9760105"/>
                </a:moveTo>
                <a:lnTo>
                  <a:pt x="18287998" y="9760105"/>
                </a:lnTo>
                <a:lnTo>
                  <a:pt x="18287998" y="0"/>
                </a:lnTo>
                <a:lnTo>
                  <a:pt x="0" y="0"/>
                </a:lnTo>
                <a:lnTo>
                  <a:pt x="0" y="9760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35" y="0"/>
            <a:ext cx="18151963" cy="995275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760105"/>
            <a:ext cx="18288000" cy="341630"/>
          </a:xfrm>
          <a:custGeom>
            <a:avLst/>
            <a:gdLst/>
            <a:ahLst/>
            <a:cxnLst/>
            <a:rect l="l" t="t" r="r" b="b"/>
            <a:pathLst>
              <a:path w="18288000" h="341629">
                <a:moveTo>
                  <a:pt x="18287999" y="341019"/>
                </a:moveTo>
                <a:lnTo>
                  <a:pt x="0" y="34101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41019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8145" y="0"/>
            <a:ext cx="2047874" cy="1408841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763" y="0"/>
            <a:ext cx="1714499" cy="15516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96329" y="0"/>
            <a:ext cx="2091670" cy="14001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63" y="0"/>
            <a:ext cx="1714499" cy="155167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760105"/>
            <a:ext cx="18288000" cy="341630"/>
          </a:xfrm>
          <a:custGeom>
            <a:avLst/>
            <a:gdLst/>
            <a:ahLst/>
            <a:cxnLst/>
            <a:rect l="l" t="t" r="r" b="b"/>
            <a:pathLst>
              <a:path w="18288000" h="341629">
                <a:moveTo>
                  <a:pt x="18287999" y="341019"/>
                </a:moveTo>
                <a:lnTo>
                  <a:pt x="0" y="34101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41019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81044" y="1525250"/>
            <a:ext cx="281305" cy="189230"/>
          </a:xfrm>
          <a:custGeom>
            <a:avLst/>
            <a:gdLst/>
            <a:ahLst/>
            <a:cxnLst/>
            <a:rect l="l" t="t" r="r" b="b"/>
            <a:pathLst>
              <a:path w="281305" h="189230">
                <a:moveTo>
                  <a:pt x="0" y="188885"/>
                </a:moveTo>
                <a:lnTo>
                  <a:pt x="0" y="0"/>
                </a:lnTo>
                <a:lnTo>
                  <a:pt x="281061" y="0"/>
                </a:lnTo>
                <a:lnTo>
                  <a:pt x="281061" y="188885"/>
                </a:lnTo>
                <a:lnTo>
                  <a:pt x="0" y="188885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81044" y="1903021"/>
            <a:ext cx="281305" cy="189230"/>
          </a:xfrm>
          <a:custGeom>
            <a:avLst/>
            <a:gdLst/>
            <a:ahLst/>
            <a:cxnLst/>
            <a:rect l="l" t="t" r="r" b="b"/>
            <a:pathLst>
              <a:path w="281305" h="189230">
                <a:moveTo>
                  <a:pt x="0" y="188885"/>
                </a:moveTo>
                <a:lnTo>
                  <a:pt x="0" y="0"/>
                </a:lnTo>
                <a:lnTo>
                  <a:pt x="281061" y="0"/>
                </a:lnTo>
                <a:lnTo>
                  <a:pt x="281061" y="188885"/>
                </a:lnTo>
                <a:lnTo>
                  <a:pt x="0" y="188885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81044" y="2280792"/>
            <a:ext cx="281305" cy="189230"/>
          </a:xfrm>
          <a:custGeom>
            <a:avLst/>
            <a:gdLst/>
            <a:ahLst/>
            <a:cxnLst/>
            <a:rect l="l" t="t" r="r" b="b"/>
            <a:pathLst>
              <a:path w="281305" h="189230">
                <a:moveTo>
                  <a:pt x="0" y="188885"/>
                </a:moveTo>
                <a:lnTo>
                  <a:pt x="0" y="0"/>
                </a:lnTo>
                <a:lnTo>
                  <a:pt x="281061" y="0"/>
                </a:lnTo>
                <a:lnTo>
                  <a:pt x="281061" y="188885"/>
                </a:lnTo>
                <a:lnTo>
                  <a:pt x="0" y="188885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-16" y="1714135"/>
            <a:ext cx="281305" cy="189230"/>
          </a:xfrm>
          <a:custGeom>
            <a:avLst/>
            <a:gdLst/>
            <a:ahLst/>
            <a:cxnLst/>
            <a:rect l="l" t="t" r="r" b="b"/>
            <a:pathLst>
              <a:path w="281305" h="189230">
                <a:moveTo>
                  <a:pt x="0" y="188885"/>
                </a:moveTo>
                <a:lnTo>
                  <a:pt x="0" y="0"/>
                </a:lnTo>
                <a:lnTo>
                  <a:pt x="281061" y="0"/>
                </a:lnTo>
                <a:lnTo>
                  <a:pt x="281061" y="188885"/>
                </a:lnTo>
                <a:lnTo>
                  <a:pt x="0" y="188885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-16" y="2091907"/>
            <a:ext cx="281305" cy="189230"/>
          </a:xfrm>
          <a:custGeom>
            <a:avLst/>
            <a:gdLst/>
            <a:ahLst/>
            <a:cxnLst/>
            <a:rect l="l" t="t" r="r" b="b"/>
            <a:pathLst>
              <a:path w="281305" h="189230">
                <a:moveTo>
                  <a:pt x="0" y="188885"/>
                </a:moveTo>
                <a:lnTo>
                  <a:pt x="0" y="0"/>
                </a:lnTo>
                <a:lnTo>
                  <a:pt x="281061" y="0"/>
                </a:lnTo>
                <a:lnTo>
                  <a:pt x="281061" y="188885"/>
                </a:lnTo>
                <a:lnTo>
                  <a:pt x="0" y="188885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68032" y="53213"/>
            <a:ext cx="11384280" cy="173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92264" y="9752503"/>
            <a:ext cx="4566284" cy="337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4867" y="34575"/>
            <a:ext cx="6988192" cy="9982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350" spc="220" dirty="0">
                <a:solidFill>
                  <a:srgbClr val="FFFFFF"/>
                </a:solidFill>
              </a:rPr>
              <a:t>TEAM</a:t>
            </a:r>
            <a:r>
              <a:rPr sz="6350" spc="-409" dirty="0">
                <a:solidFill>
                  <a:srgbClr val="FFFFFF"/>
                </a:solidFill>
              </a:rPr>
              <a:t> </a:t>
            </a:r>
            <a:r>
              <a:rPr sz="6350" spc="305" dirty="0">
                <a:solidFill>
                  <a:srgbClr val="FFFFFF"/>
                </a:solidFill>
              </a:rPr>
              <a:t>DETAILS</a:t>
            </a:r>
            <a:endParaRPr sz="6350">
              <a:solidFill>
                <a:srgbClr val="FFFFFF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59" y="1411681"/>
            <a:ext cx="3546904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b="1" i="1" spc="13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3650" b="1" i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50" b="1" i="1" spc="175" dirty="0">
                <a:solidFill>
                  <a:srgbClr val="FFFFFF"/>
                </a:solidFill>
                <a:latin typeface="Trebuchet MS"/>
                <a:cs typeface="Trebuchet MS"/>
              </a:rPr>
              <a:t>NAME:</a:t>
            </a:r>
            <a:endParaRPr sz="365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2559" y="1411681"/>
            <a:ext cx="2267876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b="1" i="1" spc="145" dirty="0">
                <a:solidFill>
                  <a:srgbClr val="FFFFFF"/>
                </a:solidFill>
                <a:latin typeface="Trebuchet MS"/>
                <a:cs typeface="Trebuchet MS"/>
              </a:rPr>
              <a:t>THEME</a:t>
            </a:r>
            <a:r>
              <a:rPr sz="3650" b="1" i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50" b="1" i="1" spc="-38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65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2359" y="2338440"/>
            <a:ext cx="7117938" cy="1699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b="1" i="1" spc="13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3650" b="1" i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50" b="1" i="1" spc="300" dirty="0">
                <a:solidFill>
                  <a:srgbClr val="FFFFFF"/>
                </a:solidFill>
                <a:latin typeface="Trebuchet MS"/>
                <a:cs typeface="Trebuchet MS"/>
              </a:rPr>
              <a:t>MEMBERS</a:t>
            </a:r>
            <a:r>
              <a:rPr sz="3650" b="1" i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50" b="1" i="1" spc="110" dirty="0">
                <a:solidFill>
                  <a:srgbClr val="FFFFFF"/>
                </a:solidFill>
                <a:latin typeface="Trebuchet MS"/>
                <a:cs typeface="Trebuchet MS"/>
              </a:rPr>
              <a:t>DETAILS:</a:t>
            </a:r>
            <a:endParaRPr sz="365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16230">
              <a:lnSpc>
                <a:spcPct val="100000"/>
              </a:lnSpc>
              <a:spcBef>
                <a:spcPts val="4209"/>
              </a:spcBef>
              <a:tabLst>
                <a:tab pos="4531360" algn="l"/>
              </a:tabLst>
            </a:pPr>
            <a:r>
              <a:rPr sz="3800" b="1" i="1" spc="260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3800" b="1" i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3800" b="1" i="1" spc="80" dirty="0">
                <a:solidFill>
                  <a:srgbClr val="FFFFFF"/>
                </a:solidFill>
                <a:latin typeface="Trebuchet MS"/>
                <a:cs typeface="Trebuchet MS"/>
              </a:rPr>
              <a:t>Email</a:t>
            </a:r>
            <a:endParaRPr sz="380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0841" y="3433184"/>
            <a:ext cx="1827632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i="1" spc="200" dirty="0">
                <a:solidFill>
                  <a:srgbClr val="FFFFFF"/>
                </a:solidFill>
                <a:latin typeface="Trebuchet MS"/>
                <a:cs typeface="Trebuchet MS"/>
              </a:rPr>
              <a:t>Phone</a:t>
            </a:r>
            <a:endParaRPr sz="380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04748" y="3433183"/>
            <a:ext cx="2139399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i="1" spc="90" dirty="0">
                <a:solidFill>
                  <a:srgbClr val="FFFFFF"/>
                </a:solidFill>
                <a:latin typeface="Trebuchet MS"/>
                <a:cs typeface="Trebuchet MS"/>
              </a:rPr>
              <a:t>College</a:t>
            </a:r>
            <a:endParaRPr sz="380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-12" y="1442392"/>
            <a:ext cx="18208532" cy="1110532"/>
          </a:xfrm>
          <a:custGeom>
            <a:avLst/>
            <a:gdLst/>
            <a:ahLst/>
            <a:cxnLst/>
            <a:rect l="l" t="t" r="r" b="b"/>
            <a:pathLst>
              <a:path w="18288000" h="944880">
                <a:moveTo>
                  <a:pt x="281051" y="566699"/>
                </a:moveTo>
                <a:lnTo>
                  <a:pt x="0" y="566699"/>
                </a:lnTo>
                <a:lnTo>
                  <a:pt x="0" y="755586"/>
                </a:lnTo>
                <a:lnTo>
                  <a:pt x="281051" y="755586"/>
                </a:lnTo>
                <a:lnTo>
                  <a:pt x="281051" y="566699"/>
                </a:lnTo>
                <a:close/>
              </a:path>
              <a:path w="18288000" h="944880">
                <a:moveTo>
                  <a:pt x="281051" y="188925"/>
                </a:moveTo>
                <a:lnTo>
                  <a:pt x="0" y="188925"/>
                </a:lnTo>
                <a:lnTo>
                  <a:pt x="0" y="377812"/>
                </a:lnTo>
                <a:lnTo>
                  <a:pt x="281051" y="377812"/>
                </a:lnTo>
                <a:lnTo>
                  <a:pt x="281051" y="188925"/>
                </a:lnTo>
                <a:close/>
              </a:path>
              <a:path w="18288000" h="944880">
                <a:moveTo>
                  <a:pt x="562114" y="755586"/>
                </a:moveTo>
                <a:lnTo>
                  <a:pt x="281051" y="755586"/>
                </a:lnTo>
                <a:lnTo>
                  <a:pt x="281051" y="944460"/>
                </a:lnTo>
                <a:lnTo>
                  <a:pt x="562114" y="944460"/>
                </a:lnTo>
                <a:lnTo>
                  <a:pt x="562114" y="755586"/>
                </a:lnTo>
                <a:close/>
              </a:path>
              <a:path w="18288000" h="944880">
                <a:moveTo>
                  <a:pt x="562114" y="377812"/>
                </a:moveTo>
                <a:lnTo>
                  <a:pt x="281051" y="377812"/>
                </a:lnTo>
                <a:lnTo>
                  <a:pt x="281051" y="566699"/>
                </a:lnTo>
                <a:lnTo>
                  <a:pt x="562114" y="566699"/>
                </a:lnTo>
                <a:lnTo>
                  <a:pt x="562114" y="377812"/>
                </a:lnTo>
                <a:close/>
              </a:path>
              <a:path w="18288000" h="944880">
                <a:moveTo>
                  <a:pt x="562114" y="38"/>
                </a:moveTo>
                <a:lnTo>
                  <a:pt x="281051" y="38"/>
                </a:lnTo>
                <a:lnTo>
                  <a:pt x="281051" y="188925"/>
                </a:lnTo>
                <a:lnTo>
                  <a:pt x="562114" y="188925"/>
                </a:lnTo>
                <a:lnTo>
                  <a:pt x="562114" y="38"/>
                </a:lnTo>
                <a:close/>
              </a:path>
              <a:path w="18288000" h="944880">
                <a:moveTo>
                  <a:pt x="18012474" y="740537"/>
                </a:moveTo>
                <a:lnTo>
                  <a:pt x="17736998" y="740537"/>
                </a:lnTo>
                <a:lnTo>
                  <a:pt x="17736998" y="925664"/>
                </a:lnTo>
                <a:lnTo>
                  <a:pt x="18012474" y="925664"/>
                </a:lnTo>
                <a:lnTo>
                  <a:pt x="18012474" y="740537"/>
                </a:lnTo>
                <a:close/>
              </a:path>
              <a:path w="18288000" h="944880">
                <a:moveTo>
                  <a:pt x="18012474" y="370268"/>
                </a:moveTo>
                <a:lnTo>
                  <a:pt x="17736998" y="370268"/>
                </a:lnTo>
                <a:lnTo>
                  <a:pt x="17736998" y="555396"/>
                </a:lnTo>
                <a:lnTo>
                  <a:pt x="18012474" y="555396"/>
                </a:lnTo>
                <a:lnTo>
                  <a:pt x="18012474" y="370268"/>
                </a:lnTo>
                <a:close/>
              </a:path>
              <a:path w="18288000" h="944880">
                <a:moveTo>
                  <a:pt x="18012474" y="0"/>
                </a:moveTo>
                <a:lnTo>
                  <a:pt x="17736998" y="0"/>
                </a:lnTo>
                <a:lnTo>
                  <a:pt x="17736998" y="185127"/>
                </a:lnTo>
                <a:lnTo>
                  <a:pt x="18012474" y="185127"/>
                </a:lnTo>
                <a:lnTo>
                  <a:pt x="18012474" y="0"/>
                </a:lnTo>
                <a:close/>
              </a:path>
              <a:path w="18288000" h="944880">
                <a:moveTo>
                  <a:pt x="18287950" y="555396"/>
                </a:moveTo>
                <a:lnTo>
                  <a:pt x="18012474" y="555396"/>
                </a:lnTo>
                <a:lnTo>
                  <a:pt x="18012474" y="740537"/>
                </a:lnTo>
                <a:lnTo>
                  <a:pt x="18287950" y="740537"/>
                </a:lnTo>
                <a:lnTo>
                  <a:pt x="18287950" y="555396"/>
                </a:lnTo>
                <a:close/>
              </a:path>
              <a:path w="18288000" h="944880">
                <a:moveTo>
                  <a:pt x="18287950" y="185127"/>
                </a:moveTo>
                <a:lnTo>
                  <a:pt x="18012474" y="185127"/>
                </a:lnTo>
                <a:lnTo>
                  <a:pt x="18012474" y="370268"/>
                </a:lnTo>
                <a:lnTo>
                  <a:pt x="18287950" y="370268"/>
                </a:lnTo>
                <a:lnTo>
                  <a:pt x="18287950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FFFF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092264" y="9752503"/>
            <a:ext cx="5415811" cy="30521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>
                <a:solidFill>
                  <a:srgbClr val="FFFFFF"/>
                </a:solidFill>
              </a:rPr>
              <a:t>@UDAYA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1.O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80" dirty="0">
                <a:solidFill>
                  <a:srgbClr val="FFFFFF"/>
                </a:solidFill>
              </a:rPr>
              <a:t>Idea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spc="60" dirty="0">
                <a:solidFill>
                  <a:srgbClr val="FFFFFF"/>
                </a:solidFill>
              </a:rPr>
              <a:t>submission-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Template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A8E09-67A7-092A-E6D9-ED1A904467F9}"/>
              </a:ext>
            </a:extLst>
          </p:cNvPr>
          <p:cNvSpPr txBox="1"/>
          <p:nvPr/>
        </p:nvSpPr>
        <p:spPr>
          <a:xfrm>
            <a:off x="4162998" y="1345618"/>
            <a:ext cx="52140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Hackers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1DC08-CDAE-0AD0-6690-E4ABE2D5C5FF}"/>
              </a:ext>
            </a:extLst>
          </p:cNvPr>
          <p:cNvSpPr txBox="1"/>
          <p:nvPr/>
        </p:nvSpPr>
        <p:spPr>
          <a:xfrm>
            <a:off x="11841769" y="1344654"/>
            <a:ext cx="636618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AI IN HEALTHCARE</a:t>
            </a:r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71266-71C7-ED41-C088-326EAD6F9E9A}"/>
              </a:ext>
            </a:extLst>
          </p:cNvPr>
          <p:cNvSpPr txBox="1"/>
          <p:nvPr/>
        </p:nvSpPr>
        <p:spPr>
          <a:xfrm>
            <a:off x="378854" y="4569527"/>
            <a:ext cx="40490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KARTHIKA M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DAF15-EC44-326B-17D3-7221CD1D2620}"/>
              </a:ext>
            </a:extLst>
          </p:cNvPr>
          <p:cNvSpPr txBox="1"/>
          <p:nvPr/>
        </p:nvSpPr>
        <p:spPr>
          <a:xfrm>
            <a:off x="378210" y="5523099"/>
            <a:ext cx="490386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NAREN YASHWANTH 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2A569-7B7C-01FC-716A-7A27773CEFE4}"/>
              </a:ext>
            </a:extLst>
          </p:cNvPr>
          <p:cNvSpPr txBox="1"/>
          <p:nvPr/>
        </p:nvSpPr>
        <p:spPr>
          <a:xfrm>
            <a:off x="378210" y="7053748"/>
            <a:ext cx="341580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KARTHIK K 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42C9D-281D-08E2-66D7-9C8BAA8705CA}"/>
              </a:ext>
            </a:extLst>
          </p:cNvPr>
          <p:cNvSpPr txBox="1"/>
          <p:nvPr/>
        </p:nvSpPr>
        <p:spPr>
          <a:xfrm>
            <a:off x="4569526" y="4687839"/>
            <a:ext cx="40608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karthikam3178@gmail.com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CF2FE1-EECC-8A1D-05F6-DD44D3D7E3B2}"/>
              </a:ext>
            </a:extLst>
          </p:cNvPr>
          <p:cNvSpPr txBox="1"/>
          <p:nvPr/>
        </p:nvSpPr>
        <p:spPr>
          <a:xfrm>
            <a:off x="4322391" y="5954406"/>
            <a:ext cx="4570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narenyashwanth07@gmail.com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4E4512-245B-539D-AA2A-7C89B22AEC23}"/>
              </a:ext>
            </a:extLst>
          </p:cNvPr>
          <p:cNvSpPr txBox="1"/>
          <p:nvPr/>
        </p:nvSpPr>
        <p:spPr>
          <a:xfrm>
            <a:off x="4430513" y="7205527"/>
            <a:ext cx="43389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kachilanda.karthik@gmail.com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94EEE8-7F27-24BF-F445-91BDDA0C6A96}"/>
              </a:ext>
            </a:extLst>
          </p:cNvPr>
          <p:cNvSpPr txBox="1"/>
          <p:nvPr/>
        </p:nvSpPr>
        <p:spPr>
          <a:xfrm>
            <a:off x="9520269" y="4611252"/>
            <a:ext cx="407965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</a:rPr>
              <a:t>8884881806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A08F0-D171-F5F4-BD94-A37B620CE08C}"/>
              </a:ext>
            </a:extLst>
          </p:cNvPr>
          <p:cNvSpPr txBox="1"/>
          <p:nvPr/>
        </p:nvSpPr>
        <p:spPr>
          <a:xfrm>
            <a:off x="9520268" y="5877819"/>
            <a:ext cx="407965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</a:rPr>
              <a:t>7795056371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EFCC77-1513-E598-87FB-960923B5FF70}"/>
              </a:ext>
            </a:extLst>
          </p:cNvPr>
          <p:cNvSpPr txBox="1"/>
          <p:nvPr/>
        </p:nvSpPr>
        <p:spPr>
          <a:xfrm>
            <a:off x="9520268" y="7082603"/>
            <a:ext cx="407965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 dirty="0">
                <a:solidFill>
                  <a:schemeClr val="bg1"/>
                </a:solidFill>
              </a:rPr>
              <a:t>9916354434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0B3FC-5696-9334-4A15-27B8F4D646C1}"/>
              </a:ext>
            </a:extLst>
          </p:cNvPr>
          <p:cNvSpPr txBox="1"/>
          <p:nvPr/>
        </p:nvSpPr>
        <p:spPr>
          <a:xfrm>
            <a:off x="13604430" y="4688159"/>
            <a:ext cx="62847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DAYANANDA SAGAR UNIVERSITY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E56F30-6DBE-2FBC-9C0C-11755C5D69B4}"/>
              </a:ext>
            </a:extLst>
          </p:cNvPr>
          <p:cNvSpPr txBox="1"/>
          <p:nvPr/>
        </p:nvSpPr>
        <p:spPr>
          <a:xfrm>
            <a:off x="13712551" y="7159509"/>
            <a:ext cx="62847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DAYANANDA SAGAR UNIVERSITY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0885B-1A97-B997-20A8-BEBE0C2F47C7}"/>
              </a:ext>
            </a:extLst>
          </p:cNvPr>
          <p:cNvSpPr txBox="1"/>
          <p:nvPr/>
        </p:nvSpPr>
        <p:spPr>
          <a:xfrm>
            <a:off x="13604429" y="5877497"/>
            <a:ext cx="62847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DAYANANDA SAGAR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36985" y="2265746"/>
            <a:ext cx="275590" cy="185420"/>
          </a:xfrm>
          <a:custGeom>
            <a:avLst/>
            <a:gdLst/>
            <a:ahLst/>
            <a:cxnLst/>
            <a:rect l="l" t="t" r="r" b="b"/>
            <a:pathLst>
              <a:path w="275590" h="185419">
                <a:moveTo>
                  <a:pt x="275480" y="0"/>
                </a:moveTo>
                <a:lnTo>
                  <a:pt x="275480" y="185134"/>
                </a:lnTo>
                <a:lnTo>
                  <a:pt x="0" y="185134"/>
                </a:lnTo>
                <a:lnTo>
                  <a:pt x="0" y="0"/>
                </a:lnTo>
                <a:lnTo>
                  <a:pt x="275480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736985" y="1895476"/>
            <a:ext cx="275590" cy="185420"/>
          </a:xfrm>
          <a:custGeom>
            <a:avLst/>
            <a:gdLst/>
            <a:ahLst/>
            <a:cxnLst/>
            <a:rect l="l" t="t" r="r" b="b"/>
            <a:pathLst>
              <a:path w="275590" h="185419">
                <a:moveTo>
                  <a:pt x="275480" y="0"/>
                </a:moveTo>
                <a:lnTo>
                  <a:pt x="275480" y="185134"/>
                </a:lnTo>
                <a:lnTo>
                  <a:pt x="0" y="185134"/>
                </a:lnTo>
                <a:lnTo>
                  <a:pt x="0" y="0"/>
                </a:lnTo>
                <a:lnTo>
                  <a:pt x="275480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736985" y="1525206"/>
            <a:ext cx="275590" cy="185420"/>
          </a:xfrm>
          <a:custGeom>
            <a:avLst/>
            <a:gdLst/>
            <a:ahLst/>
            <a:cxnLst/>
            <a:rect l="l" t="t" r="r" b="b"/>
            <a:pathLst>
              <a:path w="275590" h="185419">
                <a:moveTo>
                  <a:pt x="275480" y="0"/>
                </a:moveTo>
                <a:lnTo>
                  <a:pt x="275480" y="185134"/>
                </a:lnTo>
                <a:lnTo>
                  <a:pt x="0" y="185134"/>
                </a:lnTo>
                <a:lnTo>
                  <a:pt x="0" y="0"/>
                </a:lnTo>
                <a:lnTo>
                  <a:pt x="275480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12466" y="2080611"/>
            <a:ext cx="275590" cy="185420"/>
          </a:xfrm>
          <a:custGeom>
            <a:avLst/>
            <a:gdLst/>
            <a:ahLst/>
            <a:cxnLst/>
            <a:rect l="l" t="t" r="r" b="b"/>
            <a:pathLst>
              <a:path w="275590" h="185419">
                <a:moveTo>
                  <a:pt x="275480" y="0"/>
                </a:moveTo>
                <a:lnTo>
                  <a:pt x="275480" y="185134"/>
                </a:lnTo>
                <a:lnTo>
                  <a:pt x="0" y="185134"/>
                </a:lnTo>
                <a:lnTo>
                  <a:pt x="0" y="0"/>
                </a:lnTo>
                <a:lnTo>
                  <a:pt x="275480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12466" y="1710341"/>
            <a:ext cx="275590" cy="185420"/>
          </a:xfrm>
          <a:custGeom>
            <a:avLst/>
            <a:gdLst/>
            <a:ahLst/>
            <a:cxnLst/>
            <a:rect l="l" t="t" r="r" b="b"/>
            <a:pathLst>
              <a:path w="275590" h="185419">
                <a:moveTo>
                  <a:pt x="275480" y="0"/>
                </a:moveTo>
                <a:lnTo>
                  <a:pt x="275480" y="185134"/>
                </a:lnTo>
                <a:lnTo>
                  <a:pt x="0" y="185134"/>
                </a:lnTo>
                <a:lnTo>
                  <a:pt x="0" y="0"/>
                </a:lnTo>
                <a:lnTo>
                  <a:pt x="275480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735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spc="430" dirty="0"/>
              <a:t>PROBLEM</a:t>
            </a:r>
            <a:r>
              <a:rPr spc="-420" dirty="0"/>
              <a:t> </a:t>
            </a:r>
            <a:r>
              <a:rPr spc="114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C3FE26-E095-EF69-22ED-D0F1299A339D}"/>
              </a:ext>
            </a:extLst>
          </p:cNvPr>
          <p:cNvSpPr txBox="1"/>
          <p:nvPr/>
        </p:nvSpPr>
        <p:spPr>
          <a:xfrm>
            <a:off x="673826" y="2572285"/>
            <a:ext cx="17068076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Millions silently struggle with focus, fatigue, memory lapses, or emotional stress — yet most </a:t>
            </a:r>
            <a:r>
              <a:rPr lang="en-US" sz="25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never seek help</a:t>
            </a:r>
            <a:r>
              <a:rPr lang="en-US" sz="25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due to stigma, lack of access, or unawareness.</a:t>
            </a:r>
            <a:r>
              <a:rPr lang="en-US" sz="25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ADHD, early Alzheimer’s, PTSD, and learning disorders</a:t>
            </a:r>
            <a:r>
              <a:rPr lang="en-US" sz="25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often begin with subtle signs, long before clinical diagnosis. But today’s tools either rely on intrusive forms or medical infrastructure that many avoid.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6F16D-6AA5-2D0E-D142-4203C4318A5D}"/>
              </a:ext>
            </a:extLst>
          </p:cNvPr>
          <p:cNvSpPr txBox="1"/>
          <p:nvPr/>
        </p:nvSpPr>
        <p:spPr>
          <a:xfrm>
            <a:off x="672754" y="1804062"/>
            <a:ext cx="20877645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900" b="1" u="sng" dirty="0">
                <a:solidFill>
                  <a:srgbClr val="FF0000"/>
                </a:solidFill>
              </a:rPr>
              <a:t>The Invisible Crisis: Millions in the Blind Spot of Critical Early Warning Signs Going Undetected</a:t>
            </a:r>
          </a:p>
        </p:txBody>
      </p:sp>
      <p:pic>
        <p:nvPicPr>
          <p:cNvPr id="13" name="Picture 12" descr="A screen shot of a graph&#10;&#10;AI-generated content may be incorrect.">
            <a:extLst>
              <a:ext uri="{FF2B5EF4-FFF2-40B4-BE49-F238E27FC236}">
                <a16:creationId xmlns:a16="http://schemas.microsoft.com/office/drawing/2014/main" id="{D39E0BAB-66E9-15FA-10E8-3A9CDD09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784" y="3801635"/>
            <a:ext cx="9407608" cy="58810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689" rIns="0" bIns="0" rtlCol="0">
            <a:spAutoFit/>
          </a:bodyPr>
          <a:lstStyle/>
          <a:p>
            <a:pPr marL="2842895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17736985" y="1525218"/>
            <a:ext cx="551180" cy="925830"/>
          </a:xfrm>
          <a:custGeom>
            <a:avLst/>
            <a:gdLst/>
            <a:ahLst/>
            <a:cxnLst/>
            <a:rect l="l" t="t" r="r" b="b"/>
            <a:pathLst>
              <a:path w="551180" h="925830">
                <a:moveTo>
                  <a:pt x="275475" y="740537"/>
                </a:moveTo>
                <a:lnTo>
                  <a:pt x="0" y="740537"/>
                </a:lnTo>
                <a:lnTo>
                  <a:pt x="0" y="925664"/>
                </a:lnTo>
                <a:lnTo>
                  <a:pt x="275475" y="925664"/>
                </a:lnTo>
                <a:lnTo>
                  <a:pt x="275475" y="740537"/>
                </a:lnTo>
                <a:close/>
              </a:path>
              <a:path w="551180" h="925830">
                <a:moveTo>
                  <a:pt x="275475" y="370268"/>
                </a:moveTo>
                <a:lnTo>
                  <a:pt x="0" y="370268"/>
                </a:lnTo>
                <a:lnTo>
                  <a:pt x="0" y="555396"/>
                </a:lnTo>
                <a:lnTo>
                  <a:pt x="275475" y="555396"/>
                </a:lnTo>
                <a:lnTo>
                  <a:pt x="275475" y="370268"/>
                </a:lnTo>
                <a:close/>
              </a:path>
              <a:path w="551180" h="925830">
                <a:moveTo>
                  <a:pt x="275475" y="0"/>
                </a:moveTo>
                <a:lnTo>
                  <a:pt x="0" y="0"/>
                </a:lnTo>
                <a:lnTo>
                  <a:pt x="0" y="185127"/>
                </a:lnTo>
                <a:lnTo>
                  <a:pt x="275475" y="185127"/>
                </a:lnTo>
                <a:lnTo>
                  <a:pt x="275475" y="0"/>
                </a:lnTo>
                <a:close/>
              </a:path>
              <a:path w="551180" h="925830">
                <a:moveTo>
                  <a:pt x="550951" y="555396"/>
                </a:moveTo>
                <a:lnTo>
                  <a:pt x="275475" y="555396"/>
                </a:lnTo>
                <a:lnTo>
                  <a:pt x="275475" y="740537"/>
                </a:lnTo>
                <a:lnTo>
                  <a:pt x="550951" y="740537"/>
                </a:lnTo>
                <a:lnTo>
                  <a:pt x="550951" y="555396"/>
                </a:lnTo>
                <a:close/>
              </a:path>
              <a:path w="551180" h="925830">
                <a:moveTo>
                  <a:pt x="550951" y="185127"/>
                </a:moveTo>
                <a:lnTo>
                  <a:pt x="275475" y="185127"/>
                </a:lnTo>
                <a:lnTo>
                  <a:pt x="275475" y="370268"/>
                </a:lnTo>
                <a:lnTo>
                  <a:pt x="550951" y="370268"/>
                </a:lnTo>
                <a:lnTo>
                  <a:pt x="550951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EBCC7-C492-2779-66F4-E30973E17306}"/>
              </a:ext>
            </a:extLst>
          </p:cNvPr>
          <p:cNvSpPr txBox="1"/>
          <p:nvPr/>
        </p:nvSpPr>
        <p:spPr>
          <a:xfrm>
            <a:off x="1809640" y="1522711"/>
            <a:ext cx="1513303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2800" b="1" dirty="0">
                <a:solidFill>
                  <a:schemeClr val="bg1"/>
                </a:solidFill>
                <a:latin typeface="Arial"/>
                <a:cs typeface="Arial"/>
              </a:rPr>
              <a:t>                                                     </a:t>
            </a:r>
            <a:r>
              <a:rPr lang="en-IN" sz="2800" b="1" dirty="0">
                <a:solidFill>
                  <a:srgbClr val="FF0000"/>
                </a:solidFill>
                <a:latin typeface="Arial"/>
                <a:cs typeface="Arial"/>
              </a:rPr>
              <a:t>   </a:t>
            </a:r>
            <a:r>
              <a:rPr lang="en-IN" sz="3200" b="1" dirty="0">
                <a:solidFill>
                  <a:srgbClr val="FF0000"/>
                </a:solidFill>
              </a:rPr>
              <a:t>NeuroSnap AI</a:t>
            </a:r>
            <a:endParaRPr lang="en-IN" sz="3200" b="1" u="sng" dirty="0">
              <a:solidFill>
                <a:srgbClr val="FF0000"/>
              </a:solidFill>
              <a:latin typeface="Arial"/>
              <a:cs typeface="Arial"/>
            </a:endParaRPr>
          </a:p>
          <a:p>
            <a:pPr algn="l"/>
            <a:r>
              <a:rPr lang="en-US" sz="2800" b="1" i="1" dirty="0">
                <a:solidFill>
                  <a:schemeClr val="bg1"/>
                </a:solidFill>
                <a:latin typeface="Arial"/>
                <a:cs typeface="Arial"/>
              </a:rPr>
              <a:t>  “</a:t>
            </a:r>
            <a:r>
              <a:rPr lang="en-US" sz="2800" i="1" dirty="0">
                <a:solidFill>
                  <a:schemeClr val="bg1"/>
                </a:solidFill>
                <a:latin typeface="Arial"/>
                <a:cs typeface="Arial"/>
              </a:rPr>
              <a:t>For the elderly parent forgetting more often and the son wondering if it’s just age.</a:t>
            </a:r>
            <a:r>
              <a:rPr lang="en-US" sz="2800" b="1" i="1" dirty="0">
                <a:solidFill>
                  <a:schemeClr val="bg1"/>
                </a:solidFill>
                <a:latin typeface="Arial"/>
                <a:cs typeface="Arial"/>
              </a:rPr>
              <a:t>”</a:t>
            </a:r>
            <a:endParaRPr lang="en-US" sz="28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256D2-0B49-A57F-89A2-89F99991F5B4}"/>
              </a:ext>
            </a:extLst>
          </p:cNvPr>
          <p:cNvSpPr txBox="1"/>
          <p:nvPr/>
        </p:nvSpPr>
        <p:spPr>
          <a:xfrm>
            <a:off x="718664" y="2568958"/>
            <a:ext cx="1684132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NeuroSnap AI</a:t>
            </a:r>
            <a:r>
              <a:rPr lang="en-US" sz="2800" dirty="0">
                <a:solidFill>
                  <a:schemeClr val="bg1"/>
                </a:solidFill>
              </a:rPr>
              <a:t> is an</a:t>
            </a:r>
            <a:r>
              <a:rPr lang="en-US" sz="2800" b="1" dirty="0">
                <a:solidFill>
                  <a:schemeClr val="bg1"/>
                </a:solidFill>
              </a:rPr>
              <a:t> ethical, browser-based platform</a:t>
            </a:r>
            <a:r>
              <a:rPr lang="en-US" sz="2800" dirty="0">
                <a:solidFill>
                  <a:schemeClr val="bg1"/>
                </a:solidFill>
              </a:rPr>
              <a:t> (</a:t>
            </a:r>
            <a:r>
              <a:rPr lang="en-US" sz="2800" b="1" dirty="0">
                <a:solidFill>
                  <a:schemeClr val="bg1"/>
                </a:solidFill>
              </a:rPr>
              <a:t>no downloads, no intrusive tests</a:t>
            </a:r>
            <a:r>
              <a:rPr lang="en-US" sz="2800" dirty="0">
                <a:solidFill>
                  <a:schemeClr val="bg1"/>
                </a:solidFill>
              </a:rPr>
              <a:t>) that uses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short </a:t>
            </a:r>
            <a:r>
              <a:rPr lang="en-US" sz="2800" dirty="0">
                <a:solidFill>
                  <a:srgbClr val="FF0000"/>
                </a:solidFill>
              </a:rPr>
              <a:t>Gamified Microtasks</a:t>
            </a:r>
            <a:r>
              <a:rPr lang="en-US" sz="2800" dirty="0">
                <a:solidFill>
                  <a:schemeClr val="bg1"/>
                </a:solidFill>
              </a:rPr>
              <a:t> to passively capture your behavioral signals like-</a:t>
            </a:r>
          </a:p>
          <a:p>
            <a:pPr marL="342900" indent="-342900" algn="ctr"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 descr="A diagram of different colored ribbons&#10;&#10;AI-generated content may be incorrect.">
            <a:extLst>
              <a:ext uri="{FF2B5EF4-FFF2-40B4-BE49-F238E27FC236}">
                <a16:creationId xmlns:a16="http://schemas.microsoft.com/office/drawing/2014/main" id="{1B9B4886-3906-BCBF-41E0-69C02D961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1" y="3666996"/>
            <a:ext cx="10536194" cy="6073087"/>
          </a:xfrm>
          <a:prstGeom prst="rect">
            <a:avLst/>
          </a:prstGeom>
        </p:spPr>
      </p:pic>
      <p:sp>
        <p:nvSpPr>
          <p:cNvPr id="5" name="Scroll: Vertical 4">
            <a:extLst>
              <a:ext uri="{FF2B5EF4-FFF2-40B4-BE49-F238E27FC236}">
                <a16:creationId xmlns:a16="http://schemas.microsoft.com/office/drawing/2014/main" id="{39691DEA-5621-E8FE-21E6-0CABC461E0C6}"/>
              </a:ext>
            </a:extLst>
          </p:cNvPr>
          <p:cNvSpPr/>
          <p:nvPr/>
        </p:nvSpPr>
        <p:spPr>
          <a:xfrm>
            <a:off x="10373120" y="3811068"/>
            <a:ext cx="8137962" cy="5793615"/>
          </a:xfrm>
          <a:prstGeom prst="verticalScroll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5DC06A-6E1E-4A53-7C74-ACE6E5870E0E}"/>
              </a:ext>
            </a:extLst>
          </p:cNvPr>
          <p:cNvSpPr txBox="1"/>
          <p:nvPr/>
        </p:nvSpPr>
        <p:spPr>
          <a:xfrm>
            <a:off x="11116562" y="4581326"/>
            <a:ext cx="6638103" cy="54938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                         Mind Snapshot</a:t>
            </a:r>
            <a:endParaRPr lang="en-US" sz="27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>
              <a:buFont typeface="Arial,Sans-Serif"/>
              <a:buChar char="•"/>
            </a:pP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2700" b="1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NeuroSnap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AI</a:t>
            </a: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creates a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Mind Snapshot </a:t>
            </a: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from the tracked behavioral signals</a:t>
            </a:r>
          </a:p>
          <a:p>
            <a:pPr algn="l">
              <a:buFont typeface="Arial,Sans-Serif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Tracks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Mental Fitness</a:t>
            </a: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across focus, stress, balance, and stability</a:t>
            </a:r>
          </a:p>
          <a:p>
            <a:pPr algn="l">
              <a:buFont typeface="Arial,Sans-Serif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Insights build from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one session up to 30days</a:t>
            </a:r>
            <a:endParaRPr lang="en-US" sz="27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>
              <a:buFont typeface="Arial,Sans-Serif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Flags concerning patterns subtly (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no diagnosis, no stigma</a:t>
            </a: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) and provides insights</a:t>
            </a:r>
          </a:p>
          <a:p>
            <a:pPr algn="l">
              <a:buFont typeface="Arial,Sans-Serif"/>
              <a:buChar char="•"/>
            </a:pP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Recommends consulting a professional, 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enabling timely action </a:t>
            </a:r>
            <a:r>
              <a:rPr lang="en-US" sz="27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and </a:t>
            </a:r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self-awareness</a:t>
            </a:r>
            <a:endParaRPr lang="en-US" sz="27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>
              <a:buFont typeface="Arial,Sans-Serif"/>
              <a:buChar char="•"/>
            </a:pPr>
            <a:endParaRPr lang="en-US" sz="2700" dirty="0">
              <a:latin typeface="Calibri"/>
              <a:ea typeface="Calibri"/>
              <a:cs typeface="Calibri"/>
            </a:endParaRPr>
          </a:p>
          <a:p>
            <a:pPr algn="l"/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6329" y="0"/>
            <a:ext cx="2091670" cy="14001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63" y="0"/>
            <a:ext cx="1714499" cy="15516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9760105"/>
            <a:ext cx="18288000" cy="341630"/>
          </a:xfrm>
          <a:custGeom>
            <a:avLst/>
            <a:gdLst/>
            <a:ahLst/>
            <a:cxnLst/>
            <a:rect l="l" t="t" r="r" b="b"/>
            <a:pathLst>
              <a:path w="18288000" h="341629">
                <a:moveTo>
                  <a:pt x="18287999" y="341019"/>
                </a:moveTo>
                <a:lnTo>
                  <a:pt x="0" y="34101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41019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61789" y="12216"/>
            <a:ext cx="8512175" cy="180340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R="234950" algn="ctr">
              <a:lnSpc>
                <a:spcPct val="100000"/>
              </a:lnSpc>
              <a:spcBef>
                <a:spcPts val="1470"/>
              </a:spcBef>
            </a:pPr>
            <a:r>
              <a:rPr spc="185" dirty="0"/>
              <a:t>FEATURES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500" b="0" spc="-114" dirty="0">
                <a:latin typeface="Verdana"/>
                <a:cs typeface="Verdana"/>
              </a:rPr>
              <a:t>(List</a:t>
            </a:r>
            <a:r>
              <a:rPr sz="3500" b="0" spc="-345" dirty="0">
                <a:latin typeface="Verdana"/>
                <a:cs typeface="Verdana"/>
              </a:rPr>
              <a:t> </a:t>
            </a:r>
            <a:r>
              <a:rPr sz="3500" b="0" spc="-265" dirty="0">
                <a:latin typeface="Verdana"/>
                <a:cs typeface="Verdana"/>
              </a:rPr>
              <a:t>3-</a:t>
            </a:r>
            <a:r>
              <a:rPr sz="3500" b="0" spc="-120" dirty="0">
                <a:latin typeface="Verdana"/>
                <a:cs typeface="Verdana"/>
              </a:rPr>
              <a:t>4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45" dirty="0">
                <a:latin typeface="Verdana"/>
                <a:cs typeface="Verdana"/>
              </a:rPr>
              <a:t>main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30" dirty="0">
                <a:latin typeface="Verdana"/>
                <a:cs typeface="Verdana"/>
              </a:rPr>
              <a:t>features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60" dirty="0">
                <a:latin typeface="Verdana"/>
                <a:cs typeface="Verdana"/>
              </a:rPr>
              <a:t>of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70" dirty="0">
                <a:latin typeface="Verdana"/>
                <a:cs typeface="Verdana"/>
              </a:rPr>
              <a:t>your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10" dirty="0">
                <a:latin typeface="Verdana"/>
                <a:cs typeface="Verdana"/>
              </a:rPr>
              <a:t>solution)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736985" y="1525218"/>
            <a:ext cx="551180" cy="925830"/>
          </a:xfrm>
          <a:custGeom>
            <a:avLst/>
            <a:gdLst/>
            <a:ahLst/>
            <a:cxnLst/>
            <a:rect l="l" t="t" r="r" b="b"/>
            <a:pathLst>
              <a:path w="551180" h="925830">
                <a:moveTo>
                  <a:pt x="275475" y="740537"/>
                </a:moveTo>
                <a:lnTo>
                  <a:pt x="0" y="740537"/>
                </a:lnTo>
                <a:lnTo>
                  <a:pt x="0" y="925664"/>
                </a:lnTo>
                <a:lnTo>
                  <a:pt x="275475" y="925664"/>
                </a:lnTo>
                <a:lnTo>
                  <a:pt x="275475" y="740537"/>
                </a:lnTo>
                <a:close/>
              </a:path>
              <a:path w="551180" h="925830">
                <a:moveTo>
                  <a:pt x="275475" y="370268"/>
                </a:moveTo>
                <a:lnTo>
                  <a:pt x="0" y="370268"/>
                </a:lnTo>
                <a:lnTo>
                  <a:pt x="0" y="555396"/>
                </a:lnTo>
                <a:lnTo>
                  <a:pt x="275475" y="555396"/>
                </a:lnTo>
                <a:lnTo>
                  <a:pt x="275475" y="370268"/>
                </a:lnTo>
                <a:close/>
              </a:path>
              <a:path w="551180" h="925830">
                <a:moveTo>
                  <a:pt x="275475" y="0"/>
                </a:moveTo>
                <a:lnTo>
                  <a:pt x="0" y="0"/>
                </a:lnTo>
                <a:lnTo>
                  <a:pt x="0" y="185127"/>
                </a:lnTo>
                <a:lnTo>
                  <a:pt x="275475" y="185127"/>
                </a:lnTo>
                <a:lnTo>
                  <a:pt x="275475" y="0"/>
                </a:lnTo>
                <a:close/>
              </a:path>
              <a:path w="551180" h="925830">
                <a:moveTo>
                  <a:pt x="550951" y="555396"/>
                </a:moveTo>
                <a:lnTo>
                  <a:pt x="275475" y="555396"/>
                </a:lnTo>
                <a:lnTo>
                  <a:pt x="275475" y="740537"/>
                </a:lnTo>
                <a:lnTo>
                  <a:pt x="550951" y="740537"/>
                </a:lnTo>
                <a:lnTo>
                  <a:pt x="550951" y="555396"/>
                </a:lnTo>
                <a:close/>
              </a:path>
              <a:path w="551180" h="925830">
                <a:moveTo>
                  <a:pt x="550951" y="185127"/>
                </a:moveTo>
                <a:lnTo>
                  <a:pt x="275475" y="185127"/>
                </a:lnTo>
                <a:lnTo>
                  <a:pt x="275475" y="370268"/>
                </a:lnTo>
                <a:lnTo>
                  <a:pt x="550951" y="370268"/>
                </a:lnTo>
                <a:lnTo>
                  <a:pt x="550951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-12" y="1525256"/>
            <a:ext cx="562610" cy="944880"/>
          </a:xfrm>
          <a:custGeom>
            <a:avLst/>
            <a:gdLst/>
            <a:ahLst/>
            <a:cxnLst/>
            <a:rect l="l" t="t" r="r" b="b"/>
            <a:pathLst>
              <a:path w="562610" h="944880">
                <a:moveTo>
                  <a:pt x="281051" y="566661"/>
                </a:moveTo>
                <a:lnTo>
                  <a:pt x="0" y="566661"/>
                </a:lnTo>
                <a:lnTo>
                  <a:pt x="0" y="755548"/>
                </a:lnTo>
                <a:lnTo>
                  <a:pt x="281051" y="755548"/>
                </a:lnTo>
                <a:lnTo>
                  <a:pt x="281051" y="566661"/>
                </a:lnTo>
                <a:close/>
              </a:path>
              <a:path w="562610" h="944880">
                <a:moveTo>
                  <a:pt x="281051" y="188887"/>
                </a:moveTo>
                <a:lnTo>
                  <a:pt x="0" y="188887"/>
                </a:lnTo>
                <a:lnTo>
                  <a:pt x="0" y="377774"/>
                </a:lnTo>
                <a:lnTo>
                  <a:pt x="281051" y="377774"/>
                </a:lnTo>
                <a:lnTo>
                  <a:pt x="281051" y="188887"/>
                </a:lnTo>
                <a:close/>
              </a:path>
              <a:path w="562610" h="944880">
                <a:moveTo>
                  <a:pt x="562114" y="755548"/>
                </a:moveTo>
                <a:lnTo>
                  <a:pt x="281051" y="755548"/>
                </a:lnTo>
                <a:lnTo>
                  <a:pt x="281051" y="944422"/>
                </a:lnTo>
                <a:lnTo>
                  <a:pt x="562114" y="944422"/>
                </a:lnTo>
                <a:lnTo>
                  <a:pt x="562114" y="755548"/>
                </a:lnTo>
                <a:close/>
              </a:path>
              <a:path w="562610" h="944880">
                <a:moveTo>
                  <a:pt x="562114" y="377774"/>
                </a:moveTo>
                <a:lnTo>
                  <a:pt x="281051" y="377774"/>
                </a:lnTo>
                <a:lnTo>
                  <a:pt x="281051" y="566661"/>
                </a:lnTo>
                <a:lnTo>
                  <a:pt x="562114" y="566661"/>
                </a:lnTo>
                <a:lnTo>
                  <a:pt x="562114" y="377774"/>
                </a:lnTo>
                <a:close/>
              </a:path>
              <a:path w="562610" h="944880">
                <a:moveTo>
                  <a:pt x="562114" y="0"/>
                </a:moveTo>
                <a:lnTo>
                  <a:pt x="281051" y="0"/>
                </a:lnTo>
                <a:lnTo>
                  <a:pt x="281051" y="188887"/>
                </a:lnTo>
                <a:lnTo>
                  <a:pt x="562114" y="188887"/>
                </a:lnTo>
                <a:lnTo>
                  <a:pt x="562114" y="0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pic>
        <p:nvPicPr>
          <p:cNvPr id="10" name="Picture 9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3A5FE11C-C14C-8A15-9157-578A4C843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535" y="2197377"/>
            <a:ext cx="15412277" cy="81285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19B56B-D3AB-0EE4-4435-325BAE2FA7B3}"/>
              </a:ext>
            </a:extLst>
          </p:cNvPr>
          <p:cNvSpPr/>
          <p:nvPr/>
        </p:nvSpPr>
        <p:spPr>
          <a:xfrm>
            <a:off x="13808121" y="9005296"/>
            <a:ext cx="2339307" cy="5796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FLOWCHART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6685" y="1378857"/>
            <a:ext cx="123475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i="1" spc="-45" dirty="0">
                <a:solidFill>
                  <a:srgbClr val="FFFFFF"/>
                </a:solidFill>
                <a:latin typeface="Verdana"/>
                <a:cs typeface="Verdana"/>
              </a:rPr>
              <a:t>How</a:t>
            </a:r>
            <a:r>
              <a:rPr sz="3500" i="1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i="1" spc="-35" dirty="0">
                <a:solidFill>
                  <a:srgbClr val="FFFFFF"/>
                </a:solidFill>
                <a:latin typeface="Verdana"/>
                <a:cs typeface="Verdana"/>
              </a:rPr>
              <a:t>does</a:t>
            </a:r>
            <a:r>
              <a:rPr sz="3500" i="1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i="1" spc="-70" dirty="0">
                <a:solidFill>
                  <a:srgbClr val="FFFFFF"/>
                </a:solidFill>
                <a:latin typeface="Verdana"/>
                <a:cs typeface="Verdana"/>
              </a:rPr>
              <a:t>your</a:t>
            </a:r>
            <a:r>
              <a:rPr sz="3500" i="1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i="1" spc="-25" dirty="0">
                <a:solidFill>
                  <a:srgbClr val="FFFFFF"/>
                </a:solidFill>
                <a:latin typeface="Verdana"/>
                <a:cs typeface="Verdana"/>
              </a:rPr>
              <a:t>solution</a:t>
            </a:r>
            <a:r>
              <a:rPr sz="3500" i="1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i="1" spc="-70" dirty="0">
                <a:solidFill>
                  <a:srgbClr val="FFFFFF"/>
                </a:solidFill>
                <a:latin typeface="Verdana"/>
                <a:cs typeface="Verdana"/>
              </a:rPr>
              <a:t>work?(Flowchart</a:t>
            </a:r>
            <a:r>
              <a:rPr sz="3500" i="1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500" i="1" spc="-25" dirty="0">
                <a:solidFill>
                  <a:srgbClr val="FFFFFF"/>
                </a:solidFill>
                <a:latin typeface="Verdana"/>
                <a:cs typeface="Verdana"/>
              </a:rPr>
              <a:t>Representation)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36985" y="1525218"/>
            <a:ext cx="551180" cy="925830"/>
          </a:xfrm>
          <a:custGeom>
            <a:avLst/>
            <a:gdLst/>
            <a:ahLst/>
            <a:cxnLst/>
            <a:rect l="l" t="t" r="r" b="b"/>
            <a:pathLst>
              <a:path w="551180" h="925830">
                <a:moveTo>
                  <a:pt x="275475" y="740537"/>
                </a:moveTo>
                <a:lnTo>
                  <a:pt x="0" y="740537"/>
                </a:lnTo>
                <a:lnTo>
                  <a:pt x="0" y="925664"/>
                </a:lnTo>
                <a:lnTo>
                  <a:pt x="275475" y="925664"/>
                </a:lnTo>
                <a:lnTo>
                  <a:pt x="275475" y="740537"/>
                </a:lnTo>
                <a:close/>
              </a:path>
              <a:path w="551180" h="925830">
                <a:moveTo>
                  <a:pt x="275475" y="370268"/>
                </a:moveTo>
                <a:lnTo>
                  <a:pt x="0" y="370268"/>
                </a:lnTo>
                <a:lnTo>
                  <a:pt x="0" y="555396"/>
                </a:lnTo>
                <a:lnTo>
                  <a:pt x="275475" y="555396"/>
                </a:lnTo>
                <a:lnTo>
                  <a:pt x="275475" y="370268"/>
                </a:lnTo>
                <a:close/>
              </a:path>
              <a:path w="551180" h="925830">
                <a:moveTo>
                  <a:pt x="275475" y="0"/>
                </a:moveTo>
                <a:lnTo>
                  <a:pt x="0" y="0"/>
                </a:lnTo>
                <a:lnTo>
                  <a:pt x="0" y="185127"/>
                </a:lnTo>
                <a:lnTo>
                  <a:pt x="275475" y="185127"/>
                </a:lnTo>
                <a:lnTo>
                  <a:pt x="275475" y="0"/>
                </a:lnTo>
                <a:close/>
              </a:path>
              <a:path w="551180" h="925830">
                <a:moveTo>
                  <a:pt x="550951" y="555396"/>
                </a:moveTo>
                <a:lnTo>
                  <a:pt x="275475" y="555396"/>
                </a:lnTo>
                <a:lnTo>
                  <a:pt x="275475" y="740537"/>
                </a:lnTo>
                <a:lnTo>
                  <a:pt x="550951" y="740537"/>
                </a:lnTo>
                <a:lnTo>
                  <a:pt x="550951" y="555396"/>
                </a:lnTo>
                <a:close/>
              </a:path>
              <a:path w="551180" h="925830">
                <a:moveTo>
                  <a:pt x="550951" y="185127"/>
                </a:moveTo>
                <a:lnTo>
                  <a:pt x="275475" y="185127"/>
                </a:lnTo>
                <a:lnTo>
                  <a:pt x="275475" y="370268"/>
                </a:lnTo>
                <a:lnTo>
                  <a:pt x="550951" y="370268"/>
                </a:lnTo>
                <a:lnTo>
                  <a:pt x="550951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pic>
        <p:nvPicPr>
          <p:cNvPr id="6" name="Picture 5" descr="A diagram of a software flowchart&#10;&#10;AI-generated content may be incorrect.">
            <a:extLst>
              <a:ext uri="{FF2B5EF4-FFF2-40B4-BE49-F238E27FC236}">
                <a16:creationId xmlns:a16="http://schemas.microsoft.com/office/drawing/2014/main" id="{61A81D16-E258-168E-B559-EA137A69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1473"/>
            <a:ext cx="18288000" cy="6997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R="657860" algn="ctr">
              <a:lnSpc>
                <a:spcPct val="100000"/>
              </a:lnSpc>
              <a:spcBef>
                <a:spcPts val="1145"/>
              </a:spcBef>
            </a:pPr>
            <a:r>
              <a:rPr spc="180" dirty="0"/>
              <a:t>TECH</a:t>
            </a:r>
            <a:r>
              <a:rPr spc="-415" dirty="0"/>
              <a:t> </a:t>
            </a:r>
            <a:r>
              <a:rPr spc="220" dirty="0"/>
              <a:t>STACK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3500" b="0" spc="-60" dirty="0">
                <a:latin typeface="Verdana"/>
                <a:cs typeface="Verdana"/>
              </a:rPr>
              <a:t>(Mention</a:t>
            </a:r>
            <a:r>
              <a:rPr sz="3500" b="0" spc="-265" dirty="0">
                <a:latin typeface="Verdana"/>
                <a:cs typeface="Verdana"/>
              </a:rPr>
              <a:t> </a:t>
            </a:r>
            <a:r>
              <a:rPr sz="3500" b="0" spc="-100" dirty="0">
                <a:latin typeface="Verdana"/>
                <a:cs typeface="Verdana"/>
              </a:rPr>
              <a:t>programming</a:t>
            </a:r>
            <a:r>
              <a:rPr sz="3500" b="0" spc="-265" dirty="0">
                <a:latin typeface="Verdana"/>
                <a:cs typeface="Verdana"/>
              </a:rPr>
              <a:t> </a:t>
            </a:r>
            <a:r>
              <a:rPr sz="3500" b="0" spc="-110" dirty="0">
                <a:latin typeface="Verdana"/>
                <a:cs typeface="Verdana"/>
              </a:rPr>
              <a:t>languages,frameworks,</a:t>
            </a:r>
            <a:r>
              <a:rPr sz="3500" b="0" spc="-265" dirty="0">
                <a:latin typeface="Verdana"/>
                <a:cs typeface="Verdana"/>
              </a:rPr>
              <a:t> </a:t>
            </a:r>
            <a:r>
              <a:rPr sz="3500" b="0" spc="-10" dirty="0">
                <a:latin typeface="Verdana"/>
                <a:cs typeface="Verdana"/>
              </a:rPr>
              <a:t>tools)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36985" y="1525218"/>
            <a:ext cx="551180" cy="925830"/>
          </a:xfrm>
          <a:custGeom>
            <a:avLst/>
            <a:gdLst/>
            <a:ahLst/>
            <a:cxnLst/>
            <a:rect l="l" t="t" r="r" b="b"/>
            <a:pathLst>
              <a:path w="551180" h="925830">
                <a:moveTo>
                  <a:pt x="275475" y="740537"/>
                </a:moveTo>
                <a:lnTo>
                  <a:pt x="0" y="740537"/>
                </a:lnTo>
                <a:lnTo>
                  <a:pt x="0" y="925664"/>
                </a:lnTo>
                <a:lnTo>
                  <a:pt x="275475" y="925664"/>
                </a:lnTo>
                <a:lnTo>
                  <a:pt x="275475" y="740537"/>
                </a:lnTo>
                <a:close/>
              </a:path>
              <a:path w="551180" h="925830">
                <a:moveTo>
                  <a:pt x="275475" y="370268"/>
                </a:moveTo>
                <a:lnTo>
                  <a:pt x="0" y="370268"/>
                </a:lnTo>
                <a:lnTo>
                  <a:pt x="0" y="555396"/>
                </a:lnTo>
                <a:lnTo>
                  <a:pt x="275475" y="555396"/>
                </a:lnTo>
                <a:lnTo>
                  <a:pt x="275475" y="370268"/>
                </a:lnTo>
                <a:close/>
              </a:path>
              <a:path w="551180" h="925830">
                <a:moveTo>
                  <a:pt x="275475" y="0"/>
                </a:moveTo>
                <a:lnTo>
                  <a:pt x="0" y="0"/>
                </a:lnTo>
                <a:lnTo>
                  <a:pt x="0" y="185127"/>
                </a:lnTo>
                <a:lnTo>
                  <a:pt x="275475" y="185127"/>
                </a:lnTo>
                <a:lnTo>
                  <a:pt x="275475" y="0"/>
                </a:lnTo>
                <a:close/>
              </a:path>
              <a:path w="551180" h="925830">
                <a:moveTo>
                  <a:pt x="550951" y="555396"/>
                </a:moveTo>
                <a:lnTo>
                  <a:pt x="275475" y="555396"/>
                </a:lnTo>
                <a:lnTo>
                  <a:pt x="275475" y="740537"/>
                </a:lnTo>
                <a:lnTo>
                  <a:pt x="550951" y="740537"/>
                </a:lnTo>
                <a:lnTo>
                  <a:pt x="550951" y="555396"/>
                </a:lnTo>
                <a:close/>
              </a:path>
              <a:path w="551180" h="925830">
                <a:moveTo>
                  <a:pt x="550951" y="185127"/>
                </a:moveTo>
                <a:lnTo>
                  <a:pt x="275475" y="185127"/>
                </a:lnTo>
                <a:lnTo>
                  <a:pt x="275475" y="370268"/>
                </a:lnTo>
                <a:lnTo>
                  <a:pt x="550951" y="370268"/>
                </a:lnTo>
                <a:lnTo>
                  <a:pt x="550951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9795077D-F68B-7225-2391-F0C0F056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532" y="1795979"/>
            <a:ext cx="13990936" cy="7807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9716" y="12216"/>
            <a:ext cx="7591425" cy="180340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R="514984" algn="ctr">
              <a:lnSpc>
                <a:spcPct val="100000"/>
              </a:lnSpc>
              <a:spcBef>
                <a:spcPts val="1470"/>
              </a:spcBef>
            </a:pPr>
            <a:r>
              <a:rPr spc="310" dirty="0"/>
              <a:t>IMPACT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500" b="0" spc="-150" dirty="0">
                <a:latin typeface="Verdana"/>
                <a:cs typeface="Verdana"/>
              </a:rPr>
              <a:t>(How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35" dirty="0">
                <a:latin typeface="Verdana"/>
                <a:cs typeface="Verdana"/>
              </a:rPr>
              <a:t>does</a:t>
            </a:r>
            <a:r>
              <a:rPr sz="3500" b="0" spc="-335" dirty="0">
                <a:latin typeface="Verdana"/>
                <a:cs typeface="Verdana"/>
              </a:rPr>
              <a:t> </a:t>
            </a:r>
            <a:r>
              <a:rPr sz="3500" b="0" spc="-70" dirty="0">
                <a:latin typeface="Verdana"/>
                <a:cs typeface="Verdana"/>
              </a:rPr>
              <a:t>your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dirty="0">
                <a:latin typeface="Verdana"/>
                <a:cs typeface="Verdana"/>
              </a:rPr>
              <a:t>idea</a:t>
            </a:r>
            <a:r>
              <a:rPr sz="3500" b="0" spc="-335" dirty="0">
                <a:latin typeface="Verdana"/>
                <a:cs typeface="Verdana"/>
              </a:rPr>
              <a:t> </a:t>
            </a:r>
            <a:r>
              <a:rPr sz="3500" b="0" dirty="0">
                <a:latin typeface="Verdana"/>
                <a:cs typeface="Verdana"/>
              </a:rPr>
              <a:t>create</a:t>
            </a:r>
            <a:r>
              <a:rPr sz="3500" b="0" spc="-340" dirty="0">
                <a:latin typeface="Verdana"/>
                <a:cs typeface="Verdana"/>
              </a:rPr>
              <a:t> </a:t>
            </a:r>
            <a:r>
              <a:rPr sz="3500" b="0" spc="-50" dirty="0">
                <a:latin typeface="Verdana"/>
                <a:cs typeface="Verdana"/>
              </a:rPr>
              <a:t>value?)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736985" y="1525218"/>
            <a:ext cx="551180" cy="925830"/>
          </a:xfrm>
          <a:custGeom>
            <a:avLst/>
            <a:gdLst/>
            <a:ahLst/>
            <a:cxnLst/>
            <a:rect l="l" t="t" r="r" b="b"/>
            <a:pathLst>
              <a:path w="551180" h="925830">
                <a:moveTo>
                  <a:pt x="275475" y="740537"/>
                </a:moveTo>
                <a:lnTo>
                  <a:pt x="0" y="740537"/>
                </a:lnTo>
                <a:lnTo>
                  <a:pt x="0" y="925664"/>
                </a:lnTo>
                <a:lnTo>
                  <a:pt x="275475" y="925664"/>
                </a:lnTo>
                <a:lnTo>
                  <a:pt x="275475" y="740537"/>
                </a:lnTo>
                <a:close/>
              </a:path>
              <a:path w="551180" h="925830">
                <a:moveTo>
                  <a:pt x="275475" y="370268"/>
                </a:moveTo>
                <a:lnTo>
                  <a:pt x="0" y="370268"/>
                </a:lnTo>
                <a:lnTo>
                  <a:pt x="0" y="555396"/>
                </a:lnTo>
                <a:lnTo>
                  <a:pt x="275475" y="555396"/>
                </a:lnTo>
                <a:lnTo>
                  <a:pt x="275475" y="370268"/>
                </a:lnTo>
                <a:close/>
              </a:path>
              <a:path w="551180" h="925830">
                <a:moveTo>
                  <a:pt x="275475" y="0"/>
                </a:moveTo>
                <a:lnTo>
                  <a:pt x="0" y="0"/>
                </a:lnTo>
                <a:lnTo>
                  <a:pt x="0" y="185127"/>
                </a:lnTo>
                <a:lnTo>
                  <a:pt x="275475" y="185127"/>
                </a:lnTo>
                <a:lnTo>
                  <a:pt x="275475" y="0"/>
                </a:lnTo>
                <a:close/>
              </a:path>
              <a:path w="551180" h="925830">
                <a:moveTo>
                  <a:pt x="550951" y="555396"/>
                </a:moveTo>
                <a:lnTo>
                  <a:pt x="275475" y="555396"/>
                </a:lnTo>
                <a:lnTo>
                  <a:pt x="275475" y="740537"/>
                </a:lnTo>
                <a:lnTo>
                  <a:pt x="550951" y="740537"/>
                </a:lnTo>
                <a:lnTo>
                  <a:pt x="550951" y="555396"/>
                </a:lnTo>
                <a:close/>
              </a:path>
              <a:path w="551180" h="925830">
                <a:moveTo>
                  <a:pt x="550951" y="185127"/>
                </a:moveTo>
                <a:lnTo>
                  <a:pt x="275475" y="185127"/>
                </a:lnTo>
                <a:lnTo>
                  <a:pt x="275475" y="370268"/>
                </a:lnTo>
                <a:lnTo>
                  <a:pt x="550951" y="370268"/>
                </a:lnTo>
                <a:lnTo>
                  <a:pt x="550951" y="185127"/>
                </a:lnTo>
                <a:close/>
              </a:path>
            </a:pathLst>
          </a:custGeom>
          <a:solidFill>
            <a:srgbClr val="FF6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pc="150" dirty="0"/>
              <a:t>@UDAYA</a:t>
            </a:r>
            <a:r>
              <a:rPr spc="-105" dirty="0"/>
              <a:t> </a:t>
            </a:r>
            <a:r>
              <a:rPr spc="-50" dirty="0"/>
              <a:t>1.O</a:t>
            </a:r>
            <a:r>
              <a:rPr spc="-105" dirty="0"/>
              <a:t> </a:t>
            </a:r>
            <a:r>
              <a:rPr spc="80" dirty="0"/>
              <a:t>Idea</a:t>
            </a:r>
            <a:r>
              <a:rPr spc="-100" dirty="0"/>
              <a:t> </a:t>
            </a:r>
            <a:r>
              <a:rPr spc="60" dirty="0"/>
              <a:t>submission-</a:t>
            </a:r>
            <a:r>
              <a:rPr spc="-105" dirty="0"/>
              <a:t> </a:t>
            </a:r>
            <a:r>
              <a:rPr spc="-10" dirty="0"/>
              <a:t>Template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F0ED4-CC21-7100-4419-C574CBFFE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79" y="1697768"/>
            <a:ext cx="10546491" cy="8389722"/>
          </a:xfrm>
          <a:prstGeom prst="rect">
            <a:avLst/>
          </a:prstGeom>
        </p:spPr>
      </p:pic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845BA38-32D2-13B7-AC65-F380C2C3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328" y="2450756"/>
            <a:ext cx="7602493" cy="666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TEAM DETAILS</vt:lpstr>
      <vt:lpstr>PROBLEM STATEMENT</vt:lpstr>
      <vt:lpstr>SOLUTION</vt:lpstr>
      <vt:lpstr>FEATURES (List 3-4 main features of your solution)</vt:lpstr>
      <vt:lpstr>FLOWCHART</vt:lpstr>
      <vt:lpstr>TECH STACK (Mention programming languages,frameworks, tools)</vt:lpstr>
      <vt:lpstr>IMPACT (How does your idea create value?)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UDAYA 1.O PPT Template</dc:title>
  <dc:creator>SUBHxM ROUT</dc:creator>
  <cp:keywords>DAGyCX3lhGQ,BAFyAImHw4Y,0</cp:keywords>
  <cp:revision>360</cp:revision>
  <dcterms:created xsi:type="dcterms:W3CDTF">2025-09-23T04:08:18Z</dcterms:created>
  <dcterms:modified xsi:type="dcterms:W3CDTF">2025-09-23T14:13:58Z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2025-09-23T00:00:00Z</vt:filetime>
  </property>
  <property fmtid="{D5CDD505-2E9C-101B-9397-08002B2CF9AE}" pid="5" name="Producer">
    <vt:lpwstr>Canva</vt:lpwstr>
  </property>
</Properties>
</file>