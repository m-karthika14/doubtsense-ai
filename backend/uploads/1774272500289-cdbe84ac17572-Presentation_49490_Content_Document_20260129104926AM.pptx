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handoutMasterIdLst>
    <p:handoutMasterId r:id="rId73"/>
  </p:handoutMasterIdLst>
  <p:sldIdLst>
    <p:sldId id="256" r:id="rId2"/>
    <p:sldId id="267" r:id="rId3"/>
    <p:sldId id="268" r:id="rId4"/>
    <p:sldId id="269" r:id="rId5"/>
    <p:sldId id="270" r:id="rId6"/>
    <p:sldId id="271" r:id="rId7"/>
    <p:sldId id="272" r:id="rId8"/>
    <p:sldId id="274" r:id="rId9"/>
    <p:sldId id="276" r:id="rId10"/>
    <p:sldId id="277" r:id="rId11"/>
    <p:sldId id="278" r:id="rId12"/>
    <p:sldId id="279" r:id="rId13"/>
    <p:sldId id="280" r:id="rId14"/>
    <p:sldId id="281" r:id="rId15"/>
    <p:sldId id="282" r:id="rId16"/>
    <p:sldId id="283" r:id="rId17"/>
    <p:sldId id="284" r:id="rId18"/>
    <p:sldId id="275" r:id="rId19"/>
    <p:sldId id="289" r:id="rId20"/>
    <p:sldId id="285" r:id="rId21"/>
    <p:sldId id="286" r:id="rId22"/>
    <p:sldId id="288" r:id="rId23"/>
    <p:sldId id="258" r:id="rId24"/>
    <p:sldId id="259" r:id="rId25"/>
    <p:sldId id="260" r:id="rId26"/>
    <p:sldId id="261" r:id="rId27"/>
    <p:sldId id="262" r:id="rId28"/>
    <p:sldId id="263" r:id="rId29"/>
    <p:sldId id="264" r:id="rId30"/>
    <p:sldId id="266" r:id="rId31"/>
    <p:sldId id="313" r:id="rId32"/>
    <p:sldId id="315" r:id="rId33"/>
    <p:sldId id="304" r:id="rId34"/>
    <p:sldId id="305" r:id="rId35"/>
    <p:sldId id="306" r:id="rId36"/>
    <p:sldId id="307" r:id="rId37"/>
    <p:sldId id="308" r:id="rId38"/>
    <p:sldId id="309" r:id="rId39"/>
    <p:sldId id="310" r:id="rId40"/>
    <p:sldId id="265" r:id="rId41"/>
    <p:sldId id="316" r:id="rId42"/>
    <p:sldId id="317" r:id="rId43"/>
    <p:sldId id="319" r:id="rId44"/>
    <p:sldId id="318" r:id="rId45"/>
    <p:sldId id="320" r:id="rId46"/>
    <p:sldId id="321" r:id="rId47"/>
    <p:sldId id="311" r:id="rId48"/>
    <p:sldId id="322" r:id="rId49"/>
    <p:sldId id="323" r:id="rId50"/>
    <p:sldId id="324" r:id="rId51"/>
    <p:sldId id="325" r:id="rId52"/>
    <p:sldId id="326" r:id="rId53"/>
    <p:sldId id="327" r:id="rId54"/>
    <p:sldId id="312" r:id="rId55"/>
    <p:sldId id="328" r:id="rId56"/>
    <p:sldId id="290" r:id="rId57"/>
    <p:sldId id="257" r:id="rId58"/>
    <p:sldId id="303" r:id="rId59"/>
    <p:sldId id="291" r:id="rId60"/>
    <p:sldId id="292" r:id="rId61"/>
    <p:sldId id="293" r:id="rId62"/>
    <p:sldId id="296" r:id="rId63"/>
    <p:sldId id="294" r:id="rId64"/>
    <p:sldId id="297" r:id="rId65"/>
    <p:sldId id="298" r:id="rId66"/>
    <p:sldId id="299" r:id="rId67"/>
    <p:sldId id="295" r:id="rId68"/>
    <p:sldId id="300" r:id="rId69"/>
    <p:sldId id="301" r:id="rId70"/>
    <p:sldId id="302"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C52CDC6-3301-7995-307C-E467173DDC4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416DC05-E155-43C0-0D4D-39F4A0EFC4D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EA0EC9-74F7-49B5-97A6-6CEB89E9F481}" type="datetimeFigureOut">
              <a:rPr lang="en-IN" smtClean="0"/>
              <a:t>25-02-2025</a:t>
            </a:fld>
            <a:endParaRPr lang="en-IN"/>
          </a:p>
        </p:txBody>
      </p:sp>
      <p:sp>
        <p:nvSpPr>
          <p:cNvPr id="4" name="Footer Placeholder 3">
            <a:extLst>
              <a:ext uri="{FF2B5EF4-FFF2-40B4-BE49-F238E27FC236}">
                <a16:creationId xmlns:a16="http://schemas.microsoft.com/office/drawing/2014/main" id="{521D1D3B-FAA8-8629-7F32-FF7540B958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23B21E71-072C-8696-A655-4719FF8EAFB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94238FE-FD07-4EE3-8C6B-7202E3EC31D3}" type="slidenum">
              <a:rPr lang="en-IN" smtClean="0"/>
              <a:t>‹#›</a:t>
            </a:fld>
            <a:endParaRPr lang="en-IN"/>
          </a:p>
        </p:txBody>
      </p:sp>
    </p:spTree>
    <p:extLst>
      <p:ext uri="{BB962C8B-B14F-4D97-AF65-F5344CB8AC3E}">
        <p14:creationId xmlns:p14="http://schemas.microsoft.com/office/powerpoint/2010/main" val="197392178"/>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DFB2C-3E58-48A7-AB67-102B62A701FD}" type="datetimeFigureOut">
              <a:rPr lang="en-IN" smtClean="0"/>
              <a:t>25-02-2025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2309BE-7C42-4385-B48E-867AB5C76809}" type="slidenum">
              <a:rPr lang="en-IN" smtClean="0"/>
              <a:t>‹#›</a:t>
            </a:fld>
            <a:endParaRPr lang="en-IN"/>
          </a:p>
        </p:txBody>
      </p:sp>
    </p:spTree>
    <p:extLst>
      <p:ext uri="{BB962C8B-B14F-4D97-AF65-F5344CB8AC3E}">
        <p14:creationId xmlns:p14="http://schemas.microsoft.com/office/powerpoint/2010/main" val="2716415721"/>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8"/>
        <p:cNvGrpSpPr/>
        <p:nvPr/>
      </p:nvGrpSpPr>
      <p:grpSpPr>
        <a:xfrm>
          <a:off x="0" y="0"/>
          <a:ext cx="0" cy="0"/>
          <a:chOff x="0" y="0"/>
          <a:chExt cx="0" cy="0"/>
        </a:xfrm>
      </p:grpSpPr>
      <p:sp>
        <p:nvSpPr>
          <p:cNvPr id="2729" name="Google Shape;2729;g385fd8cfb0a6a50c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0" name="Google Shape;2730;g385fd8cfb0a6a50c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4"/>
        <p:cNvGrpSpPr/>
        <p:nvPr/>
      </p:nvGrpSpPr>
      <p:grpSpPr>
        <a:xfrm>
          <a:off x="0" y="0"/>
          <a:ext cx="0" cy="0"/>
          <a:chOff x="0" y="0"/>
          <a:chExt cx="0" cy="0"/>
        </a:xfrm>
      </p:grpSpPr>
      <p:sp>
        <p:nvSpPr>
          <p:cNvPr id="2735" name="Google Shape;2735;g385fd8cfb0a6a50c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6" name="Google Shape;2736;g385fd8cfb0a6a50c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0"/>
        <p:cNvGrpSpPr/>
        <p:nvPr/>
      </p:nvGrpSpPr>
      <p:grpSpPr>
        <a:xfrm>
          <a:off x="0" y="0"/>
          <a:ext cx="0" cy="0"/>
          <a:chOff x="0" y="0"/>
          <a:chExt cx="0" cy="0"/>
        </a:xfrm>
      </p:grpSpPr>
      <p:sp>
        <p:nvSpPr>
          <p:cNvPr id="2741" name="Google Shape;2741;g385fd8cfb0a6a50c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2" name="Google Shape;2742;g385fd8cfb0a6a50c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6"/>
        <p:cNvGrpSpPr/>
        <p:nvPr/>
      </p:nvGrpSpPr>
      <p:grpSpPr>
        <a:xfrm>
          <a:off x="0" y="0"/>
          <a:ext cx="0" cy="0"/>
          <a:chOff x="0" y="0"/>
          <a:chExt cx="0" cy="0"/>
        </a:xfrm>
      </p:grpSpPr>
      <p:sp>
        <p:nvSpPr>
          <p:cNvPr id="2747" name="Google Shape;2747;g385fd8cfb0a6a50c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8" name="Google Shape;2748;g385fd8cfb0a6a50c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2"/>
        <p:cNvGrpSpPr/>
        <p:nvPr/>
      </p:nvGrpSpPr>
      <p:grpSpPr>
        <a:xfrm>
          <a:off x="0" y="0"/>
          <a:ext cx="0" cy="0"/>
          <a:chOff x="0" y="0"/>
          <a:chExt cx="0" cy="0"/>
        </a:xfrm>
      </p:grpSpPr>
      <p:sp>
        <p:nvSpPr>
          <p:cNvPr id="2753" name="Google Shape;2753;g385fd8cfb0a6a50c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4" name="Google Shape;2754;g385fd8cfb0a6a50c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8"/>
        <p:cNvGrpSpPr/>
        <p:nvPr/>
      </p:nvGrpSpPr>
      <p:grpSpPr>
        <a:xfrm>
          <a:off x="0" y="0"/>
          <a:ext cx="0" cy="0"/>
          <a:chOff x="0" y="0"/>
          <a:chExt cx="0" cy="0"/>
        </a:xfrm>
      </p:grpSpPr>
      <p:sp>
        <p:nvSpPr>
          <p:cNvPr id="2759" name="Google Shape;2759;g385fd8cfb0a6a50c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0" name="Google Shape;2760;g385fd8cfb0a6a50c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4"/>
        <p:cNvGrpSpPr/>
        <p:nvPr/>
      </p:nvGrpSpPr>
      <p:grpSpPr>
        <a:xfrm>
          <a:off x="0" y="0"/>
          <a:ext cx="0" cy="0"/>
          <a:chOff x="0" y="0"/>
          <a:chExt cx="0" cy="0"/>
        </a:xfrm>
      </p:grpSpPr>
      <p:sp>
        <p:nvSpPr>
          <p:cNvPr id="2765" name="Google Shape;2765;g385fd8cfb0a6a50c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6" name="Google Shape;2766;g385fd8cfb0a6a50c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0"/>
        <p:cNvGrpSpPr/>
        <p:nvPr/>
      </p:nvGrpSpPr>
      <p:grpSpPr>
        <a:xfrm>
          <a:off x="0" y="0"/>
          <a:ext cx="0" cy="0"/>
          <a:chOff x="0" y="0"/>
          <a:chExt cx="0" cy="0"/>
        </a:xfrm>
      </p:grpSpPr>
      <p:sp>
        <p:nvSpPr>
          <p:cNvPr id="2771" name="Google Shape;2771;g385fd8cfb0a6a50c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2" name="Google Shape;2772;g385fd8cfb0a6a50c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5"/>
        <p:cNvGrpSpPr/>
        <p:nvPr/>
      </p:nvGrpSpPr>
      <p:grpSpPr>
        <a:xfrm>
          <a:off x="0" y="0"/>
          <a:ext cx="0" cy="0"/>
          <a:chOff x="0" y="0"/>
          <a:chExt cx="0" cy="0"/>
        </a:xfrm>
      </p:grpSpPr>
      <p:sp>
        <p:nvSpPr>
          <p:cNvPr id="2776" name="Google Shape;2776;g385fd8cfb0a6a50c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7" name="Google Shape;2777;g385fd8cfb0a6a50c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1"/>
        <p:cNvGrpSpPr/>
        <p:nvPr/>
      </p:nvGrpSpPr>
      <p:grpSpPr>
        <a:xfrm>
          <a:off x="0" y="0"/>
          <a:ext cx="0" cy="0"/>
          <a:chOff x="0" y="0"/>
          <a:chExt cx="0" cy="0"/>
        </a:xfrm>
      </p:grpSpPr>
      <p:sp>
        <p:nvSpPr>
          <p:cNvPr id="2782" name="Google Shape;2782;g385fd8cfb0a6a50c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3" name="Google Shape;2783;g385fd8cfb0a6a50c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7"/>
        <p:cNvGrpSpPr/>
        <p:nvPr/>
      </p:nvGrpSpPr>
      <p:grpSpPr>
        <a:xfrm>
          <a:off x="0" y="0"/>
          <a:ext cx="0" cy="0"/>
          <a:chOff x="0" y="0"/>
          <a:chExt cx="0" cy="0"/>
        </a:xfrm>
      </p:grpSpPr>
      <p:sp>
        <p:nvSpPr>
          <p:cNvPr id="2788" name="Google Shape;2788;g385fd8cfb0a6a50c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9" name="Google Shape;2789;g385fd8cfb0a6a50c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D8328-8B78-1EF7-0ACF-17C3F63A50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C6AE45B-1C9D-F9F3-B218-DAD394DDC1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87F4D71-7048-4C52-8B7E-B468ED913CB8}"/>
              </a:ext>
            </a:extLst>
          </p:cNvPr>
          <p:cNvSpPr>
            <a:spLocks noGrp="1"/>
          </p:cNvSpPr>
          <p:nvPr>
            <p:ph type="dt" sz="half" idx="10"/>
          </p:nvPr>
        </p:nvSpPr>
        <p:spPr/>
        <p:txBody>
          <a:bodyPr/>
          <a:lstStyle/>
          <a:p>
            <a:fld id="{7ADF7D59-7985-4B79-8568-31F1B6C3496F}" type="datetimeFigureOut">
              <a:rPr lang="en-IN" smtClean="0"/>
              <a:t>25-02-2025</a:t>
            </a:fld>
            <a:endParaRPr lang="en-IN"/>
          </a:p>
        </p:txBody>
      </p:sp>
      <p:sp>
        <p:nvSpPr>
          <p:cNvPr id="5" name="Footer Placeholder 4">
            <a:extLst>
              <a:ext uri="{FF2B5EF4-FFF2-40B4-BE49-F238E27FC236}">
                <a16:creationId xmlns:a16="http://schemas.microsoft.com/office/drawing/2014/main" id="{F9A4F612-4A06-410B-E5CB-DE98C29EE7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E3D7C9-7BD1-ABD9-2671-98591A4CDF6A}"/>
              </a:ext>
            </a:extLst>
          </p:cNvPr>
          <p:cNvSpPr>
            <a:spLocks noGrp="1"/>
          </p:cNvSpPr>
          <p:nvPr>
            <p:ph type="sldNum" sz="quarter" idx="12"/>
          </p:nvPr>
        </p:nvSpPr>
        <p:spPr/>
        <p:txBody>
          <a:bodyPr/>
          <a:lstStyle/>
          <a:p>
            <a:fld id="{0A0543EC-AAEF-483C-8F9F-667E96E8A679}" type="slidenum">
              <a:rPr lang="en-IN" smtClean="0"/>
              <a:t>‹#›</a:t>
            </a:fld>
            <a:endParaRPr lang="en-IN"/>
          </a:p>
        </p:txBody>
      </p:sp>
    </p:spTree>
    <p:extLst>
      <p:ext uri="{BB962C8B-B14F-4D97-AF65-F5344CB8AC3E}">
        <p14:creationId xmlns:p14="http://schemas.microsoft.com/office/powerpoint/2010/main" val="2114030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FB8DC-5B97-6CAA-4CED-A6F0E57B92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F4B5AF0-E3C5-A4B1-F1A5-60DBA5B5A9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9BCF5E-5557-B6B0-6502-6FC9DE8DC0F7}"/>
              </a:ext>
            </a:extLst>
          </p:cNvPr>
          <p:cNvSpPr>
            <a:spLocks noGrp="1"/>
          </p:cNvSpPr>
          <p:nvPr>
            <p:ph type="dt" sz="half" idx="10"/>
          </p:nvPr>
        </p:nvSpPr>
        <p:spPr/>
        <p:txBody>
          <a:bodyPr/>
          <a:lstStyle/>
          <a:p>
            <a:fld id="{7ADF7D59-7985-4B79-8568-31F1B6C3496F}" type="datetimeFigureOut">
              <a:rPr lang="en-IN" smtClean="0"/>
              <a:t>25-02-2025</a:t>
            </a:fld>
            <a:endParaRPr lang="en-IN"/>
          </a:p>
        </p:txBody>
      </p:sp>
      <p:sp>
        <p:nvSpPr>
          <p:cNvPr id="5" name="Footer Placeholder 4">
            <a:extLst>
              <a:ext uri="{FF2B5EF4-FFF2-40B4-BE49-F238E27FC236}">
                <a16:creationId xmlns:a16="http://schemas.microsoft.com/office/drawing/2014/main" id="{BB49BC13-2847-E26C-C88E-C90B2D8F5B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C316E9-9AFE-7139-9CE2-6E1D99EF591C}"/>
              </a:ext>
            </a:extLst>
          </p:cNvPr>
          <p:cNvSpPr>
            <a:spLocks noGrp="1"/>
          </p:cNvSpPr>
          <p:nvPr>
            <p:ph type="sldNum" sz="quarter" idx="12"/>
          </p:nvPr>
        </p:nvSpPr>
        <p:spPr/>
        <p:txBody>
          <a:bodyPr/>
          <a:lstStyle/>
          <a:p>
            <a:fld id="{0A0543EC-AAEF-483C-8F9F-667E96E8A679}" type="slidenum">
              <a:rPr lang="en-IN" smtClean="0"/>
              <a:t>‹#›</a:t>
            </a:fld>
            <a:endParaRPr lang="en-IN"/>
          </a:p>
        </p:txBody>
      </p:sp>
    </p:spTree>
    <p:extLst>
      <p:ext uri="{BB962C8B-B14F-4D97-AF65-F5344CB8AC3E}">
        <p14:creationId xmlns:p14="http://schemas.microsoft.com/office/powerpoint/2010/main" val="2365272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D596F-9BBB-E5AD-2795-A6DB956C90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C797D82-C726-F43C-E6F9-000881A56C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637975-D7C6-5501-3514-4FB0C1071DCF}"/>
              </a:ext>
            </a:extLst>
          </p:cNvPr>
          <p:cNvSpPr>
            <a:spLocks noGrp="1"/>
          </p:cNvSpPr>
          <p:nvPr>
            <p:ph type="dt" sz="half" idx="10"/>
          </p:nvPr>
        </p:nvSpPr>
        <p:spPr/>
        <p:txBody>
          <a:bodyPr/>
          <a:lstStyle/>
          <a:p>
            <a:fld id="{7ADF7D59-7985-4B79-8568-31F1B6C3496F}" type="datetimeFigureOut">
              <a:rPr lang="en-IN" smtClean="0"/>
              <a:t>25-02-2025</a:t>
            </a:fld>
            <a:endParaRPr lang="en-IN"/>
          </a:p>
        </p:txBody>
      </p:sp>
      <p:sp>
        <p:nvSpPr>
          <p:cNvPr id="5" name="Footer Placeholder 4">
            <a:extLst>
              <a:ext uri="{FF2B5EF4-FFF2-40B4-BE49-F238E27FC236}">
                <a16:creationId xmlns:a16="http://schemas.microsoft.com/office/drawing/2014/main" id="{008BF9C5-7AE9-61E1-19D3-2BD8362640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509E40-A2FA-EC76-ABF5-172878718413}"/>
              </a:ext>
            </a:extLst>
          </p:cNvPr>
          <p:cNvSpPr>
            <a:spLocks noGrp="1"/>
          </p:cNvSpPr>
          <p:nvPr>
            <p:ph type="sldNum" sz="quarter" idx="12"/>
          </p:nvPr>
        </p:nvSpPr>
        <p:spPr/>
        <p:txBody>
          <a:bodyPr/>
          <a:lstStyle/>
          <a:p>
            <a:fld id="{0A0543EC-AAEF-483C-8F9F-667E96E8A679}" type="slidenum">
              <a:rPr lang="en-IN" smtClean="0"/>
              <a:t>‹#›</a:t>
            </a:fld>
            <a:endParaRPr lang="en-IN"/>
          </a:p>
        </p:txBody>
      </p:sp>
    </p:spTree>
    <p:extLst>
      <p:ext uri="{BB962C8B-B14F-4D97-AF65-F5344CB8AC3E}">
        <p14:creationId xmlns:p14="http://schemas.microsoft.com/office/powerpoint/2010/main" val="2487509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89206-BE7C-B336-7F4D-D0C9ABC692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0F3135-9C4D-8B70-4F62-927636B5E2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A8D4DF8-65D0-7E2A-B6BB-5B0A65C5DE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4F1A0EE-334B-6392-C0F3-BC81E5B72E29}"/>
              </a:ext>
            </a:extLst>
          </p:cNvPr>
          <p:cNvSpPr>
            <a:spLocks noGrp="1"/>
          </p:cNvSpPr>
          <p:nvPr>
            <p:ph type="dt" sz="half" idx="10"/>
          </p:nvPr>
        </p:nvSpPr>
        <p:spPr/>
        <p:txBody>
          <a:bodyPr/>
          <a:lstStyle/>
          <a:p>
            <a:fld id="{7ADF7D59-7985-4B79-8568-31F1B6C3496F}" type="datetimeFigureOut">
              <a:rPr lang="en-IN" smtClean="0"/>
              <a:t>25-02-2025</a:t>
            </a:fld>
            <a:endParaRPr lang="en-IN"/>
          </a:p>
        </p:txBody>
      </p:sp>
      <p:sp>
        <p:nvSpPr>
          <p:cNvPr id="6" name="Footer Placeholder 5">
            <a:extLst>
              <a:ext uri="{FF2B5EF4-FFF2-40B4-BE49-F238E27FC236}">
                <a16:creationId xmlns:a16="http://schemas.microsoft.com/office/drawing/2014/main" id="{1C3E6F22-BA86-6C19-4E66-20E0DCA1FB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6E03B0-6233-FEA7-D1E0-F7F418C8A692}"/>
              </a:ext>
            </a:extLst>
          </p:cNvPr>
          <p:cNvSpPr>
            <a:spLocks noGrp="1"/>
          </p:cNvSpPr>
          <p:nvPr>
            <p:ph type="sldNum" sz="quarter" idx="12"/>
          </p:nvPr>
        </p:nvSpPr>
        <p:spPr/>
        <p:txBody>
          <a:bodyPr/>
          <a:lstStyle/>
          <a:p>
            <a:fld id="{0A0543EC-AAEF-483C-8F9F-667E96E8A679}" type="slidenum">
              <a:rPr lang="en-IN" smtClean="0"/>
              <a:t>‹#›</a:t>
            </a:fld>
            <a:endParaRPr lang="en-IN"/>
          </a:p>
        </p:txBody>
      </p:sp>
    </p:spTree>
    <p:extLst>
      <p:ext uri="{BB962C8B-B14F-4D97-AF65-F5344CB8AC3E}">
        <p14:creationId xmlns:p14="http://schemas.microsoft.com/office/powerpoint/2010/main" val="4022347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8749F-DD0E-D257-FBB6-9717C4C4045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BA60D7-A18C-FBDD-5423-C072CE874B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58AA7A-727B-C476-2C13-D23C37B61F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6987091-91A2-D113-0E26-4F474C66C9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1C6C9F-5856-3871-71ED-2C935E3841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C5588A9-F6AD-8469-4361-55688D731C31}"/>
              </a:ext>
            </a:extLst>
          </p:cNvPr>
          <p:cNvSpPr>
            <a:spLocks noGrp="1"/>
          </p:cNvSpPr>
          <p:nvPr>
            <p:ph type="dt" sz="half" idx="10"/>
          </p:nvPr>
        </p:nvSpPr>
        <p:spPr/>
        <p:txBody>
          <a:bodyPr/>
          <a:lstStyle/>
          <a:p>
            <a:fld id="{7ADF7D59-7985-4B79-8568-31F1B6C3496F}" type="datetimeFigureOut">
              <a:rPr lang="en-IN" smtClean="0"/>
              <a:t>25-02-2025</a:t>
            </a:fld>
            <a:endParaRPr lang="en-IN"/>
          </a:p>
        </p:txBody>
      </p:sp>
      <p:sp>
        <p:nvSpPr>
          <p:cNvPr id="8" name="Footer Placeholder 7">
            <a:extLst>
              <a:ext uri="{FF2B5EF4-FFF2-40B4-BE49-F238E27FC236}">
                <a16:creationId xmlns:a16="http://schemas.microsoft.com/office/drawing/2014/main" id="{16E4A34D-F6CB-44DB-2949-93D63C758F1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406C7C9-C0A3-5B8E-3707-DA25AF36D42B}"/>
              </a:ext>
            </a:extLst>
          </p:cNvPr>
          <p:cNvSpPr>
            <a:spLocks noGrp="1"/>
          </p:cNvSpPr>
          <p:nvPr>
            <p:ph type="sldNum" sz="quarter" idx="12"/>
          </p:nvPr>
        </p:nvSpPr>
        <p:spPr/>
        <p:txBody>
          <a:bodyPr/>
          <a:lstStyle/>
          <a:p>
            <a:fld id="{0A0543EC-AAEF-483C-8F9F-667E96E8A679}" type="slidenum">
              <a:rPr lang="en-IN" smtClean="0"/>
              <a:t>‹#›</a:t>
            </a:fld>
            <a:endParaRPr lang="en-IN"/>
          </a:p>
        </p:txBody>
      </p:sp>
    </p:spTree>
    <p:extLst>
      <p:ext uri="{BB962C8B-B14F-4D97-AF65-F5344CB8AC3E}">
        <p14:creationId xmlns:p14="http://schemas.microsoft.com/office/powerpoint/2010/main" val="2344651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85312-33FD-AA79-2D7A-13BD6993665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AAD58EA-11A4-F4D3-7835-33C21DFDC0B3}"/>
              </a:ext>
            </a:extLst>
          </p:cNvPr>
          <p:cNvSpPr>
            <a:spLocks noGrp="1"/>
          </p:cNvSpPr>
          <p:nvPr>
            <p:ph type="dt" sz="half" idx="10"/>
          </p:nvPr>
        </p:nvSpPr>
        <p:spPr/>
        <p:txBody>
          <a:bodyPr/>
          <a:lstStyle/>
          <a:p>
            <a:fld id="{7ADF7D59-7985-4B79-8568-31F1B6C3496F}" type="datetimeFigureOut">
              <a:rPr lang="en-IN" smtClean="0"/>
              <a:t>25-02-2025</a:t>
            </a:fld>
            <a:endParaRPr lang="en-IN"/>
          </a:p>
        </p:txBody>
      </p:sp>
      <p:sp>
        <p:nvSpPr>
          <p:cNvPr id="4" name="Footer Placeholder 3">
            <a:extLst>
              <a:ext uri="{FF2B5EF4-FFF2-40B4-BE49-F238E27FC236}">
                <a16:creationId xmlns:a16="http://schemas.microsoft.com/office/drawing/2014/main" id="{40CF585D-8227-F2DA-8A61-147836E5C1B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75F5726-58D5-7C76-378F-1D8A13538285}"/>
              </a:ext>
            </a:extLst>
          </p:cNvPr>
          <p:cNvSpPr>
            <a:spLocks noGrp="1"/>
          </p:cNvSpPr>
          <p:nvPr>
            <p:ph type="sldNum" sz="quarter" idx="12"/>
          </p:nvPr>
        </p:nvSpPr>
        <p:spPr/>
        <p:txBody>
          <a:bodyPr/>
          <a:lstStyle/>
          <a:p>
            <a:fld id="{0A0543EC-AAEF-483C-8F9F-667E96E8A679}" type="slidenum">
              <a:rPr lang="en-IN" smtClean="0"/>
              <a:t>‹#›</a:t>
            </a:fld>
            <a:endParaRPr lang="en-IN"/>
          </a:p>
        </p:txBody>
      </p:sp>
    </p:spTree>
    <p:extLst>
      <p:ext uri="{BB962C8B-B14F-4D97-AF65-F5344CB8AC3E}">
        <p14:creationId xmlns:p14="http://schemas.microsoft.com/office/powerpoint/2010/main" val="31717827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93678B-4B15-AA47-727B-BC6C717F41F1}"/>
              </a:ext>
            </a:extLst>
          </p:cNvPr>
          <p:cNvSpPr>
            <a:spLocks noGrp="1"/>
          </p:cNvSpPr>
          <p:nvPr>
            <p:ph type="dt" sz="half" idx="10"/>
          </p:nvPr>
        </p:nvSpPr>
        <p:spPr/>
        <p:txBody>
          <a:bodyPr/>
          <a:lstStyle/>
          <a:p>
            <a:fld id="{7ADF7D59-7985-4B79-8568-31F1B6C3496F}" type="datetimeFigureOut">
              <a:rPr lang="en-IN" smtClean="0"/>
              <a:t>25-02-2025</a:t>
            </a:fld>
            <a:endParaRPr lang="en-IN"/>
          </a:p>
        </p:txBody>
      </p:sp>
      <p:sp>
        <p:nvSpPr>
          <p:cNvPr id="3" name="Footer Placeholder 2">
            <a:extLst>
              <a:ext uri="{FF2B5EF4-FFF2-40B4-BE49-F238E27FC236}">
                <a16:creationId xmlns:a16="http://schemas.microsoft.com/office/drawing/2014/main" id="{BE8B2281-846E-9C8B-B469-3BD1E74F240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AED8115-3FEB-31FC-E961-08982A515370}"/>
              </a:ext>
            </a:extLst>
          </p:cNvPr>
          <p:cNvSpPr>
            <a:spLocks noGrp="1"/>
          </p:cNvSpPr>
          <p:nvPr>
            <p:ph type="sldNum" sz="quarter" idx="12"/>
          </p:nvPr>
        </p:nvSpPr>
        <p:spPr/>
        <p:txBody>
          <a:bodyPr/>
          <a:lstStyle/>
          <a:p>
            <a:fld id="{0A0543EC-AAEF-483C-8F9F-667E96E8A679}" type="slidenum">
              <a:rPr lang="en-IN" smtClean="0"/>
              <a:t>‹#›</a:t>
            </a:fld>
            <a:endParaRPr lang="en-IN"/>
          </a:p>
        </p:txBody>
      </p:sp>
    </p:spTree>
    <p:extLst>
      <p:ext uri="{BB962C8B-B14F-4D97-AF65-F5344CB8AC3E}">
        <p14:creationId xmlns:p14="http://schemas.microsoft.com/office/powerpoint/2010/main" val="20191004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612BB-8958-3180-42B7-1207E75253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E15B1C5-6066-7F47-0636-07337C83A0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A4A72D-7300-278A-C3A9-BAF75D37DE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8599A5-C4A4-9D05-D138-4231C56987D0}"/>
              </a:ext>
            </a:extLst>
          </p:cNvPr>
          <p:cNvSpPr>
            <a:spLocks noGrp="1"/>
          </p:cNvSpPr>
          <p:nvPr>
            <p:ph type="dt" sz="half" idx="10"/>
          </p:nvPr>
        </p:nvSpPr>
        <p:spPr/>
        <p:txBody>
          <a:bodyPr/>
          <a:lstStyle/>
          <a:p>
            <a:fld id="{7ADF7D59-7985-4B79-8568-31F1B6C3496F}" type="datetimeFigureOut">
              <a:rPr lang="en-IN" smtClean="0"/>
              <a:t>25-02-2025</a:t>
            </a:fld>
            <a:endParaRPr lang="en-IN"/>
          </a:p>
        </p:txBody>
      </p:sp>
      <p:sp>
        <p:nvSpPr>
          <p:cNvPr id="6" name="Footer Placeholder 5">
            <a:extLst>
              <a:ext uri="{FF2B5EF4-FFF2-40B4-BE49-F238E27FC236}">
                <a16:creationId xmlns:a16="http://schemas.microsoft.com/office/drawing/2014/main" id="{3B526A4C-61B7-FE30-C9CB-6DC581DFD7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FFAEDD-D558-BF02-5367-BBDC985AAEAE}"/>
              </a:ext>
            </a:extLst>
          </p:cNvPr>
          <p:cNvSpPr>
            <a:spLocks noGrp="1"/>
          </p:cNvSpPr>
          <p:nvPr>
            <p:ph type="sldNum" sz="quarter" idx="12"/>
          </p:nvPr>
        </p:nvSpPr>
        <p:spPr/>
        <p:txBody>
          <a:bodyPr/>
          <a:lstStyle/>
          <a:p>
            <a:fld id="{0A0543EC-AAEF-483C-8F9F-667E96E8A679}" type="slidenum">
              <a:rPr lang="en-IN" smtClean="0"/>
              <a:t>‹#›</a:t>
            </a:fld>
            <a:endParaRPr lang="en-IN"/>
          </a:p>
        </p:txBody>
      </p:sp>
    </p:spTree>
    <p:extLst>
      <p:ext uri="{BB962C8B-B14F-4D97-AF65-F5344CB8AC3E}">
        <p14:creationId xmlns:p14="http://schemas.microsoft.com/office/powerpoint/2010/main" val="246544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A538D-F571-7959-94E0-15CA47F1C1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BE463B8-FBE4-407F-DE19-7D6802E8D9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B14A498-5EA5-EE63-9497-479AE490F0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5224E8-B8BB-BD70-34AA-4BC7E1FA8828}"/>
              </a:ext>
            </a:extLst>
          </p:cNvPr>
          <p:cNvSpPr>
            <a:spLocks noGrp="1"/>
          </p:cNvSpPr>
          <p:nvPr>
            <p:ph type="dt" sz="half" idx="10"/>
          </p:nvPr>
        </p:nvSpPr>
        <p:spPr/>
        <p:txBody>
          <a:bodyPr/>
          <a:lstStyle/>
          <a:p>
            <a:fld id="{7ADF7D59-7985-4B79-8568-31F1B6C3496F}" type="datetimeFigureOut">
              <a:rPr lang="en-IN" smtClean="0"/>
              <a:t>25-02-2025</a:t>
            </a:fld>
            <a:endParaRPr lang="en-IN"/>
          </a:p>
        </p:txBody>
      </p:sp>
      <p:sp>
        <p:nvSpPr>
          <p:cNvPr id="6" name="Footer Placeholder 5">
            <a:extLst>
              <a:ext uri="{FF2B5EF4-FFF2-40B4-BE49-F238E27FC236}">
                <a16:creationId xmlns:a16="http://schemas.microsoft.com/office/drawing/2014/main" id="{94ACE7ED-018F-CC1D-D640-369C9D3940B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31C438-B0BB-2276-F76C-21B67894771E}"/>
              </a:ext>
            </a:extLst>
          </p:cNvPr>
          <p:cNvSpPr>
            <a:spLocks noGrp="1"/>
          </p:cNvSpPr>
          <p:nvPr>
            <p:ph type="sldNum" sz="quarter" idx="12"/>
          </p:nvPr>
        </p:nvSpPr>
        <p:spPr/>
        <p:txBody>
          <a:bodyPr/>
          <a:lstStyle/>
          <a:p>
            <a:fld id="{0A0543EC-AAEF-483C-8F9F-667E96E8A679}" type="slidenum">
              <a:rPr lang="en-IN" smtClean="0"/>
              <a:t>‹#›</a:t>
            </a:fld>
            <a:endParaRPr lang="en-IN"/>
          </a:p>
        </p:txBody>
      </p:sp>
    </p:spTree>
    <p:extLst>
      <p:ext uri="{BB962C8B-B14F-4D97-AF65-F5344CB8AC3E}">
        <p14:creationId xmlns:p14="http://schemas.microsoft.com/office/powerpoint/2010/main" val="3982780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442A4-F018-D2FB-EAD2-92BD216D664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9AFAEFB-6B8F-5FB8-0B97-763F28C7F0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12000C-6CCA-7E30-904D-647C20925CD8}"/>
              </a:ext>
            </a:extLst>
          </p:cNvPr>
          <p:cNvSpPr>
            <a:spLocks noGrp="1"/>
          </p:cNvSpPr>
          <p:nvPr>
            <p:ph type="dt" sz="half" idx="10"/>
          </p:nvPr>
        </p:nvSpPr>
        <p:spPr/>
        <p:txBody>
          <a:bodyPr/>
          <a:lstStyle/>
          <a:p>
            <a:fld id="{7ADF7D59-7985-4B79-8568-31F1B6C3496F}" type="datetimeFigureOut">
              <a:rPr lang="en-IN" smtClean="0"/>
              <a:t>25-02-2025</a:t>
            </a:fld>
            <a:endParaRPr lang="en-IN"/>
          </a:p>
        </p:txBody>
      </p:sp>
      <p:sp>
        <p:nvSpPr>
          <p:cNvPr id="5" name="Footer Placeholder 4">
            <a:extLst>
              <a:ext uri="{FF2B5EF4-FFF2-40B4-BE49-F238E27FC236}">
                <a16:creationId xmlns:a16="http://schemas.microsoft.com/office/drawing/2014/main" id="{DE5E97E3-42B9-EAAB-8EB6-B8B828E80D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5526F5-3BB4-EEA3-EEDF-66BABBF5B5C4}"/>
              </a:ext>
            </a:extLst>
          </p:cNvPr>
          <p:cNvSpPr>
            <a:spLocks noGrp="1"/>
          </p:cNvSpPr>
          <p:nvPr>
            <p:ph type="sldNum" sz="quarter" idx="12"/>
          </p:nvPr>
        </p:nvSpPr>
        <p:spPr/>
        <p:txBody>
          <a:bodyPr/>
          <a:lstStyle/>
          <a:p>
            <a:fld id="{0A0543EC-AAEF-483C-8F9F-667E96E8A679}" type="slidenum">
              <a:rPr lang="en-IN" smtClean="0"/>
              <a:t>‹#›</a:t>
            </a:fld>
            <a:endParaRPr lang="en-IN"/>
          </a:p>
        </p:txBody>
      </p:sp>
    </p:spTree>
    <p:extLst>
      <p:ext uri="{BB962C8B-B14F-4D97-AF65-F5344CB8AC3E}">
        <p14:creationId xmlns:p14="http://schemas.microsoft.com/office/powerpoint/2010/main" val="994834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371762-B52A-C1FD-BAAD-49548CDBE56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6031117-10EB-CA18-F31D-1570231ABAE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21CA60-AA6A-940E-162C-312D77F1E12E}"/>
              </a:ext>
            </a:extLst>
          </p:cNvPr>
          <p:cNvSpPr>
            <a:spLocks noGrp="1"/>
          </p:cNvSpPr>
          <p:nvPr>
            <p:ph type="dt" sz="half" idx="10"/>
          </p:nvPr>
        </p:nvSpPr>
        <p:spPr/>
        <p:txBody>
          <a:bodyPr/>
          <a:lstStyle/>
          <a:p>
            <a:fld id="{7ADF7D59-7985-4B79-8568-31F1B6C3496F}" type="datetimeFigureOut">
              <a:rPr lang="en-IN" smtClean="0"/>
              <a:t>25-02-2025</a:t>
            </a:fld>
            <a:endParaRPr lang="en-IN"/>
          </a:p>
        </p:txBody>
      </p:sp>
      <p:sp>
        <p:nvSpPr>
          <p:cNvPr id="5" name="Footer Placeholder 4">
            <a:extLst>
              <a:ext uri="{FF2B5EF4-FFF2-40B4-BE49-F238E27FC236}">
                <a16:creationId xmlns:a16="http://schemas.microsoft.com/office/drawing/2014/main" id="{2A9AFAEA-8128-C054-07DD-F80B3B40AB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03B3FC-F259-57DD-6A6B-1326EE45A07D}"/>
              </a:ext>
            </a:extLst>
          </p:cNvPr>
          <p:cNvSpPr>
            <a:spLocks noGrp="1"/>
          </p:cNvSpPr>
          <p:nvPr>
            <p:ph type="sldNum" sz="quarter" idx="12"/>
          </p:nvPr>
        </p:nvSpPr>
        <p:spPr/>
        <p:txBody>
          <a:bodyPr/>
          <a:lstStyle/>
          <a:p>
            <a:fld id="{0A0543EC-AAEF-483C-8F9F-667E96E8A679}" type="slidenum">
              <a:rPr lang="en-IN" smtClean="0"/>
              <a:t>‹#›</a:t>
            </a:fld>
            <a:endParaRPr lang="en-IN"/>
          </a:p>
        </p:txBody>
      </p:sp>
    </p:spTree>
    <p:extLst>
      <p:ext uri="{BB962C8B-B14F-4D97-AF65-F5344CB8AC3E}">
        <p14:creationId xmlns:p14="http://schemas.microsoft.com/office/powerpoint/2010/main" val="13019964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688"/>
        <p:cNvGrpSpPr/>
        <p:nvPr/>
      </p:nvGrpSpPr>
      <p:grpSpPr>
        <a:xfrm>
          <a:off x="0" y="0"/>
          <a:ext cx="0" cy="0"/>
          <a:chOff x="0" y="0"/>
          <a:chExt cx="0" cy="0"/>
        </a:xfrm>
      </p:grpSpPr>
      <p:sp>
        <p:nvSpPr>
          <p:cNvPr id="2689" name="Google Shape;2689;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90" name="Google Shape;2690;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rtl="0">
              <a:spcBef>
                <a:spcPts val="0"/>
              </a:spcBef>
              <a:spcAft>
                <a:spcPts val="0"/>
              </a:spcAft>
              <a:buSzPts val="1800"/>
              <a:buChar char="●"/>
              <a:defRPr/>
            </a:lvl1pPr>
            <a:lvl2pPr marL="1219170" lvl="1" indent="-423323" rtl="0">
              <a:spcBef>
                <a:spcPts val="0"/>
              </a:spcBef>
              <a:spcAft>
                <a:spcPts val="0"/>
              </a:spcAft>
              <a:buSzPts val="1400"/>
              <a:buChar char="○"/>
              <a:defRPr/>
            </a:lvl2pPr>
            <a:lvl3pPr marL="1828754" lvl="2" indent="-423323" rtl="0">
              <a:spcBef>
                <a:spcPts val="0"/>
              </a:spcBef>
              <a:spcAft>
                <a:spcPts val="0"/>
              </a:spcAft>
              <a:buSzPts val="1400"/>
              <a:buChar char="■"/>
              <a:defRPr/>
            </a:lvl3pPr>
            <a:lvl4pPr marL="2438339" lvl="3" indent="-423323" rtl="0">
              <a:spcBef>
                <a:spcPts val="0"/>
              </a:spcBef>
              <a:spcAft>
                <a:spcPts val="0"/>
              </a:spcAft>
              <a:buSzPts val="1400"/>
              <a:buChar char="●"/>
              <a:defRPr/>
            </a:lvl4pPr>
            <a:lvl5pPr marL="3047924" lvl="4" indent="-423323" rtl="0">
              <a:spcBef>
                <a:spcPts val="0"/>
              </a:spcBef>
              <a:spcAft>
                <a:spcPts val="0"/>
              </a:spcAft>
              <a:buSzPts val="1400"/>
              <a:buChar char="○"/>
              <a:defRPr/>
            </a:lvl5pPr>
            <a:lvl6pPr marL="3657509" lvl="5" indent="-423323" rtl="0">
              <a:spcBef>
                <a:spcPts val="0"/>
              </a:spcBef>
              <a:spcAft>
                <a:spcPts val="0"/>
              </a:spcAft>
              <a:buSzPts val="1400"/>
              <a:buChar char="■"/>
              <a:defRPr/>
            </a:lvl6pPr>
            <a:lvl7pPr marL="4267093" lvl="6" indent="-423323" rtl="0">
              <a:spcBef>
                <a:spcPts val="0"/>
              </a:spcBef>
              <a:spcAft>
                <a:spcPts val="0"/>
              </a:spcAft>
              <a:buSzPts val="1400"/>
              <a:buChar char="●"/>
              <a:defRPr/>
            </a:lvl7pPr>
            <a:lvl8pPr marL="4876678" lvl="7" indent="-423323" rtl="0">
              <a:spcBef>
                <a:spcPts val="0"/>
              </a:spcBef>
              <a:spcAft>
                <a:spcPts val="0"/>
              </a:spcAft>
              <a:buSzPts val="1400"/>
              <a:buChar char="○"/>
              <a:defRPr/>
            </a:lvl8pPr>
            <a:lvl9pPr marL="5486263" lvl="8" indent="-423323" rtl="0">
              <a:spcBef>
                <a:spcPts val="0"/>
              </a:spcBef>
              <a:spcAft>
                <a:spcPts val="0"/>
              </a:spcAft>
              <a:buSzPts val="1400"/>
              <a:buChar char="■"/>
              <a:defRPr/>
            </a:lvl9pPr>
          </a:lstStyle>
          <a:p>
            <a:endParaRPr/>
          </a:p>
        </p:txBody>
      </p:sp>
      <p:sp>
        <p:nvSpPr>
          <p:cNvPr id="2691" name="Google Shape;2691;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IN" smtClean="0"/>
              <a:pPr/>
              <a:t>‹#›</a:t>
            </a:fld>
            <a:endParaRPr lang="en-IN"/>
          </a:p>
        </p:txBody>
      </p:sp>
    </p:spTree>
    <p:extLst>
      <p:ext uri="{BB962C8B-B14F-4D97-AF65-F5344CB8AC3E}">
        <p14:creationId xmlns:p14="http://schemas.microsoft.com/office/powerpoint/2010/main" val="23017253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2685"/>
        <p:cNvGrpSpPr/>
        <p:nvPr/>
      </p:nvGrpSpPr>
      <p:grpSpPr>
        <a:xfrm>
          <a:off x="0" y="0"/>
          <a:ext cx="0" cy="0"/>
          <a:chOff x="0" y="0"/>
          <a:chExt cx="0" cy="0"/>
        </a:xfrm>
      </p:grpSpPr>
      <p:sp>
        <p:nvSpPr>
          <p:cNvPr id="2686" name="Google Shape;2686;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2687" name="Google Shape;2687;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IN" smtClean="0"/>
              <a:pPr/>
              <a:t>‹#›</a:t>
            </a:fld>
            <a:endParaRPr lang="en-IN"/>
          </a:p>
        </p:txBody>
      </p:sp>
    </p:spTree>
    <p:extLst>
      <p:ext uri="{BB962C8B-B14F-4D97-AF65-F5344CB8AC3E}">
        <p14:creationId xmlns:p14="http://schemas.microsoft.com/office/powerpoint/2010/main" val="3249142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1ABBC4-B89F-AAF4-E510-B226D6E3F3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C46F4C-53E9-7F3B-0EB6-3F7711FEE3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27AC0873-BA76-B6BD-E718-BDAC058079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DF7D59-7985-4B79-8568-31F1B6C3496F}" type="datetimeFigureOut">
              <a:rPr lang="en-IN" smtClean="0"/>
              <a:t>25-02-2025</a:t>
            </a:fld>
            <a:endParaRPr lang="en-IN"/>
          </a:p>
        </p:txBody>
      </p:sp>
      <p:sp>
        <p:nvSpPr>
          <p:cNvPr id="5" name="Footer Placeholder 4">
            <a:extLst>
              <a:ext uri="{FF2B5EF4-FFF2-40B4-BE49-F238E27FC236}">
                <a16:creationId xmlns:a16="http://schemas.microsoft.com/office/drawing/2014/main" id="{3EB9CEEA-C680-8AC8-A524-7AEEE41214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A201CCA-5478-D05C-A8B0-2F8FFEBB5A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0543EC-AAEF-483C-8F9F-667E96E8A679}" type="slidenum">
              <a:rPr lang="en-IN" smtClean="0"/>
              <a:t>‹#›</a:t>
            </a:fld>
            <a:endParaRPr lang="en-IN"/>
          </a:p>
        </p:txBody>
      </p:sp>
      <p:pic>
        <p:nvPicPr>
          <p:cNvPr id="8" name="Picture 7">
            <a:extLst>
              <a:ext uri="{FF2B5EF4-FFF2-40B4-BE49-F238E27FC236}">
                <a16:creationId xmlns:a16="http://schemas.microsoft.com/office/drawing/2014/main" id="{127E8111-A2A1-3D86-5FA7-72370C32891E}"/>
              </a:ext>
            </a:extLst>
          </p:cNvPr>
          <p:cNvPicPr>
            <a:picLocks noChangeAspect="1"/>
          </p:cNvPicPr>
          <p:nvPr userDrawn="1"/>
        </p:nvPicPr>
        <p:blipFill>
          <a:blip r:embed="rId15">
            <a:alphaModFix amt="50000"/>
          </a:blip>
          <a:stretch>
            <a:fillRect/>
          </a:stretch>
        </p:blipFill>
        <p:spPr>
          <a:xfrm>
            <a:off x="307683" y="169573"/>
            <a:ext cx="1955226" cy="624753"/>
          </a:xfrm>
          <a:prstGeom prst="rect">
            <a:avLst/>
          </a:prstGeom>
          <a:effectLst>
            <a:reflection stA="0" endPos="65000" dist="50800" dir="5400000" sy="-100000" algn="bl" rotWithShape="0"/>
          </a:effectLst>
        </p:spPr>
      </p:pic>
      <p:sp>
        <p:nvSpPr>
          <p:cNvPr id="9" name="TextBox 8">
            <a:extLst>
              <a:ext uri="{FF2B5EF4-FFF2-40B4-BE49-F238E27FC236}">
                <a16:creationId xmlns:a16="http://schemas.microsoft.com/office/drawing/2014/main" id="{226EB892-0181-9B9D-5B25-1DA344BDED5E}"/>
              </a:ext>
            </a:extLst>
          </p:cNvPr>
          <p:cNvSpPr txBox="1"/>
          <p:nvPr userDrawn="1"/>
        </p:nvSpPr>
        <p:spPr>
          <a:xfrm>
            <a:off x="5652655" y="3325091"/>
            <a:ext cx="360218" cy="369332"/>
          </a:xfrm>
          <a:prstGeom prst="rect">
            <a:avLst/>
          </a:prstGeom>
          <a:noFill/>
        </p:spPr>
        <p:txBody>
          <a:bodyPr wrap="square" rtlCol="0">
            <a:spAutoFit/>
          </a:bodyPr>
          <a:lstStyle/>
          <a:p>
            <a:endParaRPr lang="en-IN" dirty="0"/>
          </a:p>
        </p:txBody>
      </p:sp>
    </p:spTree>
    <p:extLst>
      <p:ext uri="{BB962C8B-B14F-4D97-AF65-F5344CB8AC3E}">
        <p14:creationId xmlns:p14="http://schemas.microsoft.com/office/powerpoint/2010/main" val="29715117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youtube.com/watch?v=XM3Rtz1uxFE" TargetMode="Externa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99ECE-BE0D-15D4-6C6E-F87DF8D113BD}"/>
              </a:ext>
            </a:extLst>
          </p:cNvPr>
          <p:cNvSpPr>
            <a:spLocks noGrp="1"/>
          </p:cNvSpPr>
          <p:nvPr>
            <p:ph type="ctrTitle"/>
          </p:nvPr>
        </p:nvSpPr>
        <p:spPr/>
        <p:txBody>
          <a:bodyPr>
            <a:normAutofit/>
          </a:bodyPr>
          <a:lstStyle/>
          <a:p>
            <a:r>
              <a:rPr lang="en-IN" sz="4400" b="1" i="0" u="none" strike="noStrike" baseline="0" dirty="0">
                <a:solidFill>
                  <a:srgbClr val="00AF50"/>
                </a:solidFill>
                <a:latin typeface="Bradley Hand ITC" panose="03070402050302030203" pitchFamily="66" charset="0"/>
              </a:rPr>
              <a:t>INTRODUCTION</a:t>
            </a:r>
            <a:br>
              <a:rPr lang="en-IN" sz="4400" b="1" i="0" u="none" strike="noStrike" baseline="0" dirty="0">
                <a:solidFill>
                  <a:srgbClr val="00AF50"/>
                </a:solidFill>
                <a:latin typeface="Bradley Hand ITC" panose="03070402050302030203" pitchFamily="66" charset="0"/>
              </a:rPr>
            </a:br>
            <a:r>
              <a:rPr lang="en-IN" sz="4400" b="1" i="0" u="none" strike="noStrike" baseline="0" dirty="0">
                <a:solidFill>
                  <a:srgbClr val="00AF50"/>
                </a:solidFill>
                <a:latin typeface="Bradley Hand ITC" panose="03070402050302030203" pitchFamily="66" charset="0"/>
              </a:rPr>
              <a:t>TO</a:t>
            </a:r>
            <a:br>
              <a:rPr lang="en-IN" sz="4400" b="1" i="0" u="none" strike="noStrike" baseline="0" dirty="0">
                <a:solidFill>
                  <a:srgbClr val="00AF50"/>
                </a:solidFill>
                <a:latin typeface="Bradley Hand ITC" panose="03070402050302030203" pitchFamily="66" charset="0"/>
              </a:rPr>
            </a:br>
            <a:r>
              <a:rPr lang="en-IN" sz="4400" b="1" i="0" u="none" strike="noStrike" baseline="0" dirty="0">
                <a:solidFill>
                  <a:srgbClr val="00AF50"/>
                </a:solidFill>
                <a:latin typeface="Bradley Hand ITC" panose="03070402050302030203" pitchFamily="66" charset="0"/>
              </a:rPr>
              <a:t>EMBEDDED SYSTEMS</a:t>
            </a:r>
            <a:endParaRPr lang="en-IN" sz="17400" b="1" dirty="0"/>
          </a:p>
        </p:txBody>
      </p:sp>
      <p:sp>
        <p:nvSpPr>
          <p:cNvPr id="3" name="Subtitle 2">
            <a:extLst>
              <a:ext uri="{FF2B5EF4-FFF2-40B4-BE49-F238E27FC236}">
                <a16:creationId xmlns:a16="http://schemas.microsoft.com/office/drawing/2014/main" id="{4B7633F3-C744-5D8F-C478-E5A760E3AAAA}"/>
              </a:ext>
            </a:extLst>
          </p:cNvPr>
          <p:cNvSpPr>
            <a:spLocks noGrp="1"/>
          </p:cNvSpPr>
          <p:nvPr>
            <p:ph type="subTitle" idx="1"/>
          </p:nvPr>
        </p:nvSpPr>
        <p:spPr/>
        <p:txBody>
          <a:bodyPr/>
          <a:lstStyle/>
          <a:p>
            <a:pPr algn="l"/>
            <a:endParaRPr lang="en-IN" sz="1800" b="0" i="0" u="none" strike="noStrike" baseline="0" dirty="0">
              <a:solidFill>
                <a:srgbClr val="000000"/>
              </a:solidFill>
              <a:latin typeface="Bradley Hand ITC" panose="03070402050302030203" pitchFamily="66" charset="0"/>
            </a:endParaRPr>
          </a:p>
          <a:p>
            <a:r>
              <a:rPr lang="en-IN" sz="4000" b="1" i="0" u="none" strike="noStrike" baseline="0" dirty="0">
                <a:solidFill>
                  <a:srgbClr val="000000"/>
                </a:solidFill>
                <a:latin typeface="Bradley Hand ITC" panose="03070402050302030203" pitchFamily="66" charset="0"/>
              </a:rPr>
              <a:t> </a:t>
            </a:r>
            <a:r>
              <a:rPr lang="en-IN" sz="4000" b="1" i="0" u="none" strike="noStrike" baseline="0" dirty="0">
                <a:solidFill>
                  <a:srgbClr val="FF00FF"/>
                </a:solidFill>
                <a:latin typeface="Bradley Hand ITC" panose="03070402050302030203" pitchFamily="66" charset="0"/>
              </a:rPr>
              <a:t>UNIT-1</a:t>
            </a:r>
            <a:endParaRPr lang="en-IN" sz="4800" b="1" dirty="0"/>
          </a:p>
        </p:txBody>
      </p:sp>
    </p:spTree>
    <p:extLst>
      <p:ext uri="{BB962C8B-B14F-4D97-AF65-F5344CB8AC3E}">
        <p14:creationId xmlns:p14="http://schemas.microsoft.com/office/powerpoint/2010/main" val="1232220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2678880" y="415788"/>
            <a:ext cx="7138220" cy="879728"/>
          </a:xfrm>
          <a:prstGeom prst="rect">
            <a:avLst/>
          </a:prstGeom>
          <a:ln w="9144">
            <a:solidFill>
              <a:srgbClr val="943735"/>
            </a:solidFill>
          </a:ln>
        </p:spPr>
        <p:txBody>
          <a:bodyPr vert="horz" wrap="square" lIns="0" tIns="200660" rIns="0" bIns="0" rtlCol="0" anchor="ctr">
            <a:spAutoFit/>
          </a:bodyPr>
          <a:lstStyle/>
          <a:p>
            <a:pPr algn="ctr">
              <a:lnSpc>
                <a:spcPct val="100000"/>
              </a:lnSpc>
              <a:spcBef>
                <a:spcPts val="1580"/>
              </a:spcBef>
            </a:pPr>
            <a:r>
              <a:rPr dirty="0">
                <a:solidFill>
                  <a:srgbClr val="00AF50"/>
                </a:solidFill>
              </a:rPr>
              <a:t>EMBEDDED</a:t>
            </a:r>
            <a:r>
              <a:rPr spc="-80" dirty="0">
                <a:solidFill>
                  <a:srgbClr val="00AF50"/>
                </a:solidFill>
              </a:rPr>
              <a:t> </a:t>
            </a:r>
            <a:r>
              <a:rPr spc="-10" dirty="0">
                <a:solidFill>
                  <a:srgbClr val="00AF50"/>
                </a:solidFill>
              </a:rPr>
              <a:t>SYSTEMS</a:t>
            </a:r>
            <a:endParaRPr/>
          </a:p>
        </p:txBody>
      </p:sp>
      <p:sp>
        <p:nvSpPr>
          <p:cNvPr id="12" name="object 12"/>
          <p:cNvSpPr txBox="1"/>
          <p:nvPr/>
        </p:nvSpPr>
        <p:spPr>
          <a:xfrm>
            <a:off x="2059941" y="1815820"/>
            <a:ext cx="7757159" cy="4707890"/>
          </a:xfrm>
          <a:prstGeom prst="rect">
            <a:avLst/>
          </a:prstGeom>
        </p:spPr>
        <p:txBody>
          <a:bodyPr vert="horz" wrap="square" lIns="0" tIns="12700" rIns="0" bIns="0" rtlCol="0">
            <a:spAutoFit/>
          </a:bodyPr>
          <a:lstStyle/>
          <a:p>
            <a:pPr marL="631190" marR="590550" indent="-619125">
              <a:lnSpc>
                <a:spcPct val="120000"/>
              </a:lnSpc>
              <a:spcBef>
                <a:spcPts val="100"/>
              </a:spcBef>
              <a:buClr>
                <a:srgbClr val="000000"/>
              </a:buClr>
              <a:buFont typeface="Wingdings"/>
              <a:buChar char=""/>
              <a:tabLst>
                <a:tab pos="657225" algn="l"/>
                <a:tab pos="2195195" algn="l"/>
              </a:tabLst>
            </a:pPr>
            <a:r>
              <a:rPr sz="3200" dirty="0">
                <a:solidFill>
                  <a:srgbClr val="FF00FF"/>
                </a:solidFill>
                <a:latin typeface="Calibri"/>
                <a:cs typeface="Calibri"/>
              </a:rPr>
              <a:t>An</a:t>
            </a:r>
            <a:r>
              <a:rPr sz="3200" spc="-65" dirty="0">
                <a:solidFill>
                  <a:srgbClr val="FF00FF"/>
                </a:solidFill>
                <a:latin typeface="Calibri"/>
                <a:cs typeface="Calibri"/>
              </a:rPr>
              <a:t> </a:t>
            </a:r>
            <a:r>
              <a:rPr sz="3200" u="sng" dirty="0">
                <a:solidFill>
                  <a:srgbClr val="FF00FF"/>
                </a:solidFill>
                <a:uFill>
                  <a:solidFill>
                    <a:srgbClr val="FF00FF"/>
                  </a:solidFill>
                </a:uFill>
                <a:latin typeface="Calibri"/>
                <a:cs typeface="Calibri"/>
              </a:rPr>
              <a:t>Embedded</a:t>
            </a:r>
            <a:r>
              <a:rPr sz="3200" u="sng" spc="-40" dirty="0">
                <a:solidFill>
                  <a:srgbClr val="FF00FF"/>
                </a:solidFill>
                <a:uFill>
                  <a:solidFill>
                    <a:srgbClr val="FF00FF"/>
                  </a:solidFill>
                </a:uFill>
                <a:latin typeface="Calibri"/>
                <a:cs typeface="Calibri"/>
              </a:rPr>
              <a:t> </a:t>
            </a:r>
            <a:r>
              <a:rPr sz="3200" u="sng" spc="-10" dirty="0">
                <a:solidFill>
                  <a:srgbClr val="FF00FF"/>
                </a:solidFill>
                <a:uFill>
                  <a:solidFill>
                    <a:srgbClr val="FF00FF"/>
                  </a:solidFill>
                </a:uFill>
                <a:latin typeface="Calibri"/>
                <a:cs typeface="Calibri"/>
              </a:rPr>
              <a:t>system</a:t>
            </a:r>
            <a:r>
              <a:rPr sz="3200" u="sng" spc="-50" dirty="0">
                <a:solidFill>
                  <a:srgbClr val="FF00FF"/>
                </a:solidFill>
                <a:uFill>
                  <a:solidFill>
                    <a:srgbClr val="FF00FF"/>
                  </a:solidFill>
                </a:uFill>
                <a:latin typeface="Calibri"/>
                <a:cs typeface="Calibri"/>
              </a:rPr>
              <a:t> </a:t>
            </a:r>
            <a:r>
              <a:rPr sz="3200" dirty="0">
                <a:solidFill>
                  <a:srgbClr val="FF00FF"/>
                </a:solidFill>
                <a:latin typeface="Calibri"/>
                <a:cs typeface="Calibri"/>
              </a:rPr>
              <a:t>is</a:t>
            </a:r>
            <a:r>
              <a:rPr sz="3200" spc="-70" dirty="0">
                <a:solidFill>
                  <a:srgbClr val="FF00FF"/>
                </a:solidFill>
                <a:latin typeface="Calibri"/>
                <a:cs typeface="Calibri"/>
              </a:rPr>
              <a:t> </a:t>
            </a:r>
            <a:r>
              <a:rPr sz="3200" dirty="0">
                <a:solidFill>
                  <a:srgbClr val="FF00FF"/>
                </a:solidFill>
                <a:latin typeface="Calibri"/>
                <a:cs typeface="Calibri"/>
              </a:rPr>
              <a:t>an</a:t>
            </a:r>
            <a:r>
              <a:rPr sz="3200" spc="-65" dirty="0">
                <a:solidFill>
                  <a:srgbClr val="FF00FF"/>
                </a:solidFill>
                <a:latin typeface="Calibri"/>
                <a:cs typeface="Calibri"/>
              </a:rPr>
              <a:t> </a:t>
            </a:r>
            <a:r>
              <a:rPr sz="3200" dirty="0">
                <a:solidFill>
                  <a:srgbClr val="FF00FF"/>
                </a:solidFill>
                <a:latin typeface="Calibri"/>
                <a:cs typeface="Calibri"/>
              </a:rPr>
              <a:t>electronic</a:t>
            </a:r>
            <a:r>
              <a:rPr sz="3200" spc="-75" dirty="0">
                <a:solidFill>
                  <a:srgbClr val="FF00FF"/>
                </a:solidFill>
                <a:latin typeface="Calibri"/>
                <a:cs typeface="Calibri"/>
              </a:rPr>
              <a:t> </a:t>
            </a:r>
            <a:r>
              <a:rPr sz="3200" spc="-50" dirty="0">
                <a:solidFill>
                  <a:srgbClr val="FF00FF"/>
                </a:solidFill>
                <a:latin typeface="Calibri"/>
                <a:cs typeface="Calibri"/>
              </a:rPr>
              <a:t>/ 	</a:t>
            </a:r>
            <a:r>
              <a:rPr sz="3200" dirty="0">
                <a:solidFill>
                  <a:srgbClr val="FF00FF"/>
                </a:solidFill>
                <a:latin typeface="Calibri"/>
                <a:cs typeface="Calibri"/>
              </a:rPr>
              <a:t>electro-</a:t>
            </a:r>
            <a:r>
              <a:rPr sz="3200" spc="-155" dirty="0">
                <a:solidFill>
                  <a:srgbClr val="FF00FF"/>
                </a:solidFill>
                <a:latin typeface="Calibri"/>
                <a:cs typeface="Calibri"/>
              </a:rPr>
              <a:t> </a:t>
            </a:r>
            <a:r>
              <a:rPr sz="3200" dirty="0">
                <a:solidFill>
                  <a:srgbClr val="FF00FF"/>
                </a:solidFill>
                <a:latin typeface="Calibri"/>
                <a:cs typeface="Calibri"/>
              </a:rPr>
              <a:t>mechanical</a:t>
            </a:r>
            <a:r>
              <a:rPr sz="3200" spc="-130" dirty="0">
                <a:solidFill>
                  <a:srgbClr val="FF00FF"/>
                </a:solidFill>
                <a:latin typeface="Calibri"/>
                <a:cs typeface="Calibri"/>
              </a:rPr>
              <a:t> </a:t>
            </a:r>
            <a:r>
              <a:rPr sz="3200" spc="-10" dirty="0">
                <a:solidFill>
                  <a:srgbClr val="FF00FF"/>
                </a:solidFill>
                <a:latin typeface="Calibri"/>
                <a:cs typeface="Calibri"/>
              </a:rPr>
              <a:t>system</a:t>
            </a:r>
            <a:r>
              <a:rPr sz="3200" spc="-130" dirty="0">
                <a:solidFill>
                  <a:srgbClr val="FF00FF"/>
                </a:solidFill>
                <a:latin typeface="Calibri"/>
                <a:cs typeface="Calibri"/>
              </a:rPr>
              <a:t> </a:t>
            </a:r>
            <a:r>
              <a:rPr sz="3200" dirty="0">
                <a:solidFill>
                  <a:srgbClr val="FF00FF"/>
                </a:solidFill>
                <a:latin typeface="Calibri"/>
                <a:cs typeface="Calibri"/>
              </a:rPr>
              <a:t>designed</a:t>
            </a:r>
            <a:r>
              <a:rPr sz="3200" spc="-125" dirty="0">
                <a:solidFill>
                  <a:srgbClr val="FF00FF"/>
                </a:solidFill>
                <a:latin typeface="Calibri"/>
                <a:cs typeface="Calibri"/>
              </a:rPr>
              <a:t> </a:t>
            </a:r>
            <a:r>
              <a:rPr sz="3200" spc="-25" dirty="0">
                <a:solidFill>
                  <a:srgbClr val="FF00FF"/>
                </a:solidFill>
                <a:latin typeface="Calibri"/>
                <a:cs typeface="Calibri"/>
              </a:rPr>
              <a:t>to </a:t>
            </a:r>
            <a:r>
              <a:rPr lang="en-IN" sz="3200" spc="-25" dirty="0">
                <a:solidFill>
                  <a:srgbClr val="FF00FF"/>
                </a:solidFill>
                <a:latin typeface="Calibri"/>
                <a:cs typeface="Calibri"/>
              </a:rPr>
              <a:t>	</a:t>
            </a:r>
            <a:r>
              <a:rPr sz="3200" spc="-10" dirty="0">
                <a:solidFill>
                  <a:srgbClr val="FF00FF"/>
                </a:solidFill>
                <a:latin typeface="Calibri"/>
                <a:cs typeface="Calibri"/>
              </a:rPr>
              <a:t>perform</a:t>
            </a:r>
            <a:r>
              <a:rPr sz="3200" dirty="0">
                <a:solidFill>
                  <a:srgbClr val="FF00FF"/>
                </a:solidFill>
                <a:latin typeface="Calibri"/>
                <a:cs typeface="Calibri"/>
              </a:rPr>
              <a:t>	specific</a:t>
            </a:r>
            <a:r>
              <a:rPr sz="3200" spc="-35" dirty="0">
                <a:solidFill>
                  <a:srgbClr val="FF00FF"/>
                </a:solidFill>
                <a:latin typeface="Calibri"/>
                <a:cs typeface="Calibri"/>
              </a:rPr>
              <a:t> </a:t>
            </a:r>
            <a:r>
              <a:rPr sz="3200" spc="-10" dirty="0">
                <a:solidFill>
                  <a:srgbClr val="FF00FF"/>
                </a:solidFill>
                <a:latin typeface="Calibri"/>
                <a:cs typeface="Calibri"/>
              </a:rPr>
              <a:t>function</a:t>
            </a:r>
            <a:endParaRPr sz="3200" dirty="0">
              <a:latin typeface="Calibri"/>
              <a:cs typeface="Calibri"/>
            </a:endParaRPr>
          </a:p>
          <a:p>
            <a:pPr marL="724535" marR="1165225" indent="-712470">
              <a:lnSpc>
                <a:spcPct val="120000"/>
              </a:lnSpc>
              <a:buFont typeface="Wingdings"/>
              <a:buChar char=""/>
              <a:tabLst>
                <a:tab pos="748665" algn="l"/>
              </a:tabLst>
            </a:pPr>
            <a:r>
              <a:rPr sz="3200" dirty="0">
                <a:solidFill>
                  <a:srgbClr val="00AF50"/>
                </a:solidFill>
                <a:latin typeface="Calibri"/>
                <a:cs typeface="Calibri"/>
              </a:rPr>
              <a:t>It</a:t>
            </a:r>
            <a:r>
              <a:rPr sz="3200" spc="-55" dirty="0">
                <a:solidFill>
                  <a:srgbClr val="00AF50"/>
                </a:solidFill>
                <a:latin typeface="Calibri"/>
                <a:cs typeface="Calibri"/>
              </a:rPr>
              <a:t> </a:t>
            </a:r>
            <a:r>
              <a:rPr sz="3200" dirty="0">
                <a:solidFill>
                  <a:srgbClr val="00AF50"/>
                </a:solidFill>
                <a:latin typeface="Calibri"/>
                <a:cs typeface="Calibri"/>
              </a:rPr>
              <a:t>is</a:t>
            </a:r>
            <a:r>
              <a:rPr sz="3200" spc="-60" dirty="0">
                <a:solidFill>
                  <a:srgbClr val="00AF50"/>
                </a:solidFill>
                <a:latin typeface="Calibri"/>
                <a:cs typeface="Calibri"/>
              </a:rPr>
              <a:t> </a:t>
            </a:r>
            <a:r>
              <a:rPr sz="3200" dirty="0">
                <a:solidFill>
                  <a:srgbClr val="00AF50"/>
                </a:solidFill>
                <a:latin typeface="Calibri"/>
                <a:cs typeface="Calibri"/>
              </a:rPr>
              <a:t>a</a:t>
            </a:r>
            <a:r>
              <a:rPr sz="3200" spc="-40" dirty="0">
                <a:solidFill>
                  <a:srgbClr val="00AF50"/>
                </a:solidFill>
                <a:latin typeface="Calibri"/>
                <a:cs typeface="Calibri"/>
              </a:rPr>
              <a:t> </a:t>
            </a:r>
            <a:r>
              <a:rPr sz="3200" spc="-10" dirty="0">
                <a:solidFill>
                  <a:srgbClr val="00AF50"/>
                </a:solidFill>
                <a:latin typeface="Calibri"/>
                <a:cs typeface="Calibri"/>
              </a:rPr>
              <a:t>combination</a:t>
            </a:r>
            <a:r>
              <a:rPr sz="3200" spc="-25" dirty="0">
                <a:solidFill>
                  <a:srgbClr val="00AF50"/>
                </a:solidFill>
                <a:latin typeface="Calibri"/>
                <a:cs typeface="Calibri"/>
              </a:rPr>
              <a:t> </a:t>
            </a:r>
            <a:r>
              <a:rPr sz="3200" dirty="0">
                <a:solidFill>
                  <a:srgbClr val="00AF50"/>
                </a:solidFill>
                <a:latin typeface="Calibri"/>
                <a:cs typeface="Calibri"/>
              </a:rPr>
              <a:t>of</a:t>
            </a:r>
            <a:r>
              <a:rPr sz="3200" spc="-45" dirty="0">
                <a:solidFill>
                  <a:srgbClr val="00AF50"/>
                </a:solidFill>
                <a:latin typeface="Calibri"/>
                <a:cs typeface="Calibri"/>
              </a:rPr>
              <a:t> </a:t>
            </a:r>
            <a:r>
              <a:rPr sz="3200" u="sng" spc="-10" dirty="0">
                <a:solidFill>
                  <a:srgbClr val="00AF50"/>
                </a:solidFill>
                <a:uFill>
                  <a:solidFill>
                    <a:srgbClr val="00AF50"/>
                  </a:solidFill>
                </a:uFill>
                <a:latin typeface="Calibri"/>
                <a:cs typeface="Calibri"/>
              </a:rPr>
              <a:t>hardware</a:t>
            </a:r>
            <a:r>
              <a:rPr sz="3200" spc="-70" dirty="0">
                <a:solidFill>
                  <a:srgbClr val="00AF50"/>
                </a:solidFill>
                <a:latin typeface="Calibri"/>
                <a:cs typeface="Calibri"/>
              </a:rPr>
              <a:t> </a:t>
            </a:r>
            <a:r>
              <a:rPr sz="3200" spc="-25" dirty="0">
                <a:solidFill>
                  <a:srgbClr val="00AF50"/>
                </a:solidFill>
                <a:latin typeface="Calibri"/>
                <a:cs typeface="Calibri"/>
              </a:rPr>
              <a:t>and 	</a:t>
            </a:r>
            <a:r>
              <a:rPr sz="3200" u="sng" spc="-10" dirty="0">
                <a:solidFill>
                  <a:srgbClr val="00AF50"/>
                </a:solidFill>
                <a:uFill>
                  <a:solidFill>
                    <a:srgbClr val="00AF50"/>
                  </a:solidFill>
                </a:uFill>
                <a:latin typeface="Calibri"/>
                <a:cs typeface="Calibri"/>
              </a:rPr>
              <a:t>firmware(software)</a:t>
            </a:r>
            <a:endParaRPr sz="3200" dirty="0">
              <a:latin typeface="Calibri"/>
              <a:cs typeface="Calibri"/>
            </a:endParaRPr>
          </a:p>
          <a:p>
            <a:pPr marL="815975" marR="5080" indent="-803275">
              <a:lnSpc>
                <a:spcPct val="120000"/>
              </a:lnSpc>
              <a:buFont typeface="Wingdings"/>
              <a:buChar char=""/>
              <a:tabLst>
                <a:tab pos="842010" algn="l"/>
              </a:tabLst>
            </a:pPr>
            <a:r>
              <a:rPr sz="3200" dirty="0">
                <a:solidFill>
                  <a:srgbClr val="E36C09"/>
                </a:solidFill>
                <a:latin typeface="Calibri"/>
                <a:cs typeface="Calibri"/>
              </a:rPr>
              <a:t>Every</a:t>
            </a:r>
            <a:r>
              <a:rPr sz="3200" spc="-85" dirty="0">
                <a:solidFill>
                  <a:srgbClr val="E36C09"/>
                </a:solidFill>
                <a:latin typeface="Calibri"/>
                <a:cs typeface="Calibri"/>
              </a:rPr>
              <a:t> </a:t>
            </a:r>
            <a:r>
              <a:rPr sz="3200" dirty="0">
                <a:solidFill>
                  <a:srgbClr val="E36C09"/>
                </a:solidFill>
                <a:latin typeface="Calibri"/>
                <a:cs typeface="Calibri"/>
              </a:rPr>
              <a:t>embedded</a:t>
            </a:r>
            <a:r>
              <a:rPr sz="3200" spc="-80" dirty="0">
                <a:solidFill>
                  <a:srgbClr val="E36C09"/>
                </a:solidFill>
                <a:latin typeface="Calibri"/>
                <a:cs typeface="Calibri"/>
              </a:rPr>
              <a:t> </a:t>
            </a:r>
            <a:r>
              <a:rPr sz="3200" spc="-10" dirty="0">
                <a:solidFill>
                  <a:srgbClr val="E36C09"/>
                </a:solidFill>
                <a:latin typeface="Calibri"/>
                <a:cs typeface="Calibri"/>
              </a:rPr>
              <a:t>systems</a:t>
            </a:r>
            <a:r>
              <a:rPr sz="3200" spc="-90" dirty="0">
                <a:solidFill>
                  <a:srgbClr val="E36C09"/>
                </a:solidFill>
                <a:latin typeface="Calibri"/>
                <a:cs typeface="Calibri"/>
              </a:rPr>
              <a:t> </a:t>
            </a:r>
            <a:r>
              <a:rPr sz="3200" dirty="0">
                <a:solidFill>
                  <a:srgbClr val="E36C09"/>
                </a:solidFill>
                <a:latin typeface="Calibri"/>
                <a:cs typeface="Calibri"/>
              </a:rPr>
              <a:t>is</a:t>
            </a:r>
            <a:r>
              <a:rPr sz="3200" spc="-80" dirty="0">
                <a:solidFill>
                  <a:srgbClr val="E36C09"/>
                </a:solidFill>
                <a:latin typeface="Calibri"/>
                <a:cs typeface="Calibri"/>
              </a:rPr>
              <a:t> </a:t>
            </a:r>
            <a:r>
              <a:rPr sz="3200" dirty="0">
                <a:solidFill>
                  <a:srgbClr val="E36C09"/>
                </a:solidFill>
                <a:latin typeface="Calibri"/>
                <a:cs typeface="Calibri"/>
              </a:rPr>
              <a:t>unique,</a:t>
            </a:r>
            <a:r>
              <a:rPr sz="3200" spc="-60" dirty="0">
                <a:solidFill>
                  <a:srgbClr val="E36C09"/>
                </a:solidFill>
                <a:latin typeface="Calibri"/>
                <a:cs typeface="Calibri"/>
              </a:rPr>
              <a:t> </a:t>
            </a:r>
            <a:r>
              <a:rPr sz="3200" spc="-25" dirty="0">
                <a:solidFill>
                  <a:srgbClr val="E36C09"/>
                </a:solidFill>
                <a:latin typeface="Calibri"/>
                <a:cs typeface="Calibri"/>
              </a:rPr>
              <a:t>and 	</a:t>
            </a:r>
            <a:r>
              <a:rPr sz="3200" spc="-10" dirty="0">
                <a:solidFill>
                  <a:srgbClr val="E36C09"/>
                </a:solidFill>
                <a:latin typeface="Calibri"/>
                <a:cs typeface="Calibri"/>
              </a:rPr>
              <a:t>hardware</a:t>
            </a:r>
            <a:r>
              <a:rPr sz="3200" spc="-45" dirty="0">
                <a:solidFill>
                  <a:srgbClr val="E36C09"/>
                </a:solidFill>
                <a:latin typeface="Calibri"/>
                <a:cs typeface="Calibri"/>
              </a:rPr>
              <a:t> </a:t>
            </a:r>
            <a:r>
              <a:rPr sz="3200" dirty="0">
                <a:solidFill>
                  <a:srgbClr val="E36C09"/>
                </a:solidFill>
                <a:latin typeface="Calibri"/>
                <a:cs typeface="Calibri"/>
              </a:rPr>
              <a:t>as</a:t>
            </a:r>
            <a:r>
              <a:rPr sz="3200" spc="-40" dirty="0">
                <a:solidFill>
                  <a:srgbClr val="E36C09"/>
                </a:solidFill>
                <a:latin typeface="Calibri"/>
                <a:cs typeface="Calibri"/>
              </a:rPr>
              <a:t> </a:t>
            </a:r>
            <a:r>
              <a:rPr sz="3200" dirty="0">
                <a:solidFill>
                  <a:srgbClr val="E36C09"/>
                </a:solidFill>
                <a:latin typeface="Calibri"/>
                <a:cs typeface="Calibri"/>
              </a:rPr>
              <a:t>well</a:t>
            </a:r>
            <a:r>
              <a:rPr sz="3200" spc="-65" dirty="0">
                <a:solidFill>
                  <a:srgbClr val="E36C09"/>
                </a:solidFill>
                <a:latin typeface="Calibri"/>
                <a:cs typeface="Calibri"/>
              </a:rPr>
              <a:t> </a:t>
            </a:r>
            <a:r>
              <a:rPr sz="3200" dirty="0">
                <a:solidFill>
                  <a:srgbClr val="E36C09"/>
                </a:solidFill>
                <a:latin typeface="Calibri"/>
                <a:cs typeface="Calibri"/>
              </a:rPr>
              <a:t>as</a:t>
            </a:r>
            <a:r>
              <a:rPr sz="3200" spc="-40" dirty="0">
                <a:solidFill>
                  <a:srgbClr val="E36C09"/>
                </a:solidFill>
                <a:latin typeface="Calibri"/>
                <a:cs typeface="Calibri"/>
              </a:rPr>
              <a:t> </a:t>
            </a:r>
            <a:r>
              <a:rPr sz="3200" dirty="0">
                <a:solidFill>
                  <a:srgbClr val="E36C09"/>
                </a:solidFill>
                <a:latin typeface="Calibri"/>
                <a:cs typeface="Calibri"/>
              </a:rPr>
              <a:t>the</a:t>
            </a:r>
            <a:r>
              <a:rPr sz="3200" spc="-45" dirty="0">
                <a:solidFill>
                  <a:srgbClr val="E36C09"/>
                </a:solidFill>
                <a:latin typeface="Calibri"/>
                <a:cs typeface="Calibri"/>
              </a:rPr>
              <a:t> </a:t>
            </a:r>
            <a:r>
              <a:rPr sz="3200" dirty="0">
                <a:solidFill>
                  <a:srgbClr val="E36C09"/>
                </a:solidFill>
                <a:latin typeface="Calibri"/>
                <a:cs typeface="Calibri"/>
              </a:rPr>
              <a:t>firmware</a:t>
            </a:r>
            <a:r>
              <a:rPr sz="3200" spc="-40" dirty="0">
                <a:solidFill>
                  <a:srgbClr val="E36C09"/>
                </a:solidFill>
                <a:latin typeface="Calibri"/>
                <a:cs typeface="Calibri"/>
              </a:rPr>
              <a:t> </a:t>
            </a:r>
            <a:r>
              <a:rPr sz="3200" dirty="0">
                <a:solidFill>
                  <a:srgbClr val="E36C09"/>
                </a:solidFill>
                <a:latin typeface="Calibri"/>
                <a:cs typeface="Calibri"/>
              </a:rPr>
              <a:t>is</a:t>
            </a:r>
            <a:r>
              <a:rPr sz="3200" spc="-55" dirty="0">
                <a:solidFill>
                  <a:srgbClr val="E36C09"/>
                </a:solidFill>
                <a:latin typeface="Calibri"/>
                <a:cs typeface="Calibri"/>
              </a:rPr>
              <a:t> </a:t>
            </a:r>
            <a:r>
              <a:rPr sz="3200" spc="-10" dirty="0">
                <a:solidFill>
                  <a:srgbClr val="E36C09"/>
                </a:solidFill>
                <a:latin typeface="Calibri"/>
                <a:cs typeface="Calibri"/>
              </a:rPr>
              <a:t>highly 	</a:t>
            </a:r>
            <a:r>
              <a:rPr sz="3200" dirty="0">
                <a:solidFill>
                  <a:srgbClr val="E36C09"/>
                </a:solidFill>
                <a:latin typeface="Calibri"/>
                <a:cs typeface="Calibri"/>
              </a:rPr>
              <a:t>specialised</a:t>
            </a:r>
            <a:r>
              <a:rPr sz="3200" spc="-60" dirty="0">
                <a:solidFill>
                  <a:srgbClr val="E36C09"/>
                </a:solidFill>
                <a:latin typeface="Calibri"/>
                <a:cs typeface="Calibri"/>
              </a:rPr>
              <a:t> </a:t>
            </a:r>
            <a:r>
              <a:rPr sz="3200" dirty="0">
                <a:solidFill>
                  <a:srgbClr val="E36C09"/>
                </a:solidFill>
                <a:latin typeface="Calibri"/>
                <a:cs typeface="Calibri"/>
              </a:rPr>
              <a:t>to</a:t>
            </a:r>
            <a:r>
              <a:rPr sz="3200" spc="-55" dirty="0">
                <a:solidFill>
                  <a:srgbClr val="E36C09"/>
                </a:solidFill>
                <a:latin typeface="Calibri"/>
                <a:cs typeface="Calibri"/>
              </a:rPr>
              <a:t> </a:t>
            </a:r>
            <a:r>
              <a:rPr sz="3200" dirty="0">
                <a:solidFill>
                  <a:srgbClr val="E36C09"/>
                </a:solidFill>
                <a:latin typeface="Calibri"/>
                <a:cs typeface="Calibri"/>
              </a:rPr>
              <a:t>the</a:t>
            </a:r>
            <a:r>
              <a:rPr sz="3200" spc="-60" dirty="0">
                <a:solidFill>
                  <a:srgbClr val="E36C09"/>
                </a:solidFill>
                <a:latin typeface="Calibri"/>
                <a:cs typeface="Calibri"/>
              </a:rPr>
              <a:t> </a:t>
            </a:r>
            <a:r>
              <a:rPr sz="3200" spc="-10" dirty="0">
                <a:solidFill>
                  <a:srgbClr val="E36C09"/>
                </a:solidFill>
                <a:latin typeface="Calibri"/>
                <a:cs typeface="Calibri"/>
              </a:rPr>
              <a:t>application</a:t>
            </a:r>
            <a:r>
              <a:rPr sz="3200" spc="-35" dirty="0">
                <a:solidFill>
                  <a:srgbClr val="E36C09"/>
                </a:solidFill>
                <a:latin typeface="Calibri"/>
                <a:cs typeface="Calibri"/>
              </a:rPr>
              <a:t> </a:t>
            </a:r>
            <a:r>
              <a:rPr sz="3200" spc="-10" dirty="0">
                <a:solidFill>
                  <a:srgbClr val="E36C09"/>
                </a:solidFill>
                <a:latin typeface="Calibri"/>
                <a:cs typeface="Calibri"/>
              </a:rPr>
              <a:t>domain</a:t>
            </a:r>
            <a:endParaRPr sz="3200" dirty="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311605" y="132935"/>
            <a:ext cx="7530485" cy="1138132"/>
          </a:xfrm>
          <a:prstGeom prst="rect">
            <a:avLst/>
          </a:prstGeom>
          <a:ln w="9144">
            <a:solidFill>
              <a:srgbClr val="FF0000"/>
            </a:solidFill>
          </a:ln>
        </p:spPr>
        <p:txBody>
          <a:bodyPr vert="horz" wrap="square" lIns="0" tIns="273685" rIns="0" bIns="0" rtlCol="0" anchor="ctr">
            <a:spAutoFit/>
          </a:bodyPr>
          <a:lstStyle/>
          <a:p>
            <a:pPr marL="106680" algn="ctr">
              <a:lnSpc>
                <a:spcPct val="100000"/>
              </a:lnSpc>
              <a:spcBef>
                <a:spcPts val="2155"/>
              </a:spcBef>
            </a:pPr>
            <a:r>
              <a:rPr sz="2800" dirty="0">
                <a:solidFill>
                  <a:srgbClr val="FF00FF"/>
                </a:solidFill>
              </a:rPr>
              <a:t>EMBEDDED</a:t>
            </a:r>
            <a:r>
              <a:rPr sz="2800" spc="-120" dirty="0">
                <a:solidFill>
                  <a:srgbClr val="FF00FF"/>
                </a:solidFill>
              </a:rPr>
              <a:t> </a:t>
            </a:r>
            <a:r>
              <a:rPr sz="2800" dirty="0">
                <a:solidFill>
                  <a:srgbClr val="FF00FF"/>
                </a:solidFill>
              </a:rPr>
              <a:t>SYSTEMS</a:t>
            </a:r>
            <a:r>
              <a:rPr sz="2800" spc="-114" dirty="0">
                <a:solidFill>
                  <a:srgbClr val="FF00FF"/>
                </a:solidFill>
              </a:rPr>
              <a:t> </a:t>
            </a:r>
            <a:r>
              <a:rPr sz="2800" dirty="0"/>
              <a:t>(VS)</a:t>
            </a:r>
            <a:r>
              <a:rPr sz="2800" spc="-130" dirty="0"/>
              <a:t> </a:t>
            </a:r>
            <a:r>
              <a:rPr sz="2800" dirty="0">
                <a:solidFill>
                  <a:srgbClr val="00AF50"/>
                </a:solidFill>
              </a:rPr>
              <a:t>GENERAL</a:t>
            </a:r>
            <a:r>
              <a:rPr sz="2800" spc="-135" dirty="0">
                <a:solidFill>
                  <a:srgbClr val="00AF50"/>
                </a:solidFill>
              </a:rPr>
              <a:t> </a:t>
            </a:r>
            <a:r>
              <a:rPr sz="2800" dirty="0">
                <a:solidFill>
                  <a:srgbClr val="00AF50"/>
                </a:solidFill>
              </a:rPr>
              <a:t>COMPUTING</a:t>
            </a:r>
            <a:r>
              <a:rPr sz="2800" spc="-114" dirty="0">
                <a:solidFill>
                  <a:srgbClr val="00AF50"/>
                </a:solidFill>
              </a:rPr>
              <a:t> </a:t>
            </a:r>
            <a:r>
              <a:rPr sz="2800" spc="-10" dirty="0">
                <a:solidFill>
                  <a:srgbClr val="00AF50"/>
                </a:solidFill>
              </a:rPr>
              <a:t>SYSTEMS</a:t>
            </a:r>
            <a:endParaRPr sz="2800" dirty="0"/>
          </a:p>
        </p:txBody>
      </p:sp>
      <p:graphicFrame>
        <p:nvGraphicFramePr>
          <p:cNvPr id="4" name="object 4"/>
          <p:cNvGraphicFramePr>
            <a:graphicFrameLocks noGrp="1"/>
          </p:cNvGraphicFramePr>
          <p:nvPr/>
        </p:nvGraphicFramePr>
        <p:xfrm>
          <a:off x="1974850" y="1365250"/>
          <a:ext cx="8229600" cy="5333364"/>
        </p:xfrm>
        <a:graphic>
          <a:graphicData uri="http://schemas.openxmlformats.org/drawingml/2006/table">
            <a:tbl>
              <a:tblPr firstRow="1" bandRow="1">
                <a:tableStyleId>{2D5ABB26-0587-4C30-8999-92F81FD0307C}</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80059">
                <a:tc>
                  <a:txBody>
                    <a:bodyPr/>
                    <a:lstStyle/>
                    <a:p>
                      <a:pPr marL="91440">
                        <a:lnSpc>
                          <a:spcPct val="100000"/>
                        </a:lnSpc>
                        <a:spcBef>
                          <a:spcPts val="240"/>
                        </a:spcBef>
                      </a:pPr>
                      <a:r>
                        <a:rPr sz="1800" b="1" dirty="0">
                          <a:solidFill>
                            <a:srgbClr val="FFFFFF"/>
                          </a:solidFill>
                          <a:latin typeface="Calibri"/>
                          <a:cs typeface="Calibri"/>
                        </a:rPr>
                        <a:t>GENERAL</a:t>
                      </a:r>
                      <a:r>
                        <a:rPr sz="1800" b="1" spc="-40" dirty="0">
                          <a:solidFill>
                            <a:srgbClr val="FFFFFF"/>
                          </a:solidFill>
                          <a:latin typeface="Calibri"/>
                          <a:cs typeface="Calibri"/>
                        </a:rPr>
                        <a:t> </a:t>
                      </a:r>
                      <a:r>
                        <a:rPr sz="1800" b="1" dirty="0">
                          <a:solidFill>
                            <a:srgbClr val="FFFFFF"/>
                          </a:solidFill>
                          <a:latin typeface="Calibri"/>
                          <a:cs typeface="Calibri"/>
                        </a:rPr>
                        <a:t>PURPOSE</a:t>
                      </a:r>
                      <a:r>
                        <a:rPr sz="1800" b="1" spc="-45" dirty="0">
                          <a:solidFill>
                            <a:srgbClr val="FFFFFF"/>
                          </a:solidFill>
                          <a:latin typeface="Calibri"/>
                          <a:cs typeface="Calibri"/>
                        </a:rPr>
                        <a:t> </a:t>
                      </a:r>
                      <a:r>
                        <a:rPr sz="1800" b="1" dirty="0">
                          <a:solidFill>
                            <a:srgbClr val="FFFFFF"/>
                          </a:solidFill>
                          <a:latin typeface="Calibri"/>
                          <a:cs typeface="Calibri"/>
                        </a:rPr>
                        <a:t>COMPUTING</a:t>
                      </a:r>
                      <a:r>
                        <a:rPr sz="1800" b="1" spc="-20" dirty="0">
                          <a:solidFill>
                            <a:srgbClr val="FFFFFF"/>
                          </a:solidFill>
                          <a:latin typeface="Calibri"/>
                          <a:cs typeface="Calibri"/>
                        </a:rPr>
                        <a:t> </a:t>
                      </a:r>
                      <a:r>
                        <a:rPr sz="1800" b="1" spc="-10" dirty="0">
                          <a:solidFill>
                            <a:srgbClr val="FFFFFF"/>
                          </a:solidFill>
                          <a:latin typeface="Calibri"/>
                          <a:cs typeface="Calibri"/>
                        </a:rPr>
                        <a:t>SYSTEM</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tc>
                  <a:txBody>
                    <a:bodyPr/>
                    <a:lstStyle/>
                    <a:p>
                      <a:pPr marL="1035685">
                        <a:lnSpc>
                          <a:spcPct val="100000"/>
                        </a:lnSpc>
                        <a:spcBef>
                          <a:spcPts val="240"/>
                        </a:spcBef>
                      </a:pPr>
                      <a:r>
                        <a:rPr sz="1800" b="1" dirty="0">
                          <a:solidFill>
                            <a:srgbClr val="FFFFFF"/>
                          </a:solidFill>
                          <a:latin typeface="Calibri"/>
                          <a:cs typeface="Calibri"/>
                        </a:rPr>
                        <a:t>EMBEDDED</a:t>
                      </a:r>
                      <a:r>
                        <a:rPr sz="1800" b="1" spc="-45" dirty="0">
                          <a:solidFill>
                            <a:srgbClr val="FFFFFF"/>
                          </a:solidFill>
                          <a:latin typeface="Calibri"/>
                          <a:cs typeface="Calibri"/>
                        </a:rPr>
                        <a:t> </a:t>
                      </a:r>
                      <a:r>
                        <a:rPr sz="1800" b="1" spc="-10" dirty="0">
                          <a:solidFill>
                            <a:srgbClr val="FFFFFF"/>
                          </a:solidFill>
                          <a:latin typeface="Calibri"/>
                          <a:cs typeface="Calibri"/>
                        </a:rPr>
                        <a:t>SYSTEM</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C"/>
                    </a:solidFill>
                  </a:tcPr>
                </a:tc>
                <a:extLst>
                  <a:ext uri="{0D108BD9-81ED-4DB2-BD59-A6C34878D82A}">
                    <a16:rowId xmlns:a16="http://schemas.microsoft.com/office/drawing/2014/main" val="10000"/>
                  </a:ext>
                </a:extLst>
              </a:tr>
              <a:tr h="1183640">
                <a:tc>
                  <a:txBody>
                    <a:bodyPr/>
                    <a:lstStyle/>
                    <a:p>
                      <a:pPr marL="91440" marR="297815">
                        <a:lnSpc>
                          <a:spcPct val="100000"/>
                        </a:lnSpc>
                        <a:spcBef>
                          <a:spcPts val="240"/>
                        </a:spcBef>
                      </a:pPr>
                      <a:r>
                        <a:rPr sz="1800" dirty="0">
                          <a:latin typeface="Calibri"/>
                          <a:cs typeface="Calibri"/>
                        </a:rPr>
                        <a:t>It</a:t>
                      </a:r>
                      <a:r>
                        <a:rPr sz="1800" spc="-40" dirty="0">
                          <a:latin typeface="Calibri"/>
                          <a:cs typeface="Calibri"/>
                        </a:rPr>
                        <a:t> </a:t>
                      </a:r>
                      <a:r>
                        <a:rPr sz="1800" dirty="0">
                          <a:latin typeface="Calibri"/>
                          <a:cs typeface="Calibri"/>
                        </a:rPr>
                        <a:t>is</a:t>
                      </a:r>
                      <a:r>
                        <a:rPr sz="1800" spc="-35" dirty="0">
                          <a:latin typeface="Calibri"/>
                          <a:cs typeface="Calibri"/>
                        </a:rPr>
                        <a:t> </a:t>
                      </a:r>
                      <a:r>
                        <a:rPr sz="1800" dirty="0">
                          <a:latin typeface="Calibri"/>
                          <a:cs typeface="Calibri"/>
                        </a:rPr>
                        <a:t>a</a:t>
                      </a:r>
                      <a:r>
                        <a:rPr sz="1800" spc="-40" dirty="0">
                          <a:latin typeface="Calibri"/>
                          <a:cs typeface="Calibri"/>
                        </a:rPr>
                        <a:t> </a:t>
                      </a:r>
                      <a:r>
                        <a:rPr sz="1800" dirty="0">
                          <a:latin typeface="Calibri"/>
                          <a:cs typeface="Calibri"/>
                        </a:rPr>
                        <a:t>combination</a:t>
                      </a:r>
                      <a:r>
                        <a:rPr sz="1800" spc="-15" dirty="0">
                          <a:latin typeface="Calibri"/>
                          <a:cs typeface="Calibri"/>
                        </a:rPr>
                        <a:t> </a:t>
                      </a:r>
                      <a:r>
                        <a:rPr sz="1800" dirty="0">
                          <a:latin typeface="Calibri"/>
                          <a:cs typeface="Calibri"/>
                        </a:rPr>
                        <a:t>of</a:t>
                      </a:r>
                      <a:r>
                        <a:rPr sz="1800" spc="-40" dirty="0">
                          <a:latin typeface="Calibri"/>
                          <a:cs typeface="Calibri"/>
                        </a:rPr>
                        <a:t> </a:t>
                      </a:r>
                      <a:r>
                        <a:rPr sz="1800" dirty="0">
                          <a:latin typeface="Calibri"/>
                          <a:cs typeface="Calibri"/>
                        </a:rPr>
                        <a:t>generic</a:t>
                      </a:r>
                      <a:r>
                        <a:rPr sz="1800" spc="-30" dirty="0">
                          <a:latin typeface="Calibri"/>
                          <a:cs typeface="Calibri"/>
                        </a:rPr>
                        <a:t> </a:t>
                      </a:r>
                      <a:r>
                        <a:rPr sz="1800" spc="-10" dirty="0">
                          <a:latin typeface="Calibri"/>
                          <a:cs typeface="Calibri"/>
                        </a:rPr>
                        <a:t>hardware </a:t>
                      </a:r>
                      <a:r>
                        <a:rPr sz="1800" dirty="0">
                          <a:latin typeface="Calibri"/>
                          <a:cs typeface="Calibri"/>
                        </a:rPr>
                        <a:t>and</a:t>
                      </a:r>
                      <a:r>
                        <a:rPr sz="1800" spc="-30" dirty="0">
                          <a:latin typeface="Calibri"/>
                          <a:cs typeface="Calibri"/>
                        </a:rPr>
                        <a:t> </a:t>
                      </a:r>
                      <a:r>
                        <a:rPr sz="1800" dirty="0">
                          <a:latin typeface="Calibri"/>
                          <a:cs typeface="Calibri"/>
                        </a:rPr>
                        <a:t>a</a:t>
                      </a:r>
                      <a:r>
                        <a:rPr sz="1800" spc="-45" dirty="0">
                          <a:latin typeface="Calibri"/>
                          <a:cs typeface="Calibri"/>
                        </a:rPr>
                        <a:t> </a:t>
                      </a:r>
                      <a:r>
                        <a:rPr sz="1800" dirty="0">
                          <a:latin typeface="Calibri"/>
                          <a:cs typeface="Calibri"/>
                        </a:rPr>
                        <a:t>general</a:t>
                      </a:r>
                      <a:r>
                        <a:rPr sz="1800" spc="-45" dirty="0">
                          <a:latin typeface="Calibri"/>
                          <a:cs typeface="Calibri"/>
                        </a:rPr>
                        <a:t> </a:t>
                      </a:r>
                      <a:r>
                        <a:rPr sz="1800" dirty="0">
                          <a:latin typeface="Calibri"/>
                          <a:cs typeface="Calibri"/>
                        </a:rPr>
                        <a:t>purpose</a:t>
                      </a:r>
                      <a:r>
                        <a:rPr sz="1800" spc="-25" dirty="0">
                          <a:latin typeface="Calibri"/>
                          <a:cs typeface="Calibri"/>
                        </a:rPr>
                        <a:t> </a:t>
                      </a:r>
                      <a:r>
                        <a:rPr sz="1800" spc="-10" dirty="0">
                          <a:latin typeface="Calibri"/>
                          <a:cs typeface="Calibri"/>
                        </a:rPr>
                        <a:t>operating</a:t>
                      </a:r>
                      <a:r>
                        <a:rPr sz="1800" spc="-40" dirty="0">
                          <a:latin typeface="Calibri"/>
                          <a:cs typeface="Calibri"/>
                        </a:rPr>
                        <a:t> </a:t>
                      </a:r>
                      <a:r>
                        <a:rPr sz="1800" spc="-10" dirty="0">
                          <a:latin typeface="Calibri"/>
                          <a:cs typeface="Calibri"/>
                        </a:rPr>
                        <a:t>system </a:t>
                      </a:r>
                      <a:r>
                        <a:rPr sz="1800" dirty="0">
                          <a:latin typeface="Calibri"/>
                          <a:cs typeface="Calibri"/>
                        </a:rPr>
                        <a:t>for</a:t>
                      </a:r>
                      <a:r>
                        <a:rPr sz="1800" spc="-45" dirty="0">
                          <a:latin typeface="Calibri"/>
                          <a:cs typeface="Calibri"/>
                        </a:rPr>
                        <a:t> </a:t>
                      </a:r>
                      <a:r>
                        <a:rPr sz="1800" spc="-10" dirty="0">
                          <a:latin typeface="Calibri"/>
                          <a:cs typeface="Calibri"/>
                        </a:rPr>
                        <a:t>executing</a:t>
                      </a:r>
                      <a:r>
                        <a:rPr sz="1800" spc="-30" dirty="0">
                          <a:latin typeface="Calibri"/>
                          <a:cs typeface="Calibri"/>
                        </a:rPr>
                        <a:t> </a:t>
                      </a:r>
                      <a:r>
                        <a:rPr sz="1800" dirty="0">
                          <a:latin typeface="Calibri"/>
                          <a:cs typeface="Calibri"/>
                        </a:rPr>
                        <a:t>variety</a:t>
                      </a:r>
                      <a:r>
                        <a:rPr sz="1800" spc="-40" dirty="0">
                          <a:latin typeface="Calibri"/>
                          <a:cs typeface="Calibri"/>
                        </a:rPr>
                        <a:t> </a:t>
                      </a:r>
                      <a:r>
                        <a:rPr sz="1800" dirty="0">
                          <a:latin typeface="Calibri"/>
                          <a:cs typeface="Calibri"/>
                        </a:rPr>
                        <a:t>of</a:t>
                      </a:r>
                      <a:r>
                        <a:rPr sz="1800" spc="-35" dirty="0">
                          <a:latin typeface="Calibri"/>
                          <a:cs typeface="Calibri"/>
                        </a:rPr>
                        <a:t> </a:t>
                      </a:r>
                      <a:r>
                        <a:rPr sz="1800" spc="-10" dirty="0">
                          <a:latin typeface="Calibri"/>
                          <a:cs typeface="Calibri"/>
                        </a:rPr>
                        <a:t>applications.</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tc>
                  <a:txBody>
                    <a:bodyPr/>
                    <a:lstStyle/>
                    <a:p>
                      <a:pPr marL="92075" marR="95250">
                        <a:lnSpc>
                          <a:spcPct val="100000"/>
                        </a:lnSpc>
                        <a:spcBef>
                          <a:spcPts val="240"/>
                        </a:spcBef>
                      </a:pPr>
                      <a:r>
                        <a:rPr sz="1800" dirty="0">
                          <a:latin typeface="Calibri"/>
                          <a:cs typeface="Calibri"/>
                        </a:rPr>
                        <a:t>It</a:t>
                      </a:r>
                      <a:r>
                        <a:rPr sz="1800" spc="-45" dirty="0">
                          <a:latin typeface="Calibri"/>
                          <a:cs typeface="Calibri"/>
                        </a:rPr>
                        <a:t> </a:t>
                      </a:r>
                      <a:r>
                        <a:rPr sz="1800" dirty="0">
                          <a:latin typeface="Calibri"/>
                          <a:cs typeface="Calibri"/>
                        </a:rPr>
                        <a:t>is</a:t>
                      </a:r>
                      <a:r>
                        <a:rPr sz="1800" spc="-40" dirty="0">
                          <a:latin typeface="Calibri"/>
                          <a:cs typeface="Calibri"/>
                        </a:rPr>
                        <a:t> </a:t>
                      </a:r>
                      <a:r>
                        <a:rPr sz="1800" dirty="0">
                          <a:latin typeface="Calibri"/>
                          <a:cs typeface="Calibri"/>
                        </a:rPr>
                        <a:t>combination</a:t>
                      </a:r>
                      <a:r>
                        <a:rPr sz="1800" spc="-15" dirty="0">
                          <a:latin typeface="Calibri"/>
                          <a:cs typeface="Calibri"/>
                        </a:rPr>
                        <a:t> </a:t>
                      </a:r>
                      <a:r>
                        <a:rPr sz="1800" dirty="0">
                          <a:latin typeface="Calibri"/>
                          <a:cs typeface="Calibri"/>
                        </a:rPr>
                        <a:t>of</a:t>
                      </a:r>
                      <a:r>
                        <a:rPr sz="1800" spc="-40" dirty="0">
                          <a:latin typeface="Calibri"/>
                          <a:cs typeface="Calibri"/>
                        </a:rPr>
                        <a:t> </a:t>
                      </a:r>
                      <a:r>
                        <a:rPr sz="1800" dirty="0">
                          <a:latin typeface="Calibri"/>
                          <a:cs typeface="Calibri"/>
                        </a:rPr>
                        <a:t>special</a:t>
                      </a:r>
                      <a:r>
                        <a:rPr sz="1800" spc="-30" dirty="0">
                          <a:latin typeface="Calibri"/>
                          <a:cs typeface="Calibri"/>
                        </a:rPr>
                        <a:t> </a:t>
                      </a:r>
                      <a:r>
                        <a:rPr sz="1800" spc="-10" dirty="0">
                          <a:latin typeface="Calibri"/>
                          <a:cs typeface="Calibri"/>
                        </a:rPr>
                        <a:t>purpose hardware</a:t>
                      </a:r>
                      <a:r>
                        <a:rPr sz="1800" spc="-35" dirty="0">
                          <a:latin typeface="Calibri"/>
                          <a:cs typeface="Calibri"/>
                        </a:rPr>
                        <a:t> </a:t>
                      </a:r>
                      <a:r>
                        <a:rPr sz="1800" dirty="0">
                          <a:latin typeface="Calibri"/>
                          <a:cs typeface="Calibri"/>
                        </a:rPr>
                        <a:t>and</a:t>
                      </a:r>
                      <a:r>
                        <a:rPr sz="1800" spc="-30" dirty="0">
                          <a:latin typeface="Calibri"/>
                          <a:cs typeface="Calibri"/>
                        </a:rPr>
                        <a:t> </a:t>
                      </a:r>
                      <a:r>
                        <a:rPr sz="1800" dirty="0">
                          <a:latin typeface="Calibri"/>
                          <a:cs typeface="Calibri"/>
                        </a:rPr>
                        <a:t>embedded</a:t>
                      </a:r>
                      <a:r>
                        <a:rPr sz="1800" spc="-35" dirty="0">
                          <a:latin typeface="Calibri"/>
                          <a:cs typeface="Calibri"/>
                        </a:rPr>
                        <a:t> </a:t>
                      </a:r>
                      <a:r>
                        <a:rPr sz="1800" dirty="0">
                          <a:latin typeface="Calibri"/>
                          <a:cs typeface="Calibri"/>
                        </a:rPr>
                        <a:t>OS</a:t>
                      </a:r>
                      <a:r>
                        <a:rPr sz="1800" spc="-45" dirty="0">
                          <a:latin typeface="Calibri"/>
                          <a:cs typeface="Calibri"/>
                        </a:rPr>
                        <a:t> </a:t>
                      </a:r>
                      <a:r>
                        <a:rPr sz="1800" dirty="0">
                          <a:latin typeface="Calibri"/>
                          <a:cs typeface="Calibri"/>
                        </a:rPr>
                        <a:t>for</a:t>
                      </a:r>
                      <a:r>
                        <a:rPr sz="1800" spc="-45" dirty="0">
                          <a:latin typeface="Calibri"/>
                          <a:cs typeface="Calibri"/>
                        </a:rPr>
                        <a:t> </a:t>
                      </a:r>
                      <a:r>
                        <a:rPr sz="1800" spc="-10" dirty="0">
                          <a:latin typeface="Calibri"/>
                          <a:cs typeface="Calibri"/>
                        </a:rPr>
                        <a:t>executing </a:t>
                      </a:r>
                      <a:r>
                        <a:rPr sz="1800" dirty="0">
                          <a:latin typeface="Calibri"/>
                          <a:cs typeface="Calibri"/>
                        </a:rPr>
                        <a:t>specific</a:t>
                      </a:r>
                      <a:r>
                        <a:rPr sz="1800" spc="-15" dirty="0">
                          <a:latin typeface="Calibri"/>
                          <a:cs typeface="Calibri"/>
                        </a:rPr>
                        <a:t> </a:t>
                      </a:r>
                      <a:r>
                        <a:rPr sz="1800" dirty="0">
                          <a:latin typeface="Calibri"/>
                          <a:cs typeface="Calibri"/>
                        </a:rPr>
                        <a:t>set</a:t>
                      </a:r>
                      <a:r>
                        <a:rPr sz="1800" spc="355" dirty="0">
                          <a:latin typeface="Calibri"/>
                          <a:cs typeface="Calibri"/>
                        </a:rPr>
                        <a:t> </a:t>
                      </a:r>
                      <a:r>
                        <a:rPr sz="1800" dirty="0">
                          <a:latin typeface="Calibri"/>
                          <a:cs typeface="Calibri"/>
                        </a:rPr>
                        <a:t>of</a:t>
                      </a:r>
                      <a:r>
                        <a:rPr sz="1800" spc="-25" dirty="0">
                          <a:latin typeface="Calibri"/>
                          <a:cs typeface="Calibri"/>
                        </a:rPr>
                        <a:t> </a:t>
                      </a:r>
                      <a:r>
                        <a:rPr sz="1800" spc="-10" dirty="0">
                          <a:latin typeface="Calibri"/>
                          <a:cs typeface="Calibri"/>
                        </a:rPr>
                        <a:t>applications.</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1"/>
                  </a:ext>
                </a:extLst>
              </a:tr>
              <a:tr h="828675">
                <a:tc>
                  <a:txBody>
                    <a:bodyPr/>
                    <a:lstStyle/>
                    <a:p>
                      <a:pPr marL="142875">
                        <a:lnSpc>
                          <a:spcPct val="100000"/>
                        </a:lnSpc>
                        <a:spcBef>
                          <a:spcPts val="240"/>
                        </a:spcBef>
                      </a:pPr>
                      <a:r>
                        <a:rPr sz="1800" dirty="0">
                          <a:latin typeface="Calibri"/>
                          <a:cs typeface="Calibri"/>
                        </a:rPr>
                        <a:t>Contains</a:t>
                      </a:r>
                      <a:r>
                        <a:rPr sz="1800" spc="-45" dirty="0">
                          <a:latin typeface="Calibri"/>
                          <a:cs typeface="Calibri"/>
                        </a:rPr>
                        <a:t> </a:t>
                      </a:r>
                      <a:r>
                        <a:rPr sz="1800" dirty="0">
                          <a:latin typeface="Calibri"/>
                          <a:cs typeface="Calibri"/>
                        </a:rPr>
                        <a:t>a</a:t>
                      </a:r>
                      <a:r>
                        <a:rPr sz="1800" spc="-60" dirty="0">
                          <a:latin typeface="Calibri"/>
                          <a:cs typeface="Calibri"/>
                        </a:rPr>
                        <a:t> </a:t>
                      </a:r>
                      <a:r>
                        <a:rPr sz="1800" dirty="0">
                          <a:latin typeface="Calibri"/>
                          <a:cs typeface="Calibri"/>
                        </a:rPr>
                        <a:t>General</a:t>
                      </a:r>
                      <a:r>
                        <a:rPr sz="1800" spc="-55" dirty="0">
                          <a:latin typeface="Calibri"/>
                          <a:cs typeface="Calibri"/>
                        </a:rPr>
                        <a:t> </a:t>
                      </a:r>
                      <a:r>
                        <a:rPr sz="1800" dirty="0">
                          <a:latin typeface="Calibri"/>
                          <a:cs typeface="Calibri"/>
                        </a:rPr>
                        <a:t>Purpose</a:t>
                      </a:r>
                      <a:r>
                        <a:rPr sz="1800" spc="-60" dirty="0">
                          <a:latin typeface="Calibri"/>
                          <a:cs typeface="Calibri"/>
                        </a:rPr>
                        <a:t> </a:t>
                      </a:r>
                      <a:r>
                        <a:rPr sz="1800" spc="-10" dirty="0">
                          <a:latin typeface="Calibri"/>
                          <a:cs typeface="Calibri"/>
                        </a:rPr>
                        <a:t>Operating</a:t>
                      </a:r>
                      <a:endParaRPr sz="1800">
                        <a:latin typeface="Calibri"/>
                        <a:cs typeface="Calibri"/>
                      </a:endParaRPr>
                    </a:p>
                    <a:p>
                      <a:pPr marL="91440">
                        <a:lnSpc>
                          <a:spcPct val="100000"/>
                        </a:lnSpc>
                        <a:spcBef>
                          <a:spcPts val="5"/>
                        </a:spcBef>
                      </a:pPr>
                      <a:r>
                        <a:rPr sz="1800" spc="-10" dirty="0">
                          <a:latin typeface="Calibri"/>
                          <a:cs typeface="Calibri"/>
                        </a:rPr>
                        <a:t>Systems(GPOS)</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a:lnSpc>
                          <a:spcPct val="100000"/>
                        </a:lnSpc>
                        <a:spcBef>
                          <a:spcPts val="240"/>
                        </a:spcBef>
                      </a:pPr>
                      <a:r>
                        <a:rPr sz="1800" dirty="0">
                          <a:latin typeface="Calibri"/>
                          <a:cs typeface="Calibri"/>
                        </a:rPr>
                        <a:t>May</a:t>
                      </a:r>
                      <a:r>
                        <a:rPr sz="1800" spc="-35" dirty="0">
                          <a:latin typeface="Calibri"/>
                          <a:cs typeface="Calibri"/>
                        </a:rPr>
                        <a:t> </a:t>
                      </a:r>
                      <a:r>
                        <a:rPr sz="1800" dirty="0">
                          <a:latin typeface="Calibri"/>
                          <a:cs typeface="Calibri"/>
                        </a:rPr>
                        <a:t>or</a:t>
                      </a:r>
                      <a:r>
                        <a:rPr sz="1800" spc="-30" dirty="0">
                          <a:latin typeface="Calibri"/>
                          <a:cs typeface="Calibri"/>
                        </a:rPr>
                        <a:t> </a:t>
                      </a:r>
                      <a:r>
                        <a:rPr sz="1800" dirty="0">
                          <a:latin typeface="Calibri"/>
                          <a:cs typeface="Calibri"/>
                        </a:rPr>
                        <a:t>may</a:t>
                      </a:r>
                      <a:r>
                        <a:rPr sz="1800" spc="-30" dirty="0">
                          <a:latin typeface="Calibri"/>
                          <a:cs typeface="Calibri"/>
                        </a:rPr>
                        <a:t> </a:t>
                      </a:r>
                      <a:r>
                        <a:rPr sz="1800" dirty="0">
                          <a:latin typeface="Calibri"/>
                          <a:cs typeface="Calibri"/>
                        </a:rPr>
                        <a:t>not</a:t>
                      </a:r>
                      <a:r>
                        <a:rPr sz="1800" spc="-30" dirty="0">
                          <a:latin typeface="Calibri"/>
                          <a:cs typeface="Calibri"/>
                        </a:rPr>
                        <a:t> </a:t>
                      </a:r>
                      <a:r>
                        <a:rPr sz="1800" dirty="0">
                          <a:latin typeface="Calibri"/>
                          <a:cs typeface="Calibri"/>
                        </a:rPr>
                        <a:t>contain</a:t>
                      </a:r>
                      <a:r>
                        <a:rPr sz="1800" spc="-15" dirty="0">
                          <a:latin typeface="Calibri"/>
                          <a:cs typeface="Calibri"/>
                        </a:rPr>
                        <a:t> </a:t>
                      </a:r>
                      <a:r>
                        <a:rPr sz="1800" dirty="0">
                          <a:latin typeface="Calibri"/>
                          <a:cs typeface="Calibri"/>
                        </a:rPr>
                        <a:t>an</a:t>
                      </a:r>
                      <a:r>
                        <a:rPr sz="1800" spc="-35" dirty="0">
                          <a:latin typeface="Calibri"/>
                          <a:cs typeface="Calibri"/>
                        </a:rPr>
                        <a:t> </a:t>
                      </a:r>
                      <a:r>
                        <a:rPr sz="1800" dirty="0">
                          <a:latin typeface="Calibri"/>
                          <a:cs typeface="Calibri"/>
                        </a:rPr>
                        <a:t>OS</a:t>
                      </a:r>
                      <a:r>
                        <a:rPr sz="1800" spc="-35" dirty="0">
                          <a:latin typeface="Calibri"/>
                          <a:cs typeface="Calibri"/>
                        </a:rPr>
                        <a:t> </a:t>
                      </a:r>
                      <a:r>
                        <a:rPr sz="1800" spc="-25" dirty="0">
                          <a:latin typeface="Calibri"/>
                          <a:cs typeface="Calibri"/>
                        </a:rPr>
                        <a:t>for</a:t>
                      </a:r>
                      <a:endParaRPr sz="1800">
                        <a:latin typeface="Calibri"/>
                        <a:cs typeface="Calibri"/>
                      </a:endParaRPr>
                    </a:p>
                    <a:p>
                      <a:pPr marL="92075">
                        <a:lnSpc>
                          <a:spcPct val="100000"/>
                        </a:lnSpc>
                        <a:spcBef>
                          <a:spcPts val="5"/>
                        </a:spcBef>
                      </a:pPr>
                      <a:r>
                        <a:rPr sz="1800" spc="-10" dirty="0">
                          <a:latin typeface="Calibri"/>
                          <a:cs typeface="Calibri"/>
                        </a:rPr>
                        <a:t>functioning</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2"/>
                  </a:ext>
                </a:extLst>
              </a:tr>
              <a:tr h="1183640">
                <a:tc>
                  <a:txBody>
                    <a:bodyPr/>
                    <a:lstStyle/>
                    <a:p>
                      <a:pPr marL="91440" marR="1378585" indent="51435">
                        <a:lnSpc>
                          <a:spcPct val="100000"/>
                        </a:lnSpc>
                        <a:spcBef>
                          <a:spcPts val="245"/>
                        </a:spcBef>
                      </a:pPr>
                      <a:r>
                        <a:rPr sz="1800" spc="-10" dirty="0">
                          <a:latin typeface="Calibri"/>
                          <a:cs typeface="Calibri"/>
                        </a:rPr>
                        <a:t>Applications</a:t>
                      </a:r>
                      <a:r>
                        <a:rPr sz="1800" spc="-20" dirty="0">
                          <a:latin typeface="Calibri"/>
                          <a:cs typeface="Calibri"/>
                        </a:rPr>
                        <a:t> </a:t>
                      </a:r>
                      <a:r>
                        <a:rPr sz="1800" dirty="0">
                          <a:latin typeface="Calibri"/>
                          <a:cs typeface="Calibri"/>
                        </a:rPr>
                        <a:t>are</a:t>
                      </a:r>
                      <a:r>
                        <a:rPr sz="1800" spc="-20" dirty="0">
                          <a:latin typeface="Calibri"/>
                          <a:cs typeface="Calibri"/>
                        </a:rPr>
                        <a:t> </a:t>
                      </a:r>
                      <a:r>
                        <a:rPr sz="1800" spc="-10" dirty="0">
                          <a:latin typeface="Calibri"/>
                          <a:cs typeface="Calibri"/>
                        </a:rPr>
                        <a:t>alterable (Programmable)</a:t>
                      </a:r>
                      <a:r>
                        <a:rPr sz="1800" spc="-5" dirty="0">
                          <a:latin typeface="Calibri"/>
                          <a:cs typeface="Calibri"/>
                        </a:rPr>
                        <a:t> </a:t>
                      </a:r>
                      <a:r>
                        <a:rPr sz="1800" dirty="0">
                          <a:latin typeface="Calibri"/>
                          <a:cs typeface="Calibri"/>
                        </a:rPr>
                        <a:t>by</a:t>
                      </a:r>
                      <a:r>
                        <a:rPr sz="1800" spc="-15" dirty="0">
                          <a:latin typeface="Calibri"/>
                          <a:cs typeface="Calibri"/>
                        </a:rPr>
                        <a:t> </a:t>
                      </a:r>
                      <a:r>
                        <a:rPr sz="1800" dirty="0">
                          <a:latin typeface="Calibri"/>
                          <a:cs typeface="Calibri"/>
                        </a:rPr>
                        <a:t>the</a:t>
                      </a:r>
                      <a:r>
                        <a:rPr sz="1800" spc="-5" dirty="0">
                          <a:latin typeface="Calibri"/>
                          <a:cs typeface="Calibri"/>
                        </a:rPr>
                        <a:t> </a:t>
                      </a:r>
                      <a:r>
                        <a:rPr sz="1800" spc="-35" dirty="0">
                          <a:latin typeface="Calibri"/>
                          <a:cs typeface="Calibri"/>
                        </a:rPr>
                        <a:t>user.</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marR="446405">
                        <a:lnSpc>
                          <a:spcPct val="100000"/>
                        </a:lnSpc>
                        <a:spcBef>
                          <a:spcPts val="245"/>
                        </a:spcBef>
                      </a:pPr>
                      <a:r>
                        <a:rPr sz="1800" dirty="0">
                          <a:latin typeface="Calibri"/>
                          <a:cs typeface="Calibri"/>
                        </a:rPr>
                        <a:t>The</a:t>
                      </a:r>
                      <a:r>
                        <a:rPr sz="1800" spc="-35" dirty="0">
                          <a:latin typeface="Calibri"/>
                          <a:cs typeface="Calibri"/>
                        </a:rPr>
                        <a:t> </a:t>
                      </a:r>
                      <a:r>
                        <a:rPr sz="1800" dirty="0">
                          <a:latin typeface="Calibri"/>
                          <a:cs typeface="Calibri"/>
                        </a:rPr>
                        <a:t>firmware</a:t>
                      </a:r>
                      <a:r>
                        <a:rPr sz="1800" spc="-15" dirty="0">
                          <a:latin typeface="Calibri"/>
                          <a:cs typeface="Calibri"/>
                        </a:rPr>
                        <a:t> </a:t>
                      </a:r>
                      <a:r>
                        <a:rPr sz="1800" dirty="0">
                          <a:latin typeface="Calibri"/>
                          <a:cs typeface="Calibri"/>
                        </a:rPr>
                        <a:t>of</a:t>
                      </a:r>
                      <a:r>
                        <a:rPr sz="1800" spc="-25" dirty="0">
                          <a:latin typeface="Calibri"/>
                          <a:cs typeface="Calibri"/>
                        </a:rPr>
                        <a:t> </a:t>
                      </a:r>
                      <a:r>
                        <a:rPr sz="1800" dirty="0">
                          <a:latin typeface="Calibri"/>
                          <a:cs typeface="Calibri"/>
                        </a:rPr>
                        <a:t>the</a:t>
                      </a:r>
                      <a:r>
                        <a:rPr sz="1800" spc="-30" dirty="0">
                          <a:latin typeface="Calibri"/>
                          <a:cs typeface="Calibri"/>
                        </a:rPr>
                        <a:t> </a:t>
                      </a:r>
                      <a:r>
                        <a:rPr sz="1800" dirty="0">
                          <a:latin typeface="Calibri"/>
                          <a:cs typeface="Calibri"/>
                        </a:rPr>
                        <a:t>ES</a:t>
                      </a:r>
                      <a:r>
                        <a:rPr sz="1800" spc="-35" dirty="0">
                          <a:latin typeface="Calibri"/>
                          <a:cs typeface="Calibri"/>
                        </a:rPr>
                        <a:t> </a:t>
                      </a:r>
                      <a:r>
                        <a:rPr sz="1800" dirty="0">
                          <a:latin typeface="Calibri"/>
                          <a:cs typeface="Calibri"/>
                        </a:rPr>
                        <a:t>is</a:t>
                      </a:r>
                      <a:r>
                        <a:rPr sz="1800" spc="-35" dirty="0">
                          <a:latin typeface="Calibri"/>
                          <a:cs typeface="Calibri"/>
                        </a:rPr>
                        <a:t> </a:t>
                      </a:r>
                      <a:r>
                        <a:rPr sz="1800" spc="-20" dirty="0">
                          <a:latin typeface="Calibri"/>
                          <a:cs typeface="Calibri"/>
                        </a:rPr>
                        <a:t>pre- </a:t>
                      </a:r>
                      <a:r>
                        <a:rPr sz="1800" spc="-10" dirty="0">
                          <a:latin typeface="Calibri"/>
                          <a:cs typeface="Calibri"/>
                        </a:rPr>
                        <a:t>programmed</a:t>
                      </a:r>
                      <a:r>
                        <a:rPr sz="1800" spc="-45" dirty="0">
                          <a:latin typeface="Calibri"/>
                          <a:cs typeface="Calibri"/>
                        </a:rPr>
                        <a:t> </a:t>
                      </a:r>
                      <a:r>
                        <a:rPr sz="1800" dirty="0">
                          <a:latin typeface="Calibri"/>
                          <a:cs typeface="Calibri"/>
                        </a:rPr>
                        <a:t>and</a:t>
                      </a:r>
                      <a:r>
                        <a:rPr sz="1800" spc="-45" dirty="0">
                          <a:latin typeface="Calibri"/>
                          <a:cs typeface="Calibri"/>
                        </a:rPr>
                        <a:t> </a:t>
                      </a:r>
                      <a:r>
                        <a:rPr sz="1800" dirty="0">
                          <a:latin typeface="Calibri"/>
                          <a:cs typeface="Calibri"/>
                        </a:rPr>
                        <a:t>it</a:t>
                      </a:r>
                      <a:r>
                        <a:rPr sz="1800" spc="-40" dirty="0">
                          <a:latin typeface="Calibri"/>
                          <a:cs typeface="Calibri"/>
                        </a:rPr>
                        <a:t> </a:t>
                      </a:r>
                      <a:r>
                        <a:rPr sz="1800" dirty="0">
                          <a:latin typeface="Calibri"/>
                          <a:cs typeface="Calibri"/>
                        </a:rPr>
                        <a:t>is</a:t>
                      </a:r>
                      <a:r>
                        <a:rPr sz="1800" spc="-40" dirty="0">
                          <a:latin typeface="Calibri"/>
                          <a:cs typeface="Calibri"/>
                        </a:rPr>
                        <a:t> </a:t>
                      </a:r>
                      <a:r>
                        <a:rPr sz="1800" spc="-10" dirty="0">
                          <a:latin typeface="Calibri"/>
                          <a:cs typeface="Calibri"/>
                        </a:rPr>
                        <a:t>non-</a:t>
                      </a:r>
                      <a:r>
                        <a:rPr sz="1800" dirty="0">
                          <a:latin typeface="Calibri"/>
                          <a:cs typeface="Calibri"/>
                        </a:rPr>
                        <a:t>alterable</a:t>
                      </a:r>
                      <a:r>
                        <a:rPr sz="1800" spc="-15" dirty="0">
                          <a:latin typeface="Calibri"/>
                          <a:cs typeface="Calibri"/>
                        </a:rPr>
                        <a:t> </a:t>
                      </a:r>
                      <a:r>
                        <a:rPr sz="1800" spc="-25" dirty="0">
                          <a:latin typeface="Calibri"/>
                          <a:cs typeface="Calibri"/>
                        </a:rPr>
                        <a:t>by </a:t>
                      </a:r>
                      <a:r>
                        <a:rPr sz="1800" dirty="0">
                          <a:latin typeface="Calibri"/>
                          <a:cs typeface="Calibri"/>
                        </a:rPr>
                        <a:t>the</a:t>
                      </a:r>
                      <a:r>
                        <a:rPr sz="1800" spc="-15" dirty="0">
                          <a:latin typeface="Calibri"/>
                          <a:cs typeface="Calibri"/>
                        </a:rPr>
                        <a:t> </a:t>
                      </a:r>
                      <a:r>
                        <a:rPr sz="1800" dirty="0">
                          <a:latin typeface="Calibri"/>
                          <a:cs typeface="Calibri"/>
                        </a:rPr>
                        <a:t>end</a:t>
                      </a:r>
                      <a:r>
                        <a:rPr sz="1800" spc="-35" dirty="0">
                          <a:latin typeface="Calibri"/>
                          <a:cs typeface="Calibri"/>
                        </a:rPr>
                        <a:t> </a:t>
                      </a:r>
                      <a:r>
                        <a:rPr sz="1800" spc="-20" dirty="0">
                          <a:latin typeface="Calibri"/>
                          <a:cs typeface="Calibri"/>
                        </a:rPr>
                        <a:t>user.</a:t>
                      </a:r>
                      <a:endParaRPr sz="1800">
                        <a:latin typeface="Calibri"/>
                        <a:cs typeface="Calibri"/>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3"/>
                  </a:ext>
                </a:extLst>
              </a:tr>
              <a:tr h="828675">
                <a:tc>
                  <a:txBody>
                    <a:bodyPr/>
                    <a:lstStyle/>
                    <a:p>
                      <a:pPr marL="91440" marR="237490">
                        <a:lnSpc>
                          <a:spcPct val="100000"/>
                        </a:lnSpc>
                        <a:spcBef>
                          <a:spcPts val="250"/>
                        </a:spcBef>
                      </a:pPr>
                      <a:r>
                        <a:rPr sz="1800" spc="-10" dirty="0">
                          <a:latin typeface="Calibri"/>
                          <a:cs typeface="Calibri"/>
                        </a:rPr>
                        <a:t>Performance</a:t>
                      </a:r>
                      <a:r>
                        <a:rPr sz="1800" spc="-45" dirty="0">
                          <a:latin typeface="Calibri"/>
                          <a:cs typeface="Calibri"/>
                        </a:rPr>
                        <a:t> </a:t>
                      </a:r>
                      <a:r>
                        <a:rPr sz="1800" dirty="0">
                          <a:latin typeface="Calibri"/>
                          <a:cs typeface="Calibri"/>
                        </a:rPr>
                        <a:t>is</a:t>
                      </a:r>
                      <a:r>
                        <a:rPr sz="1800" spc="-50" dirty="0">
                          <a:latin typeface="Calibri"/>
                          <a:cs typeface="Calibri"/>
                        </a:rPr>
                        <a:t> </a:t>
                      </a:r>
                      <a:r>
                        <a:rPr sz="1800" dirty="0">
                          <a:latin typeface="Calibri"/>
                          <a:cs typeface="Calibri"/>
                        </a:rPr>
                        <a:t>the</a:t>
                      </a:r>
                      <a:r>
                        <a:rPr sz="1800" spc="-45" dirty="0">
                          <a:latin typeface="Calibri"/>
                          <a:cs typeface="Calibri"/>
                        </a:rPr>
                        <a:t> </a:t>
                      </a:r>
                      <a:r>
                        <a:rPr sz="1800" dirty="0">
                          <a:latin typeface="Calibri"/>
                          <a:cs typeface="Calibri"/>
                        </a:rPr>
                        <a:t>key</a:t>
                      </a:r>
                      <a:r>
                        <a:rPr sz="1800" spc="-50" dirty="0">
                          <a:latin typeface="Calibri"/>
                          <a:cs typeface="Calibri"/>
                        </a:rPr>
                        <a:t> </a:t>
                      </a:r>
                      <a:r>
                        <a:rPr sz="1800" dirty="0">
                          <a:latin typeface="Calibri"/>
                          <a:cs typeface="Calibri"/>
                        </a:rPr>
                        <a:t>deciding</a:t>
                      </a:r>
                      <a:r>
                        <a:rPr sz="1800" spc="-30" dirty="0">
                          <a:latin typeface="Calibri"/>
                          <a:cs typeface="Calibri"/>
                        </a:rPr>
                        <a:t> </a:t>
                      </a:r>
                      <a:r>
                        <a:rPr sz="1800" dirty="0">
                          <a:latin typeface="Calibri"/>
                          <a:cs typeface="Calibri"/>
                        </a:rPr>
                        <a:t>factor</a:t>
                      </a:r>
                      <a:r>
                        <a:rPr sz="1800" spc="-45" dirty="0">
                          <a:latin typeface="Calibri"/>
                          <a:cs typeface="Calibri"/>
                        </a:rPr>
                        <a:t> </a:t>
                      </a:r>
                      <a:r>
                        <a:rPr sz="1800" spc="-25" dirty="0">
                          <a:latin typeface="Calibri"/>
                          <a:cs typeface="Calibri"/>
                        </a:rPr>
                        <a:t>in </a:t>
                      </a:r>
                      <a:r>
                        <a:rPr sz="1800" dirty="0">
                          <a:latin typeface="Calibri"/>
                          <a:cs typeface="Calibri"/>
                        </a:rPr>
                        <a:t>the</a:t>
                      </a:r>
                      <a:r>
                        <a:rPr sz="1800" spc="-25" dirty="0">
                          <a:latin typeface="Calibri"/>
                          <a:cs typeface="Calibri"/>
                        </a:rPr>
                        <a:t> </a:t>
                      </a:r>
                      <a:r>
                        <a:rPr sz="1800" dirty="0">
                          <a:latin typeface="Calibri"/>
                          <a:cs typeface="Calibri"/>
                        </a:rPr>
                        <a:t>selection</a:t>
                      </a:r>
                      <a:r>
                        <a:rPr sz="1800" spc="-25" dirty="0">
                          <a:latin typeface="Calibri"/>
                          <a:cs typeface="Calibri"/>
                        </a:rPr>
                        <a:t> </a:t>
                      </a:r>
                      <a:r>
                        <a:rPr sz="1800" dirty="0">
                          <a:latin typeface="Calibri"/>
                          <a:cs typeface="Calibri"/>
                        </a:rPr>
                        <a:t>of</a:t>
                      </a:r>
                      <a:r>
                        <a:rPr sz="1800" spc="-40" dirty="0">
                          <a:latin typeface="Calibri"/>
                          <a:cs typeface="Calibri"/>
                        </a:rPr>
                        <a:t> </a:t>
                      </a:r>
                      <a:r>
                        <a:rPr sz="1800" dirty="0">
                          <a:latin typeface="Calibri"/>
                          <a:cs typeface="Calibri"/>
                        </a:rPr>
                        <a:t>the</a:t>
                      </a:r>
                      <a:r>
                        <a:rPr sz="1800" spc="-25" dirty="0">
                          <a:latin typeface="Calibri"/>
                          <a:cs typeface="Calibri"/>
                        </a:rPr>
                        <a:t> </a:t>
                      </a:r>
                      <a:r>
                        <a:rPr sz="1800" spc="-10" dirty="0">
                          <a:latin typeface="Calibri"/>
                          <a:cs typeface="Calibri"/>
                        </a:rPr>
                        <a:t>system</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tc>
                  <a:txBody>
                    <a:bodyPr/>
                    <a:lstStyle/>
                    <a:p>
                      <a:pPr marL="92075" marR="414655">
                        <a:lnSpc>
                          <a:spcPct val="100000"/>
                        </a:lnSpc>
                        <a:spcBef>
                          <a:spcPts val="250"/>
                        </a:spcBef>
                      </a:pPr>
                      <a:r>
                        <a:rPr sz="1800" spc="-20" dirty="0">
                          <a:latin typeface="Calibri"/>
                          <a:cs typeface="Calibri"/>
                        </a:rPr>
                        <a:t>Application-</a:t>
                      </a:r>
                      <a:r>
                        <a:rPr sz="1800" dirty="0">
                          <a:latin typeface="Calibri"/>
                          <a:cs typeface="Calibri"/>
                        </a:rPr>
                        <a:t>specific</a:t>
                      </a:r>
                      <a:r>
                        <a:rPr sz="1800" spc="15" dirty="0">
                          <a:latin typeface="Calibri"/>
                          <a:cs typeface="Calibri"/>
                        </a:rPr>
                        <a:t> </a:t>
                      </a:r>
                      <a:r>
                        <a:rPr sz="1800" spc="-10" dirty="0">
                          <a:latin typeface="Calibri"/>
                          <a:cs typeface="Calibri"/>
                        </a:rPr>
                        <a:t>requirements(</a:t>
                      </a:r>
                      <a:r>
                        <a:rPr sz="1800" spc="20" dirty="0">
                          <a:latin typeface="Calibri"/>
                          <a:cs typeface="Calibri"/>
                        </a:rPr>
                        <a:t> </a:t>
                      </a:r>
                      <a:r>
                        <a:rPr sz="1800" spc="-20" dirty="0">
                          <a:latin typeface="Calibri"/>
                          <a:cs typeface="Calibri"/>
                        </a:rPr>
                        <a:t>Like </a:t>
                      </a:r>
                      <a:r>
                        <a:rPr sz="1800" spc="-10" dirty="0">
                          <a:latin typeface="Calibri"/>
                          <a:cs typeface="Calibri"/>
                        </a:rPr>
                        <a:t>performance </a:t>
                      </a:r>
                      <a:r>
                        <a:rPr sz="1800" spc="-20" dirty="0">
                          <a:latin typeface="Calibri"/>
                          <a:cs typeface="Calibri"/>
                        </a:rPr>
                        <a:t>,power,memory</a:t>
                      </a:r>
                      <a:r>
                        <a:rPr sz="1800" spc="15" dirty="0">
                          <a:latin typeface="Calibri"/>
                          <a:cs typeface="Calibri"/>
                        </a:rPr>
                        <a:t> </a:t>
                      </a:r>
                      <a:r>
                        <a:rPr sz="1800" spc="-20" dirty="0">
                          <a:latin typeface="Calibri"/>
                          <a:cs typeface="Calibri"/>
                        </a:rPr>
                        <a:t>etc)</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4"/>
                    </a:solidFill>
                  </a:tcPr>
                </a:tc>
                <a:extLst>
                  <a:ext uri="{0D108BD9-81ED-4DB2-BD59-A6C34878D82A}">
                    <a16:rowId xmlns:a16="http://schemas.microsoft.com/office/drawing/2014/main" val="10004"/>
                  </a:ext>
                </a:extLst>
              </a:tr>
              <a:tr h="828675">
                <a:tc>
                  <a:txBody>
                    <a:bodyPr/>
                    <a:lstStyle/>
                    <a:p>
                      <a:pPr marL="91440" marR="548005">
                        <a:lnSpc>
                          <a:spcPct val="100000"/>
                        </a:lnSpc>
                        <a:spcBef>
                          <a:spcPts val="250"/>
                        </a:spcBef>
                      </a:pPr>
                      <a:r>
                        <a:rPr sz="1800" spc="-10" dirty="0">
                          <a:latin typeface="Calibri"/>
                          <a:cs typeface="Calibri"/>
                        </a:rPr>
                        <a:t>Response</a:t>
                      </a:r>
                      <a:r>
                        <a:rPr sz="1800" spc="-35" dirty="0">
                          <a:latin typeface="Calibri"/>
                          <a:cs typeface="Calibri"/>
                        </a:rPr>
                        <a:t> </a:t>
                      </a:r>
                      <a:r>
                        <a:rPr sz="1800" spc="-10" dirty="0">
                          <a:latin typeface="Calibri"/>
                          <a:cs typeface="Calibri"/>
                        </a:rPr>
                        <a:t>requirements</a:t>
                      </a:r>
                      <a:r>
                        <a:rPr sz="1800" spc="-35" dirty="0">
                          <a:latin typeface="Calibri"/>
                          <a:cs typeface="Calibri"/>
                        </a:rPr>
                        <a:t> </a:t>
                      </a:r>
                      <a:r>
                        <a:rPr sz="1800" dirty="0">
                          <a:latin typeface="Calibri"/>
                          <a:cs typeface="Calibri"/>
                        </a:rPr>
                        <a:t>are</a:t>
                      </a:r>
                      <a:r>
                        <a:rPr sz="1800" spc="-15" dirty="0">
                          <a:latin typeface="Calibri"/>
                          <a:cs typeface="Calibri"/>
                        </a:rPr>
                        <a:t> </a:t>
                      </a:r>
                      <a:r>
                        <a:rPr sz="1800" dirty="0">
                          <a:latin typeface="Calibri"/>
                          <a:cs typeface="Calibri"/>
                        </a:rPr>
                        <a:t>not</a:t>
                      </a:r>
                      <a:r>
                        <a:rPr sz="1800" spc="-20" dirty="0">
                          <a:latin typeface="Calibri"/>
                          <a:cs typeface="Calibri"/>
                        </a:rPr>
                        <a:t> </a:t>
                      </a:r>
                      <a:r>
                        <a:rPr sz="1800" spc="-10" dirty="0">
                          <a:latin typeface="Calibri"/>
                          <a:cs typeface="Calibri"/>
                        </a:rPr>
                        <a:t>time- critical</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tc>
                  <a:txBody>
                    <a:bodyPr/>
                    <a:lstStyle/>
                    <a:p>
                      <a:pPr marL="92075">
                        <a:lnSpc>
                          <a:spcPct val="100000"/>
                        </a:lnSpc>
                        <a:spcBef>
                          <a:spcPts val="250"/>
                        </a:spcBef>
                      </a:pPr>
                      <a:r>
                        <a:rPr sz="1800" dirty="0">
                          <a:latin typeface="Calibri"/>
                          <a:cs typeface="Calibri"/>
                        </a:rPr>
                        <a:t>Highly</a:t>
                      </a:r>
                      <a:r>
                        <a:rPr sz="1800" spc="-10" dirty="0">
                          <a:latin typeface="Calibri"/>
                          <a:cs typeface="Calibri"/>
                        </a:rPr>
                        <a:t> time-critical.</a:t>
                      </a:r>
                      <a:endParaRPr sz="1800">
                        <a:latin typeface="Calibri"/>
                        <a:cs typeface="Calibri"/>
                      </a:endParaRPr>
                    </a:p>
                  </a:txBody>
                  <a:tcPr marL="0" marR="0" marT="31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330244" y="405956"/>
            <a:ext cx="7880555" cy="879728"/>
          </a:xfrm>
          <a:prstGeom prst="rect">
            <a:avLst/>
          </a:prstGeom>
          <a:ln w="9144">
            <a:solidFill>
              <a:srgbClr val="C00000"/>
            </a:solidFill>
          </a:ln>
        </p:spPr>
        <p:txBody>
          <a:bodyPr vert="horz" wrap="square" lIns="0" tIns="200660" rIns="0" bIns="0" rtlCol="0" anchor="ctr">
            <a:spAutoFit/>
          </a:bodyPr>
          <a:lstStyle/>
          <a:p>
            <a:pPr marL="295910">
              <a:lnSpc>
                <a:spcPct val="100000"/>
              </a:lnSpc>
              <a:spcBef>
                <a:spcPts val="1580"/>
              </a:spcBef>
            </a:pPr>
            <a:r>
              <a:rPr spc="-10" dirty="0">
                <a:solidFill>
                  <a:srgbClr val="E36C09"/>
                </a:solidFill>
              </a:rPr>
              <a:t>HISTORY</a:t>
            </a:r>
            <a:r>
              <a:rPr spc="-110" dirty="0">
                <a:solidFill>
                  <a:srgbClr val="E36C09"/>
                </a:solidFill>
              </a:rPr>
              <a:t> </a:t>
            </a:r>
            <a:r>
              <a:rPr dirty="0">
                <a:solidFill>
                  <a:srgbClr val="E36C09"/>
                </a:solidFill>
              </a:rPr>
              <a:t>OF</a:t>
            </a:r>
            <a:r>
              <a:rPr spc="-110" dirty="0">
                <a:solidFill>
                  <a:srgbClr val="E36C09"/>
                </a:solidFill>
              </a:rPr>
              <a:t> </a:t>
            </a:r>
            <a:r>
              <a:rPr dirty="0">
                <a:solidFill>
                  <a:srgbClr val="E36C09"/>
                </a:solidFill>
              </a:rPr>
              <a:t>EMBEDDED</a:t>
            </a:r>
            <a:r>
              <a:rPr spc="-95" dirty="0">
                <a:solidFill>
                  <a:srgbClr val="E36C09"/>
                </a:solidFill>
              </a:rPr>
              <a:t> </a:t>
            </a:r>
            <a:r>
              <a:rPr spc="-10" dirty="0">
                <a:solidFill>
                  <a:srgbClr val="E36C09"/>
                </a:solidFill>
              </a:rPr>
              <a:t>SYSTEMS</a:t>
            </a:r>
            <a:endParaRPr dirty="0"/>
          </a:p>
        </p:txBody>
      </p:sp>
      <p:sp>
        <p:nvSpPr>
          <p:cNvPr id="7" name="object 7"/>
          <p:cNvSpPr txBox="1"/>
          <p:nvPr/>
        </p:nvSpPr>
        <p:spPr>
          <a:xfrm>
            <a:off x="2059940" y="1990472"/>
            <a:ext cx="8075930" cy="4323715"/>
          </a:xfrm>
          <a:prstGeom prst="rect">
            <a:avLst/>
          </a:prstGeom>
        </p:spPr>
        <p:txBody>
          <a:bodyPr vert="horz" wrap="square" lIns="0" tIns="12700" rIns="0" bIns="0" rtlCol="0">
            <a:spAutoFit/>
          </a:bodyPr>
          <a:lstStyle/>
          <a:p>
            <a:pPr marL="355600" marR="5715" indent="-342900" algn="just">
              <a:spcBef>
                <a:spcPts val="100"/>
              </a:spcBef>
              <a:buFont typeface="Wingdings"/>
              <a:buChar char=""/>
              <a:tabLst>
                <a:tab pos="355600" algn="l"/>
              </a:tabLst>
            </a:pPr>
            <a:r>
              <a:rPr sz="3000" dirty="0">
                <a:solidFill>
                  <a:srgbClr val="FF00FF"/>
                </a:solidFill>
                <a:latin typeface="Calibri"/>
                <a:cs typeface="Calibri"/>
              </a:rPr>
              <a:t>Embedded</a:t>
            </a:r>
            <a:r>
              <a:rPr sz="3000" spc="-85" dirty="0">
                <a:solidFill>
                  <a:srgbClr val="FF00FF"/>
                </a:solidFill>
                <a:latin typeface="Calibri"/>
                <a:cs typeface="Calibri"/>
              </a:rPr>
              <a:t> </a:t>
            </a:r>
            <a:r>
              <a:rPr sz="3000" dirty="0">
                <a:solidFill>
                  <a:srgbClr val="FF00FF"/>
                </a:solidFill>
                <a:latin typeface="Calibri"/>
                <a:cs typeface="Calibri"/>
              </a:rPr>
              <a:t>Systems</a:t>
            </a:r>
            <a:r>
              <a:rPr sz="3000" spc="-65" dirty="0">
                <a:solidFill>
                  <a:srgbClr val="FF00FF"/>
                </a:solidFill>
                <a:latin typeface="Calibri"/>
                <a:cs typeface="Calibri"/>
              </a:rPr>
              <a:t> </a:t>
            </a:r>
            <a:r>
              <a:rPr sz="3000" dirty="0">
                <a:solidFill>
                  <a:srgbClr val="FF00FF"/>
                </a:solidFill>
                <a:latin typeface="Calibri"/>
                <a:cs typeface="Calibri"/>
              </a:rPr>
              <a:t>were</a:t>
            </a:r>
            <a:r>
              <a:rPr sz="3000" spc="-70" dirty="0">
                <a:solidFill>
                  <a:srgbClr val="FF00FF"/>
                </a:solidFill>
                <a:latin typeface="Calibri"/>
                <a:cs typeface="Calibri"/>
              </a:rPr>
              <a:t> </a:t>
            </a:r>
            <a:r>
              <a:rPr sz="3000" dirty="0">
                <a:solidFill>
                  <a:srgbClr val="FF00FF"/>
                </a:solidFill>
                <a:latin typeface="Calibri"/>
                <a:cs typeface="Calibri"/>
              </a:rPr>
              <a:t>in</a:t>
            </a:r>
            <a:r>
              <a:rPr sz="3000" spc="-60" dirty="0">
                <a:solidFill>
                  <a:srgbClr val="FF00FF"/>
                </a:solidFill>
                <a:latin typeface="Calibri"/>
                <a:cs typeface="Calibri"/>
              </a:rPr>
              <a:t> </a:t>
            </a:r>
            <a:r>
              <a:rPr sz="3000" spc="-10" dirty="0">
                <a:solidFill>
                  <a:srgbClr val="FF00FF"/>
                </a:solidFill>
                <a:latin typeface="Calibri"/>
                <a:cs typeface="Calibri"/>
              </a:rPr>
              <a:t>existence</a:t>
            </a:r>
            <a:r>
              <a:rPr sz="3000" spc="-60" dirty="0">
                <a:solidFill>
                  <a:srgbClr val="FF00FF"/>
                </a:solidFill>
                <a:latin typeface="Calibri"/>
                <a:cs typeface="Calibri"/>
              </a:rPr>
              <a:t> </a:t>
            </a:r>
            <a:r>
              <a:rPr sz="3000" dirty="0">
                <a:solidFill>
                  <a:srgbClr val="FF00FF"/>
                </a:solidFill>
                <a:latin typeface="Calibri"/>
                <a:cs typeface="Calibri"/>
              </a:rPr>
              <a:t>even</a:t>
            </a:r>
            <a:r>
              <a:rPr sz="3000" spc="-70" dirty="0">
                <a:solidFill>
                  <a:srgbClr val="FF00FF"/>
                </a:solidFill>
                <a:latin typeface="Calibri"/>
                <a:cs typeface="Calibri"/>
              </a:rPr>
              <a:t> </a:t>
            </a:r>
            <a:r>
              <a:rPr sz="3000" spc="-10" dirty="0">
                <a:solidFill>
                  <a:srgbClr val="FF00FF"/>
                </a:solidFill>
                <a:latin typeface="Calibri"/>
                <a:cs typeface="Calibri"/>
              </a:rPr>
              <a:t>before </a:t>
            </a:r>
            <a:r>
              <a:rPr sz="3000" dirty="0">
                <a:solidFill>
                  <a:srgbClr val="FF00FF"/>
                </a:solidFill>
                <a:latin typeface="Calibri"/>
                <a:cs typeface="Calibri"/>
              </a:rPr>
              <a:t>the</a:t>
            </a:r>
            <a:r>
              <a:rPr sz="3000" spc="-25" dirty="0">
                <a:solidFill>
                  <a:srgbClr val="FF00FF"/>
                </a:solidFill>
                <a:latin typeface="Calibri"/>
                <a:cs typeface="Calibri"/>
              </a:rPr>
              <a:t> </a:t>
            </a:r>
            <a:r>
              <a:rPr sz="3000" u="sng" dirty="0">
                <a:solidFill>
                  <a:srgbClr val="FF00FF"/>
                </a:solidFill>
                <a:uFill>
                  <a:solidFill>
                    <a:srgbClr val="FF00FF"/>
                  </a:solidFill>
                </a:uFill>
                <a:latin typeface="Calibri"/>
                <a:cs typeface="Calibri"/>
              </a:rPr>
              <a:t>IT</a:t>
            </a:r>
            <a:r>
              <a:rPr sz="3000" u="sng" spc="-30" dirty="0">
                <a:solidFill>
                  <a:srgbClr val="FF00FF"/>
                </a:solidFill>
                <a:uFill>
                  <a:solidFill>
                    <a:srgbClr val="FF00FF"/>
                  </a:solidFill>
                </a:uFill>
                <a:latin typeface="Calibri"/>
                <a:cs typeface="Calibri"/>
              </a:rPr>
              <a:t> </a:t>
            </a:r>
            <a:r>
              <a:rPr sz="3000" u="sng" spc="-10" dirty="0">
                <a:solidFill>
                  <a:srgbClr val="FF00FF"/>
                </a:solidFill>
                <a:uFill>
                  <a:solidFill>
                    <a:srgbClr val="FF00FF"/>
                  </a:solidFill>
                </a:uFill>
                <a:latin typeface="Calibri"/>
                <a:cs typeface="Calibri"/>
              </a:rPr>
              <a:t>evolution.</a:t>
            </a:r>
            <a:endParaRPr sz="3000">
              <a:latin typeface="Calibri"/>
              <a:cs typeface="Calibri"/>
            </a:endParaRPr>
          </a:p>
          <a:p>
            <a:pPr marL="355600" marR="5080" indent="-342900" algn="just">
              <a:spcBef>
                <a:spcPts val="720"/>
              </a:spcBef>
              <a:buFont typeface="Wingdings"/>
              <a:buChar char=""/>
              <a:tabLst>
                <a:tab pos="355600" algn="l"/>
              </a:tabLst>
            </a:pPr>
            <a:r>
              <a:rPr sz="3000" dirty="0">
                <a:solidFill>
                  <a:srgbClr val="00AF50"/>
                </a:solidFill>
                <a:latin typeface="Calibri"/>
                <a:cs typeface="Calibri"/>
              </a:rPr>
              <a:t>In</a:t>
            </a:r>
            <a:r>
              <a:rPr sz="3000" spc="310" dirty="0">
                <a:solidFill>
                  <a:srgbClr val="00AF50"/>
                </a:solidFill>
                <a:latin typeface="Calibri"/>
                <a:cs typeface="Calibri"/>
              </a:rPr>
              <a:t> </a:t>
            </a:r>
            <a:r>
              <a:rPr sz="3000" dirty="0">
                <a:solidFill>
                  <a:srgbClr val="00AF50"/>
                </a:solidFill>
                <a:latin typeface="Calibri"/>
                <a:cs typeface="Calibri"/>
              </a:rPr>
              <a:t>the</a:t>
            </a:r>
            <a:r>
              <a:rPr sz="3000" spc="310" dirty="0">
                <a:solidFill>
                  <a:srgbClr val="00AF50"/>
                </a:solidFill>
                <a:latin typeface="Calibri"/>
                <a:cs typeface="Calibri"/>
              </a:rPr>
              <a:t> </a:t>
            </a:r>
            <a:r>
              <a:rPr sz="3000" dirty="0">
                <a:solidFill>
                  <a:srgbClr val="00AF50"/>
                </a:solidFill>
                <a:latin typeface="Calibri"/>
                <a:cs typeface="Calibri"/>
              </a:rPr>
              <a:t>olden</a:t>
            </a:r>
            <a:r>
              <a:rPr sz="3000" spc="320" dirty="0">
                <a:solidFill>
                  <a:srgbClr val="00AF50"/>
                </a:solidFill>
                <a:latin typeface="Calibri"/>
                <a:cs typeface="Calibri"/>
              </a:rPr>
              <a:t> </a:t>
            </a:r>
            <a:r>
              <a:rPr sz="3000" dirty="0">
                <a:solidFill>
                  <a:srgbClr val="00AF50"/>
                </a:solidFill>
                <a:latin typeface="Calibri"/>
                <a:cs typeface="Calibri"/>
              </a:rPr>
              <a:t>days</a:t>
            </a:r>
            <a:r>
              <a:rPr sz="3000" spc="310" dirty="0">
                <a:solidFill>
                  <a:srgbClr val="00AF50"/>
                </a:solidFill>
                <a:latin typeface="Calibri"/>
                <a:cs typeface="Calibri"/>
              </a:rPr>
              <a:t> </a:t>
            </a:r>
            <a:r>
              <a:rPr sz="3000" dirty="0">
                <a:solidFill>
                  <a:srgbClr val="00AF50"/>
                </a:solidFill>
                <a:latin typeface="Calibri"/>
                <a:cs typeface="Calibri"/>
              </a:rPr>
              <a:t>embedded</a:t>
            </a:r>
            <a:r>
              <a:rPr sz="3000" spc="315" dirty="0">
                <a:solidFill>
                  <a:srgbClr val="00AF50"/>
                </a:solidFill>
                <a:latin typeface="Calibri"/>
                <a:cs typeface="Calibri"/>
              </a:rPr>
              <a:t> </a:t>
            </a:r>
            <a:r>
              <a:rPr sz="3000" dirty="0">
                <a:solidFill>
                  <a:srgbClr val="00AF50"/>
                </a:solidFill>
                <a:latin typeface="Calibri"/>
                <a:cs typeface="Calibri"/>
              </a:rPr>
              <a:t>systems</a:t>
            </a:r>
            <a:r>
              <a:rPr sz="3000" spc="315" dirty="0">
                <a:solidFill>
                  <a:srgbClr val="00AF50"/>
                </a:solidFill>
                <a:latin typeface="Calibri"/>
                <a:cs typeface="Calibri"/>
              </a:rPr>
              <a:t> </a:t>
            </a:r>
            <a:r>
              <a:rPr sz="3000" dirty="0">
                <a:solidFill>
                  <a:srgbClr val="00AF50"/>
                </a:solidFill>
                <a:latin typeface="Calibri"/>
                <a:cs typeface="Calibri"/>
              </a:rPr>
              <a:t>were</a:t>
            </a:r>
            <a:r>
              <a:rPr sz="3000" spc="315" dirty="0">
                <a:solidFill>
                  <a:srgbClr val="00AF50"/>
                </a:solidFill>
                <a:latin typeface="Calibri"/>
                <a:cs typeface="Calibri"/>
              </a:rPr>
              <a:t> </a:t>
            </a:r>
            <a:r>
              <a:rPr sz="3000" spc="-10" dirty="0">
                <a:solidFill>
                  <a:srgbClr val="00AF50"/>
                </a:solidFill>
                <a:latin typeface="Calibri"/>
                <a:cs typeface="Calibri"/>
              </a:rPr>
              <a:t>built </a:t>
            </a:r>
            <a:r>
              <a:rPr sz="3000" dirty="0">
                <a:solidFill>
                  <a:srgbClr val="00AF50"/>
                </a:solidFill>
                <a:latin typeface="Calibri"/>
                <a:cs typeface="Calibri"/>
              </a:rPr>
              <a:t>around</a:t>
            </a:r>
            <a:r>
              <a:rPr sz="3000" spc="345" dirty="0">
                <a:solidFill>
                  <a:srgbClr val="00AF50"/>
                </a:solidFill>
                <a:latin typeface="Calibri"/>
                <a:cs typeface="Calibri"/>
              </a:rPr>
              <a:t>  </a:t>
            </a:r>
            <a:r>
              <a:rPr sz="3000" dirty="0">
                <a:solidFill>
                  <a:srgbClr val="00AF50"/>
                </a:solidFill>
                <a:latin typeface="Calibri"/>
                <a:cs typeface="Calibri"/>
              </a:rPr>
              <a:t>the</a:t>
            </a:r>
            <a:r>
              <a:rPr sz="3000" spc="350" dirty="0">
                <a:solidFill>
                  <a:srgbClr val="00AF50"/>
                </a:solidFill>
                <a:latin typeface="Calibri"/>
                <a:cs typeface="Calibri"/>
              </a:rPr>
              <a:t>  </a:t>
            </a:r>
            <a:r>
              <a:rPr sz="3000" dirty="0">
                <a:solidFill>
                  <a:srgbClr val="00AF50"/>
                </a:solidFill>
                <a:latin typeface="Calibri"/>
                <a:cs typeface="Calibri"/>
              </a:rPr>
              <a:t>old</a:t>
            </a:r>
            <a:r>
              <a:rPr sz="3000" spc="340" dirty="0">
                <a:solidFill>
                  <a:srgbClr val="00AF50"/>
                </a:solidFill>
                <a:latin typeface="Calibri"/>
                <a:cs typeface="Calibri"/>
              </a:rPr>
              <a:t>  </a:t>
            </a:r>
            <a:r>
              <a:rPr sz="3000" u="sng" dirty="0">
                <a:solidFill>
                  <a:srgbClr val="00AF50"/>
                </a:solidFill>
                <a:uFill>
                  <a:solidFill>
                    <a:srgbClr val="00AF50"/>
                  </a:solidFill>
                </a:uFill>
                <a:latin typeface="Calibri"/>
                <a:cs typeface="Calibri"/>
              </a:rPr>
              <a:t>vacuum</a:t>
            </a:r>
            <a:r>
              <a:rPr sz="3000" u="sng" spc="340" dirty="0">
                <a:solidFill>
                  <a:srgbClr val="00AF50"/>
                </a:solidFill>
                <a:uFill>
                  <a:solidFill>
                    <a:srgbClr val="00AF50"/>
                  </a:solidFill>
                </a:uFill>
                <a:latin typeface="Calibri"/>
                <a:cs typeface="Calibri"/>
              </a:rPr>
              <a:t>  </a:t>
            </a:r>
            <a:r>
              <a:rPr sz="3000" u="sng" dirty="0">
                <a:solidFill>
                  <a:srgbClr val="00AF50"/>
                </a:solidFill>
                <a:uFill>
                  <a:solidFill>
                    <a:srgbClr val="00AF50"/>
                  </a:solidFill>
                </a:uFill>
                <a:latin typeface="Calibri"/>
                <a:cs typeface="Calibri"/>
              </a:rPr>
              <a:t>tube</a:t>
            </a:r>
            <a:r>
              <a:rPr sz="3000" u="sng" spc="335" dirty="0">
                <a:solidFill>
                  <a:srgbClr val="00AF50"/>
                </a:solidFill>
                <a:uFill>
                  <a:solidFill>
                    <a:srgbClr val="00AF50"/>
                  </a:solidFill>
                </a:uFill>
                <a:latin typeface="Calibri"/>
                <a:cs typeface="Calibri"/>
              </a:rPr>
              <a:t>  </a:t>
            </a:r>
            <a:r>
              <a:rPr sz="3000" dirty="0">
                <a:solidFill>
                  <a:srgbClr val="00AF50"/>
                </a:solidFill>
                <a:latin typeface="Calibri"/>
                <a:cs typeface="Calibri"/>
              </a:rPr>
              <a:t>and</a:t>
            </a:r>
            <a:r>
              <a:rPr sz="3000" spc="345" dirty="0">
                <a:solidFill>
                  <a:srgbClr val="00AF50"/>
                </a:solidFill>
                <a:latin typeface="Calibri"/>
                <a:cs typeface="Calibri"/>
              </a:rPr>
              <a:t>  </a:t>
            </a:r>
            <a:r>
              <a:rPr sz="3000" u="sng" spc="-10" dirty="0">
                <a:solidFill>
                  <a:srgbClr val="00AF50"/>
                </a:solidFill>
                <a:uFill>
                  <a:solidFill>
                    <a:srgbClr val="00AF50"/>
                  </a:solidFill>
                </a:uFill>
                <a:latin typeface="Calibri"/>
                <a:cs typeface="Calibri"/>
              </a:rPr>
              <a:t>transistor</a:t>
            </a:r>
            <a:r>
              <a:rPr sz="3000" spc="-10" dirty="0">
                <a:solidFill>
                  <a:srgbClr val="00AF50"/>
                </a:solidFill>
                <a:latin typeface="Calibri"/>
                <a:cs typeface="Calibri"/>
              </a:rPr>
              <a:t> </a:t>
            </a:r>
            <a:r>
              <a:rPr sz="3000" dirty="0">
                <a:solidFill>
                  <a:srgbClr val="00AF50"/>
                </a:solidFill>
                <a:latin typeface="Calibri"/>
                <a:cs typeface="Calibri"/>
              </a:rPr>
              <a:t>technologies</a:t>
            </a:r>
            <a:r>
              <a:rPr sz="3000" spc="620" dirty="0">
                <a:solidFill>
                  <a:srgbClr val="00AF50"/>
                </a:solidFill>
                <a:latin typeface="Calibri"/>
                <a:cs typeface="Calibri"/>
              </a:rPr>
              <a:t> </a:t>
            </a:r>
            <a:r>
              <a:rPr sz="3000" dirty="0">
                <a:solidFill>
                  <a:srgbClr val="00AF50"/>
                </a:solidFill>
                <a:latin typeface="Calibri"/>
                <a:cs typeface="Calibri"/>
              </a:rPr>
              <a:t>and</a:t>
            </a:r>
            <a:r>
              <a:rPr sz="3000" spc="630" dirty="0">
                <a:solidFill>
                  <a:srgbClr val="00AF50"/>
                </a:solidFill>
                <a:latin typeface="Calibri"/>
                <a:cs typeface="Calibri"/>
              </a:rPr>
              <a:t> </a:t>
            </a:r>
            <a:r>
              <a:rPr sz="3000" dirty="0">
                <a:solidFill>
                  <a:srgbClr val="00AF50"/>
                </a:solidFill>
                <a:latin typeface="Calibri"/>
                <a:cs typeface="Calibri"/>
              </a:rPr>
              <a:t>the</a:t>
            </a:r>
            <a:r>
              <a:rPr sz="3000" spc="635" dirty="0">
                <a:solidFill>
                  <a:srgbClr val="00AF50"/>
                </a:solidFill>
                <a:latin typeface="Calibri"/>
                <a:cs typeface="Calibri"/>
              </a:rPr>
              <a:t> </a:t>
            </a:r>
            <a:r>
              <a:rPr sz="3000" dirty="0">
                <a:solidFill>
                  <a:srgbClr val="00AF50"/>
                </a:solidFill>
                <a:latin typeface="Calibri"/>
                <a:cs typeface="Calibri"/>
              </a:rPr>
              <a:t>embedded</a:t>
            </a:r>
            <a:r>
              <a:rPr sz="3000" spc="640" dirty="0">
                <a:solidFill>
                  <a:srgbClr val="00AF50"/>
                </a:solidFill>
                <a:latin typeface="Calibri"/>
                <a:cs typeface="Calibri"/>
              </a:rPr>
              <a:t> </a:t>
            </a:r>
            <a:r>
              <a:rPr sz="3000" dirty="0">
                <a:solidFill>
                  <a:srgbClr val="00AF50"/>
                </a:solidFill>
                <a:latin typeface="Calibri"/>
                <a:cs typeface="Calibri"/>
              </a:rPr>
              <a:t>algorithm</a:t>
            </a:r>
            <a:r>
              <a:rPr sz="3000" spc="640" dirty="0">
                <a:solidFill>
                  <a:srgbClr val="00AF50"/>
                </a:solidFill>
                <a:latin typeface="Calibri"/>
                <a:cs typeface="Calibri"/>
              </a:rPr>
              <a:t> </a:t>
            </a:r>
            <a:r>
              <a:rPr sz="3000" spc="-25" dirty="0">
                <a:solidFill>
                  <a:srgbClr val="00AF50"/>
                </a:solidFill>
                <a:latin typeface="Calibri"/>
                <a:cs typeface="Calibri"/>
              </a:rPr>
              <a:t>was </a:t>
            </a:r>
            <a:r>
              <a:rPr sz="3000" dirty="0">
                <a:solidFill>
                  <a:srgbClr val="00AF50"/>
                </a:solidFill>
                <a:latin typeface="Calibri"/>
                <a:cs typeface="Calibri"/>
              </a:rPr>
              <a:t>developed</a:t>
            </a:r>
            <a:r>
              <a:rPr sz="3000" spc="-80" dirty="0">
                <a:solidFill>
                  <a:srgbClr val="00AF50"/>
                </a:solidFill>
                <a:latin typeface="Calibri"/>
                <a:cs typeface="Calibri"/>
              </a:rPr>
              <a:t> </a:t>
            </a:r>
            <a:r>
              <a:rPr sz="3000" dirty="0">
                <a:solidFill>
                  <a:srgbClr val="00AF50"/>
                </a:solidFill>
                <a:latin typeface="Calibri"/>
                <a:cs typeface="Calibri"/>
              </a:rPr>
              <a:t>in</a:t>
            </a:r>
            <a:r>
              <a:rPr sz="3000" spc="-45" dirty="0">
                <a:solidFill>
                  <a:srgbClr val="00AF50"/>
                </a:solidFill>
                <a:latin typeface="Calibri"/>
                <a:cs typeface="Calibri"/>
              </a:rPr>
              <a:t> </a:t>
            </a:r>
            <a:r>
              <a:rPr sz="3000" u="sng" dirty="0">
                <a:solidFill>
                  <a:srgbClr val="00AF50"/>
                </a:solidFill>
                <a:uFill>
                  <a:solidFill>
                    <a:srgbClr val="00AF50"/>
                  </a:solidFill>
                </a:uFill>
                <a:latin typeface="Calibri"/>
                <a:cs typeface="Calibri"/>
              </a:rPr>
              <a:t>low</a:t>
            </a:r>
            <a:r>
              <a:rPr sz="3000" u="sng" spc="-40" dirty="0">
                <a:solidFill>
                  <a:srgbClr val="00AF50"/>
                </a:solidFill>
                <a:uFill>
                  <a:solidFill>
                    <a:srgbClr val="00AF50"/>
                  </a:solidFill>
                </a:uFill>
                <a:latin typeface="Calibri"/>
                <a:cs typeface="Calibri"/>
              </a:rPr>
              <a:t> </a:t>
            </a:r>
            <a:r>
              <a:rPr sz="3000" u="sng" dirty="0">
                <a:solidFill>
                  <a:srgbClr val="00AF50"/>
                </a:solidFill>
                <a:uFill>
                  <a:solidFill>
                    <a:srgbClr val="00AF50"/>
                  </a:solidFill>
                </a:uFill>
                <a:latin typeface="Calibri"/>
                <a:cs typeface="Calibri"/>
              </a:rPr>
              <a:t>level</a:t>
            </a:r>
            <a:r>
              <a:rPr sz="3000" u="sng" spc="-65" dirty="0">
                <a:solidFill>
                  <a:srgbClr val="00AF50"/>
                </a:solidFill>
                <a:uFill>
                  <a:solidFill>
                    <a:srgbClr val="00AF50"/>
                  </a:solidFill>
                </a:uFill>
                <a:latin typeface="Calibri"/>
                <a:cs typeface="Calibri"/>
              </a:rPr>
              <a:t> </a:t>
            </a:r>
            <a:r>
              <a:rPr sz="3000" u="sng" spc="-10" dirty="0">
                <a:solidFill>
                  <a:srgbClr val="00AF50"/>
                </a:solidFill>
                <a:uFill>
                  <a:solidFill>
                    <a:srgbClr val="00AF50"/>
                  </a:solidFill>
                </a:uFill>
                <a:latin typeface="Calibri"/>
                <a:cs typeface="Calibri"/>
              </a:rPr>
              <a:t>languages</a:t>
            </a:r>
            <a:r>
              <a:rPr sz="3000" spc="-10" dirty="0">
                <a:solidFill>
                  <a:srgbClr val="00AF50"/>
                </a:solidFill>
                <a:latin typeface="Calibri"/>
                <a:cs typeface="Calibri"/>
              </a:rPr>
              <a:t>.</a:t>
            </a:r>
            <a:endParaRPr sz="3000">
              <a:latin typeface="Calibri"/>
              <a:cs typeface="Calibri"/>
            </a:endParaRPr>
          </a:p>
          <a:p>
            <a:pPr marL="355600" marR="8255" indent="-342900" algn="just">
              <a:spcBef>
                <a:spcPts val="720"/>
              </a:spcBef>
              <a:buFont typeface="Wingdings"/>
              <a:buChar char=""/>
              <a:tabLst>
                <a:tab pos="355600" algn="l"/>
              </a:tabLst>
            </a:pPr>
            <a:r>
              <a:rPr sz="3000" dirty="0">
                <a:solidFill>
                  <a:srgbClr val="C00000"/>
                </a:solidFill>
                <a:latin typeface="Calibri"/>
                <a:cs typeface="Calibri"/>
              </a:rPr>
              <a:t>Advances</a:t>
            </a:r>
            <a:r>
              <a:rPr sz="3000" spc="-40" dirty="0">
                <a:solidFill>
                  <a:srgbClr val="C00000"/>
                </a:solidFill>
                <a:latin typeface="Calibri"/>
                <a:cs typeface="Calibri"/>
              </a:rPr>
              <a:t> </a:t>
            </a:r>
            <a:r>
              <a:rPr sz="3000" dirty="0">
                <a:solidFill>
                  <a:srgbClr val="C00000"/>
                </a:solidFill>
                <a:latin typeface="Calibri"/>
                <a:cs typeface="Calibri"/>
              </a:rPr>
              <a:t>in</a:t>
            </a:r>
            <a:r>
              <a:rPr sz="3000" spc="-5" dirty="0">
                <a:solidFill>
                  <a:srgbClr val="C00000"/>
                </a:solidFill>
                <a:latin typeface="Calibri"/>
                <a:cs typeface="Calibri"/>
              </a:rPr>
              <a:t> </a:t>
            </a:r>
            <a:r>
              <a:rPr sz="3000" u="sng" dirty="0">
                <a:solidFill>
                  <a:srgbClr val="C00000"/>
                </a:solidFill>
                <a:uFill>
                  <a:solidFill>
                    <a:srgbClr val="C00000"/>
                  </a:solidFill>
                </a:uFill>
                <a:latin typeface="Calibri"/>
                <a:cs typeface="Calibri"/>
              </a:rPr>
              <a:t>semiconductor</a:t>
            </a:r>
            <a:r>
              <a:rPr sz="3000" spc="-15" dirty="0">
                <a:solidFill>
                  <a:srgbClr val="C00000"/>
                </a:solidFill>
                <a:latin typeface="Calibri"/>
                <a:cs typeface="Calibri"/>
              </a:rPr>
              <a:t> </a:t>
            </a:r>
            <a:r>
              <a:rPr sz="3000" dirty="0">
                <a:solidFill>
                  <a:srgbClr val="C00000"/>
                </a:solidFill>
                <a:latin typeface="Calibri"/>
                <a:cs typeface="Calibri"/>
              </a:rPr>
              <a:t>and</a:t>
            </a:r>
            <a:r>
              <a:rPr sz="3000" spc="-10" dirty="0">
                <a:solidFill>
                  <a:srgbClr val="C00000"/>
                </a:solidFill>
                <a:latin typeface="Calibri"/>
                <a:cs typeface="Calibri"/>
              </a:rPr>
              <a:t> </a:t>
            </a:r>
            <a:r>
              <a:rPr sz="3000" u="sng" spc="-10" dirty="0">
                <a:solidFill>
                  <a:srgbClr val="C00000"/>
                </a:solidFill>
                <a:uFill>
                  <a:solidFill>
                    <a:srgbClr val="C00000"/>
                  </a:solidFill>
                </a:uFill>
                <a:latin typeface="Calibri"/>
                <a:cs typeface="Calibri"/>
              </a:rPr>
              <a:t>Nano-Technology</a:t>
            </a:r>
            <a:r>
              <a:rPr sz="3000" spc="-10" dirty="0">
                <a:solidFill>
                  <a:srgbClr val="C00000"/>
                </a:solidFill>
                <a:latin typeface="Calibri"/>
                <a:cs typeface="Calibri"/>
              </a:rPr>
              <a:t> </a:t>
            </a:r>
            <a:r>
              <a:rPr sz="3000" dirty="0">
                <a:solidFill>
                  <a:srgbClr val="C00000"/>
                </a:solidFill>
                <a:latin typeface="Calibri"/>
                <a:cs typeface="Calibri"/>
              </a:rPr>
              <a:t>and</a:t>
            </a:r>
            <a:r>
              <a:rPr sz="3000" spc="-45" dirty="0">
                <a:solidFill>
                  <a:srgbClr val="C00000"/>
                </a:solidFill>
                <a:latin typeface="Calibri"/>
                <a:cs typeface="Calibri"/>
              </a:rPr>
              <a:t> </a:t>
            </a:r>
            <a:r>
              <a:rPr sz="3000" dirty="0">
                <a:solidFill>
                  <a:srgbClr val="C00000"/>
                </a:solidFill>
                <a:latin typeface="Calibri"/>
                <a:cs typeface="Calibri"/>
              </a:rPr>
              <a:t>IT</a:t>
            </a:r>
            <a:r>
              <a:rPr sz="3000" spc="-50" dirty="0">
                <a:solidFill>
                  <a:srgbClr val="C00000"/>
                </a:solidFill>
                <a:latin typeface="Calibri"/>
                <a:cs typeface="Calibri"/>
              </a:rPr>
              <a:t> </a:t>
            </a:r>
            <a:r>
              <a:rPr sz="3000" dirty="0">
                <a:solidFill>
                  <a:srgbClr val="C00000"/>
                </a:solidFill>
                <a:latin typeface="Calibri"/>
                <a:cs typeface="Calibri"/>
              </a:rPr>
              <a:t>revolution</a:t>
            </a:r>
            <a:r>
              <a:rPr sz="3000" spc="-45" dirty="0">
                <a:solidFill>
                  <a:srgbClr val="C00000"/>
                </a:solidFill>
                <a:latin typeface="Calibri"/>
                <a:cs typeface="Calibri"/>
              </a:rPr>
              <a:t> </a:t>
            </a:r>
            <a:r>
              <a:rPr sz="3000" dirty="0">
                <a:solidFill>
                  <a:srgbClr val="C00000"/>
                </a:solidFill>
                <a:latin typeface="Calibri"/>
                <a:cs typeface="Calibri"/>
              </a:rPr>
              <a:t>gave</a:t>
            </a:r>
            <a:r>
              <a:rPr sz="3000" spc="-55" dirty="0">
                <a:solidFill>
                  <a:srgbClr val="C00000"/>
                </a:solidFill>
                <a:latin typeface="Calibri"/>
                <a:cs typeface="Calibri"/>
              </a:rPr>
              <a:t> </a:t>
            </a:r>
            <a:r>
              <a:rPr sz="3000" dirty="0">
                <a:solidFill>
                  <a:srgbClr val="C00000"/>
                </a:solidFill>
                <a:latin typeface="Calibri"/>
                <a:cs typeface="Calibri"/>
              </a:rPr>
              <a:t>way</a:t>
            </a:r>
            <a:r>
              <a:rPr sz="3000" spc="-55" dirty="0">
                <a:solidFill>
                  <a:srgbClr val="C00000"/>
                </a:solidFill>
                <a:latin typeface="Calibri"/>
                <a:cs typeface="Calibri"/>
              </a:rPr>
              <a:t> </a:t>
            </a:r>
            <a:r>
              <a:rPr sz="3000" dirty="0">
                <a:solidFill>
                  <a:srgbClr val="C00000"/>
                </a:solidFill>
                <a:latin typeface="Calibri"/>
                <a:cs typeface="Calibri"/>
              </a:rPr>
              <a:t>to</a:t>
            </a:r>
            <a:r>
              <a:rPr sz="3000" spc="-60" dirty="0">
                <a:solidFill>
                  <a:srgbClr val="C00000"/>
                </a:solidFill>
                <a:latin typeface="Calibri"/>
                <a:cs typeface="Calibri"/>
              </a:rPr>
              <a:t> </a:t>
            </a:r>
            <a:r>
              <a:rPr sz="3000" dirty="0">
                <a:solidFill>
                  <a:srgbClr val="C00000"/>
                </a:solidFill>
                <a:latin typeface="Calibri"/>
                <a:cs typeface="Calibri"/>
              </a:rPr>
              <a:t>the</a:t>
            </a:r>
            <a:r>
              <a:rPr sz="3000" spc="-50" dirty="0">
                <a:solidFill>
                  <a:srgbClr val="C00000"/>
                </a:solidFill>
                <a:latin typeface="Calibri"/>
                <a:cs typeface="Calibri"/>
              </a:rPr>
              <a:t> </a:t>
            </a:r>
            <a:r>
              <a:rPr sz="3000" spc="-10" dirty="0">
                <a:solidFill>
                  <a:srgbClr val="C00000"/>
                </a:solidFill>
                <a:latin typeface="Calibri"/>
                <a:cs typeface="Calibri"/>
              </a:rPr>
              <a:t>development</a:t>
            </a:r>
            <a:r>
              <a:rPr sz="3000" spc="-40" dirty="0">
                <a:solidFill>
                  <a:srgbClr val="C00000"/>
                </a:solidFill>
                <a:latin typeface="Calibri"/>
                <a:cs typeface="Calibri"/>
              </a:rPr>
              <a:t> </a:t>
            </a:r>
            <a:r>
              <a:rPr sz="3000" spc="-25" dirty="0">
                <a:solidFill>
                  <a:srgbClr val="C00000"/>
                </a:solidFill>
                <a:latin typeface="Calibri"/>
                <a:cs typeface="Calibri"/>
              </a:rPr>
              <a:t>of </a:t>
            </a:r>
            <a:r>
              <a:rPr sz="3000" dirty="0">
                <a:solidFill>
                  <a:srgbClr val="C00000"/>
                </a:solidFill>
                <a:latin typeface="Calibri"/>
                <a:cs typeface="Calibri"/>
              </a:rPr>
              <a:t>miniature</a:t>
            </a:r>
            <a:r>
              <a:rPr sz="3000" spc="-110" dirty="0">
                <a:solidFill>
                  <a:srgbClr val="C00000"/>
                </a:solidFill>
                <a:latin typeface="Calibri"/>
                <a:cs typeface="Calibri"/>
              </a:rPr>
              <a:t> </a:t>
            </a:r>
            <a:r>
              <a:rPr sz="3000" dirty="0">
                <a:solidFill>
                  <a:srgbClr val="C00000"/>
                </a:solidFill>
                <a:latin typeface="Calibri"/>
                <a:cs typeface="Calibri"/>
              </a:rPr>
              <a:t>embedded</a:t>
            </a:r>
            <a:r>
              <a:rPr sz="3000" spc="-85" dirty="0">
                <a:solidFill>
                  <a:srgbClr val="C00000"/>
                </a:solidFill>
                <a:latin typeface="Calibri"/>
                <a:cs typeface="Calibri"/>
              </a:rPr>
              <a:t> </a:t>
            </a:r>
            <a:r>
              <a:rPr sz="3000" spc="-10" dirty="0">
                <a:solidFill>
                  <a:srgbClr val="C00000"/>
                </a:solidFill>
                <a:latin typeface="Calibri"/>
                <a:cs typeface="Calibri"/>
              </a:rPr>
              <a:t>systems.</a:t>
            </a:r>
            <a:endParaRPr sz="300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p:nvPr/>
        </p:nvSpPr>
        <p:spPr>
          <a:xfrm>
            <a:off x="914400" y="851944"/>
            <a:ext cx="10333703" cy="5656036"/>
          </a:xfrm>
          <a:prstGeom prst="rect">
            <a:avLst/>
          </a:prstGeom>
        </p:spPr>
        <p:txBody>
          <a:bodyPr vert="horz" wrap="square" lIns="0" tIns="13335" rIns="0" bIns="0" rtlCol="0">
            <a:spAutoFit/>
          </a:bodyPr>
          <a:lstStyle/>
          <a:p>
            <a:pPr marL="468630" marR="6985" indent="-457200" algn="just">
              <a:spcBef>
                <a:spcPts val="105"/>
              </a:spcBef>
              <a:buSzPct val="96875"/>
              <a:buFont typeface="Wingdings" panose="05000000000000000000" pitchFamily="2" charset="2"/>
              <a:buChar char="§"/>
              <a:tabLst>
                <a:tab pos="355600" algn="l"/>
                <a:tab pos="375285" algn="l"/>
              </a:tabLst>
            </a:pPr>
            <a:r>
              <a:rPr sz="2800" dirty="0">
                <a:latin typeface="Calibri"/>
                <a:cs typeface="Calibri"/>
              </a:rPr>
              <a:t>The</a:t>
            </a:r>
            <a:r>
              <a:rPr sz="2800" spc="740" dirty="0">
                <a:latin typeface="Calibri"/>
                <a:cs typeface="Calibri"/>
              </a:rPr>
              <a:t>  </a:t>
            </a:r>
            <a:r>
              <a:rPr sz="2800" dirty="0">
                <a:latin typeface="Calibri"/>
                <a:cs typeface="Calibri"/>
              </a:rPr>
              <a:t>first</a:t>
            </a:r>
            <a:r>
              <a:rPr sz="2800" spc="740" dirty="0">
                <a:latin typeface="Calibri"/>
                <a:cs typeface="Calibri"/>
              </a:rPr>
              <a:t>  </a:t>
            </a:r>
            <a:r>
              <a:rPr sz="2800" dirty="0">
                <a:latin typeface="Calibri"/>
                <a:cs typeface="Calibri"/>
              </a:rPr>
              <a:t>recognised</a:t>
            </a:r>
            <a:r>
              <a:rPr sz="2800" spc="750" dirty="0">
                <a:latin typeface="Calibri"/>
                <a:cs typeface="Calibri"/>
              </a:rPr>
              <a:t>  </a:t>
            </a:r>
            <a:r>
              <a:rPr sz="2800" dirty="0">
                <a:latin typeface="Calibri"/>
                <a:cs typeface="Calibri"/>
              </a:rPr>
              <a:t>modern</a:t>
            </a:r>
            <a:r>
              <a:rPr sz="2800" spc="740" dirty="0">
                <a:latin typeface="Calibri"/>
                <a:cs typeface="Calibri"/>
              </a:rPr>
              <a:t>  </a:t>
            </a:r>
            <a:r>
              <a:rPr sz="2800" spc="-10" dirty="0">
                <a:latin typeface="Calibri"/>
                <a:cs typeface="Calibri"/>
              </a:rPr>
              <a:t>embedded </a:t>
            </a:r>
            <a:r>
              <a:rPr sz="2800" dirty="0">
                <a:latin typeface="Calibri"/>
                <a:cs typeface="Calibri"/>
              </a:rPr>
              <a:t>system</a:t>
            </a:r>
            <a:r>
              <a:rPr sz="2800" spc="15" dirty="0">
                <a:latin typeface="Calibri"/>
                <a:cs typeface="Calibri"/>
              </a:rPr>
              <a:t> </a:t>
            </a:r>
            <a:r>
              <a:rPr sz="2800" dirty="0">
                <a:latin typeface="Calibri"/>
                <a:cs typeface="Calibri"/>
              </a:rPr>
              <a:t>is</a:t>
            </a:r>
            <a:r>
              <a:rPr sz="2800" spc="25" dirty="0">
                <a:latin typeface="Calibri"/>
                <a:cs typeface="Calibri"/>
              </a:rPr>
              <a:t> </a:t>
            </a:r>
            <a:r>
              <a:rPr sz="2800" dirty="0">
                <a:latin typeface="Calibri"/>
                <a:cs typeface="Calibri"/>
              </a:rPr>
              <a:t>the</a:t>
            </a:r>
            <a:r>
              <a:rPr sz="2800" spc="20" dirty="0">
                <a:latin typeface="Calibri"/>
                <a:cs typeface="Calibri"/>
              </a:rPr>
              <a:t> </a:t>
            </a:r>
            <a:r>
              <a:rPr sz="2800" u="sng" dirty="0">
                <a:solidFill>
                  <a:srgbClr val="C00000"/>
                </a:solidFill>
                <a:uFill>
                  <a:solidFill>
                    <a:srgbClr val="C00000"/>
                  </a:solidFill>
                </a:uFill>
                <a:latin typeface="Calibri"/>
                <a:cs typeface="Calibri"/>
              </a:rPr>
              <a:t>Apollo</a:t>
            </a:r>
            <a:r>
              <a:rPr sz="2800" u="sng" spc="25" dirty="0">
                <a:solidFill>
                  <a:srgbClr val="C00000"/>
                </a:solidFill>
                <a:uFill>
                  <a:solidFill>
                    <a:srgbClr val="C00000"/>
                  </a:solidFill>
                </a:uFill>
                <a:latin typeface="Calibri"/>
                <a:cs typeface="Calibri"/>
              </a:rPr>
              <a:t> </a:t>
            </a:r>
            <a:r>
              <a:rPr sz="2800" u="sng" dirty="0">
                <a:solidFill>
                  <a:srgbClr val="C00000"/>
                </a:solidFill>
                <a:uFill>
                  <a:solidFill>
                    <a:srgbClr val="C00000"/>
                  </a:solidFill>
                </a:uFill>
                <a:latin typeface="Calibri"/>
                <a:cs typeface="Calibri"/>
              </a:rPr>
              <a:t>Guidance</a:t>
            </a:r>
            <a:r>
              <a:rPr sz="2800" u="sng" spc="30" dirty="0">
                <a:solidFill>
                  <a:srgbClr val="C00000"/>
                </a:solidFill>
                <a:uFill>
                  <a:solidFill>
                    <a:srgbClr val="C00000"/>
                  </a:solidFill>
                </a:uFill>
                <a:latin typeface="Calibri"/>
                <a:cs typeface="Calibri"/>
              </a:rPr>
              <a:t> </a:t>
            </a:r>
            <a:r>
              <a:rPr sz="2800" u="sng" spc="-10" dirty="0">
                <a:solidFill>
                  <a:srgbClr val="C00000"/>
                </a:solidFill>
                <a:uFill>
                  <a:solidFill>
                    <a:srgbClr val="C00000"/>
                  </a:solidFill>
                </a:uFill>
                <a:latin typeface="Calibri"/>
                <a:cs typeface="Calibri"/>
              </a:rPr>
              <a:t>Computer(AGC)</a:t>
            </a:r>
            <a:r>
              <a:rPr sz="2800" spc="-10" dirty="0">
                <a:solidFill>
                  <a:srgbClr val="C00000"/>
                </a:solidFill>
                <a:latin typeface="Calibri"/>
                <a:cs typeface="Calibri"/>
              </a:rPr>
              <a:t> </a:t>
            </a:r>
            <a:r>
              <a:rPr sz="2800" dirty="0">
                <a:latin typeface="Calibri"/>
                <a:cs typeface="Calibri"/>
              </a:rPr>
              <a:t>developed</a:t>
            </a:r>
            <a:r>
              <a:rPr sz="2800" spc="365" dirty="0">
                <a:latin typeface="Calibri"/>
                <a:cs typeface="Calibri"/>
              </a:rPr>
              <a:t>   </a:t>
            </a:r>
            <a:r>
              <a:rPr sz="2800" dirty="0">
                <a:latin typeface="Calibri"/>
                <a:cs typeface="Calibri"/>
              </a:rPr>
              <a:t>by</a:t>
            </a:r>
            <a:r>
              <a:rPr sz="2800" spc="380" dirty="0">
                <a:latin typeface="Calibri"/>
                <a:cs typeface="Calibri"/>
              </a:rPr>
              <a:t>   </a:t>
            </a:r>
            <a:r>
              <a:rPr sz="2800" dirty="0">
                <a:latin typeface="Calibri"/>
                <a:cs typeface="Calibri"/>
              </a:rPr>
              <a:t>the</a:t>
            </a:r>
            <a:r>
              <a:rPr sz="2800" spc="370" dirty="0">
                <a:latin typeface="Calibri"/>
                <a:cs typeface="Calibri"/>
              </a:rPr>
              <a:t>   </a:t>
            </a:r>
            <a:r>
              <a:rPr sz="2800" u="sng" dirty="0">
                <a:solidFill>
                  <a:srgbClr val="77923B"/>
                </a:solidFill>
                <a:uFill>
                  <a:solidFill>
                    <a:srgbClr val="77923B"/>
                  </a:solidFill>
                </a:uFill>
                <a:latin typeface="Calibri"/>
                <a:cs typeface="Calibri"/>
              </a:rPr>
              <a:t>MIT</a:t>
            </a:r>
            <a:r>
              <a:rPr sz="2800" u="sng" spc="375" dirty="0">
                <a:solidFill>
                  <a:srgbClr val="77923B"/>
                </a:solidFill>
                <a:uFill>
                  <a:solidFill>
                    <a:srgbClr val="77923B"/>
                  </a:solidFill>
                </a:uFill>
                <a:latin typeface="Calibri"/>
                <a:cs typeface="Calibri"/>
              </a:rPr>
              <a:t>   </a:t>
            </a:r>
            <a:r>
              <a:rPr sz="2800" u="sng" spc="-10" dirty="0">
                <a:solidFill>
                  <a:srgbClr val="77923B"/>
                </a:solidFill>
                <a:uFill>
                  <a:solidFill>
                    <a:srgbClr val="77923B"/>
                  </a:solidFill>
                </a:uFill>
                <a:latin typeface="Calibri"/>
                <a:cs typeface="Calibri"/>
              </a:rPr>
              <a:t>instrumentation</a:t>
            </a:r>
            <a:r>
              <a:rPr sz="2800" spc="-10" dirty="0">
                <a:solidFill>
                  <a:srgbClr val="77923B"/>
                </a:solidFill>
                <a:latin typeface="Calibri"/>
                <a:cs typeface="Calibri"/>
              </a:rPr>
              <a:t> </a:t>
            </a:r>
            <a:r>
              <a:rPr sz="2800" spc="-10" dirty="0">
                <a:latin typeface="Calibri"/>
                <a:cs typeface="Calibri"/>
              </a:rPr>
              <a:t>laboratory</a:t>
            </a:r>
            <a:r>
              <a:rPr sz="2800" spc="-90" dirty="0">
                <a:latin typeface="Calibri"/>
                <a:cs typeface="Calibri"/>
              </a:rPr>
              <a:t> </a:t>
            </a:r>
            <a:r>
              <a:rPr sz="2800" dirty="0">
                <a:latin typeface="Calibri"/>
                <a:cs typeface="Calibri"/>
              </a:rPr>
              <a:t>for</a:t>
            </a:r>
            <a:r>
              <a:rPr sz="2800" spc="-75" dirty="0">
                <a:latin typeface="Calibri"/>
                <a:cs typeface="Calibri"/>
              </a:rPr>
              <a:t> </a:t>
            </a:r>
            <a:r>
              <a:rPr sz="2800" dirty="0">
                <a:latin typeface="Calibri"/>
                <a:cs typeface="Calibri"/>
              </a:rPr>
              <a:t>the</a:t>
            </a:r>
            <a:r>
              <a:rPr sz="2800" spc="-70" dirty="0">
                <a:latin typeface="Calibri"/>
                <a:cs typeface="Calibri"/>
              </a:rPr>
              <a:t> </a:t>
            </a:r>
            <a:r>
              <a:rPr sz="2800" u="sng" dirty="0">
                <a:solidFill>
                  <a:srgbClr val="FF00FF"/>
                </a:solidFill>
                <a:uFill>
                  <a:solidFill>
                    <a:srgbClr val="FF00FF"/>
                  </a:solidFill>
                </a:uFill>
                <a:latin typeface="Calibri"/>
                <a:cs typeface="Calibri"/>
              </a:rPr>
              <a:t>LUNAR</a:t>
            </a:r>
            <a:r>
              <a:rPr sz="2800" u="sng" spc="-70" dirty="0">
                <a:solidFill>
                  <a:srgbClr val="FF00FF"/>
                </a:solidFill>
                <a:uFill>
                  <a:solidFill>
                    <a:srgbClr val="FF00FF"/>
                  </a:solidFill>
                </a:uFill>
                <a:latin typeface="Calibri"/>
                <a:cs typeface="Calibri"/>
              </a:rPr>
              <a:t> </a:t>
            </a:r>
            <a:r>
              <a:rPr sz="2800" u="sng" spc="-10" dirty="0">
                <a:solidFill>
                  <a:srgbClr val="FF00FF"/>
                </a:solidFill>
                <a:uFill>
                  <a:solidFill>
                    <a:srgbClr val="FF00FF"/>
                  </a:solidFill>
                </a:uFill>
                <a:latin typeface="Calibri"/>
                <a:cs typeface="Calibri"/>
              </a:rPr>
              <a:t>EXPEDITION</a:t>
            </a:r>
            <a:r>
              <a:rPr sz="2800" spc="-10" dirty="0">
                <a:latin typeface="Calibri"/>
                <a:cs typeface="Calibri"/>
              </a:rPr>
              <a:t>.</a:t>
            </a:r>
            <a:endParaRPr sz="2800" dirty="0">
              <a:latin typeface="Calibri"/>
              <a:cs typeface="Calibri"/>
            </a:endParaRPr>
          </a:p>
          <a:p>
            <a:pPr marL="468630" marR="6985" indent="-457200" algn="just">
              <a:spcBef>
                <a:spcPts val="770"/>
              </a:spcBef>
              <a:buSzPct val="96875"/>
              <a:buFont typeface="Wingdings" panose="05000000000000000000" pitchFamily="2" charset="2"/>
              <a:buChar char="§"/>
              <a:tabLst>
                <a:tab pos="355600" algn="l"/>
                <a:tab pos="375285" algn="l"/>
              </a:tabLst>
            </a:pPr>
            <a:r>
              <a:rPr sz="2800" dirty="0">
                <a:latin typeface="Calibri"/>
                <a:cs typeface="Calibri"/>
              </a:rPr>
              <a:t>They</a:t>
            </a:r>
            <a:r>
              <a:rPr sz="2800" spc="-15" dirty="0">
                <a:latin typeface="Calibri"/>
                <a:cs typeface="Calibri"/>
              </a:rPr>
              <a:t> </a:t>
            </a:r>
            <a:r>
              <a:rPr sz="2800" dirty="0">
                <a:latin typeface="Calibri"/>
                <a:cs typeface="Calibri"/>
              </a:rPr>
              <a:t>ran</a:t>
            </a:r>
            <a:r>
              <a:rPr sz="2800" spc="-10" dirty="0">
                <a:latin typeface="Calibri"/>
                <a:cs typeface="Calibri"/>
              </a:rPr>
              <a:t> </a:t>
            </a:r>
            <a:r>
              <a:rPr sz="2800" dirty="0">
                <a:latin typeface="Calibri"/>
                <a:cs typeface="Calibri"/>
              </a:rPr>
              <a:t>the</a:t>
            </a:r>
            <a:r>
              <a:rPr sz="2800" spc="-15" dirty="0">
                <a:latin typeface="Calibri"/>
                <a:cs typeface="Calibri"/>
              </a:rPr>
              <a:t> </a:t>
            </a:r>
            <a:r>
              <a:rPr sz="2800" dirty="0">
                <a:latin typeface="Calibri"/>
                <a:cs typeface="Calibri"/>
              </a:rPr>
              <a:t>inertial</a:t>
            </a:r>
            <a:r>
              <a:rPr sz="2800" spc="-10" dirty="0">
                <a:latin typeface="Calibri"/>
                <a:cs typeface="Calibri"/>
              </a:rPr>
              <a:t> </a:t>
            </a:r>
            <a:r>
              <a:rPr sz="2800" dirty="0">
                <a:latin typeface="Calibri"/>
                <a:cs typeface="Calibri"/>
              </a:rPr>
              <a:t>guidance</a:t>
            </a:r>
            <a:r>
              <a:rPr sz="2800" spc="5" dirty="0">
                <a:latin typeface="Calibri"/>
                <a:cs typeface="Calibri"/>
              </a:rPr>
              <a:t> </a:t>
            </a:r>
            <a:r>
              <a:rPr sz="2800" dirty="0">
                <a:latin typeface="Calibri"/>
                <a:cs typeface="Calibri"/>
              </a:rPr>
              <a:t>systems</a:t>
            </a:r>
            <a:r>
              <a:rPr sz="2800" spc="-5" dirty="0">
                <a:latin typeface="Calibri"/>
                <a:cs typeface="Calibri"/>
              </a:rPr>
              <a:t> </a:t>
            </a:r>
            <a:r>
              <a:rPr sz="2800" dirty="0">
                <a:latin typeface="Calibri"/>
                <a:cs typeface="Calibri"/>
              </a:rPr>
              <a:t>of</a:t>
            </a:r>
            <a:r>
              <a:rPr sz="2800" spc="-15" dirty="0">
                <a:latin typeface="Calibri"/>
                <a:cs typeface="Calibri"/>
              </a:rPr>
              <a:t> </a:t>
            </a:r>
            <a:r>
              <a:rPr sz="2800" spc="-20" dirty="0">
                <a:latin typeface="Calibri"/>
                <a:cs typeface="Calibri"/>
              </a:rPr>
              <a:t>both </a:t>
            </a:r>
            <a:r>
              <a:rPr sz="2800" dirty="0">
                <a:latin typeface="Calibri"/>
                <a:cs typeface="Calibri"/>
              </a:rPr>
              <a:t>the</a:t>
            </a:r>
            <a:r>
              <a:rPr sz="2800" spc="415" dirty="0">
                <a:latin typeface="Calibri"/>
                <a:cs typeface="Calibri"/>
              </a:rPr>
              <a:t>   </a:t>
            </a:r>
            <a:r>
              <a:rPr sz="2800" dirty="0">
                <a:solidFill>
                  <a:srgbClr val="E36C09"/>
                </a:solidFill>
                <a:latin typeface="Calibri"/>
                <a:cs typeface="Calibri"/>
              </a:rPr>
              <a:t>Command</a:t>
            </a:r>
            <a:r>
              <a:rPr sz="2800" spc="420" dirty="0">
                <a:solidFill>
                  <a:srgbClr val="E36C09"/>
                </a:solidFill>
                <a:latin typeface="Calibri"/>
                <a:cs typeface="Calibri"/>
              </a:rPr>
              <a:t>   </a:t>
            </a:r>
            <a:r>
              <a:rPr sz="2800" dirty="0">
                <a:solidFill>
                  <a:srgbClr val="E36C09"/>
                </a:solidFill>
                <a:latin typeface="Calibri"/>
                <a:cs typeface="Calibri"/>
              </a:rPr>
              <a:t>Module(CM)</a:t>
            </a:r>
            <a:r>
              <a:rPr sz="2800" spc="425" dirty="0">
                <a:solidFill>
                  <a:srgbClr val="E36C09"/>
                </a:solidFill>
                <a:latin typeface="Calibri"/>
                <a:cs typeface="Calibri"/>
              </a:rPr>
              <a:t>   </a:t>
            </a:r>
            <a:r>
              <a:rPr sz="2800" dirty="0">
                <a:latin typeface="Calibri"/>
                <a:cs typeface="Calibri"/>
              </a:rPr>
              <a:t>and</a:t>
            </a:r>
            <a:r>
              <a:rPr sz="2800" spc="425" dirty="0">
                <a:latin typeface="Calibri"/>
                <a:cs typeface="Calibri"/>
              </a:rPr>
              <a:t>   </a:t>
            </a:r>
            <a:r>
              <a:rPr sz="2800" u="sng" spc="-10" dirty="0">
                <a:solidFill>
                  <a:srgbClr val="006FC0"/>
                </a:solidFill>
                <a:uFill>
                  <a:solidFill>
                    <a:srgbClr val="006FC0"/>
                  </a:solidFill>
                </a:uFill>
                <a:latin typeface="Calibri"/>
                <a:cs typeface="Calibri"/>
              </a:rPr>
              <a:t>Lunar</a:t>
            </a:r>
            <a:r>
              <a:rPr sz="2800" spc="-10" dirty="0">
                <a:solidFill>
                  <a:srgbClr val="006FC0"/>
                </a:solidFill>
                <a:latin typeface="Calibri"/>
                <a:cs typeface="Calibri"/>
              </a:rPr>
              <a:t> </a:t>
            </a:r>
            <a:r>
              <a:rPr sz="2800" u="sng" dirty="0">
                <a:solidFill>
                  <a:srgbClr val="006FC0"/>
                </a:solidFill>
                <a:uFill>
                  <a:solidFill>
                    <a:srgbClr val="006FC0"/>
                  </a:solidFill>
                </a:uFill>
                <a:latin typeface="Calibri"/>
                <a:cs typeface="Calibri"/>
              </a:rPr>
              <a:t>Excursion</a:t>
            </a:r>
            <a:r>
              <a:rPr sz="2800" u="sng" spc="-180" dirty="0">
                <a:solidFill>
                  <a:srgbClr val="006FC0"/>
                </a:solidFill>
                <a:uFill>
                  <a:solidFill>
                    <a:srgbClr val="006FC0"/>
                  </a:solidFill>
                </a:uFill>
                <a:latin typeface="Calibri"/>
                <a:cs typeface="Calibri"/>
              </a:rPr>
              <a:t> </a:t>
            </a:r>
            <a:r>
              <a:rPr sz="2800" u="sng" spc="-10" dirty="0">
                <a:solidFill>
                  <a:srgbClr val="006FC0"/>
                </a:solidFill>
                <a:uFill>
                  <a:solidFill>
                    <a:srgbClr val="006FC0"/>
                  </a:solidFill>
                </a:uFill>
                <a:latin typeface="Calibri"/>
                <a:cs typeface="Calibri"/>
              </a:rPr>
              <a:t>Module(LEM).</a:t>
            </a:r>
            <a:endParaRPr sz="2800" dirty="0">
              <a:latin typeface="Calibri"/>
              <a:cs typeface="Calibri"/>
            </a:endParaRPr>
          </a:p>
          <a:p>
            <a:pPr marL="468630" marR="5080" indent="-457200" algn="just">
              <a:spcBef>
                <a:spcPts val="770"/>
              </a:spcBef>
              <a:buSzPct val="96875"/>
              <a:buFont typeface="Wingdings" panose="05000000000000000000" pitchFamily="2" charset="2"/>
              <a:buChar char="§"/>
              <a:tabLst>
                <a:tab pos="355600" algn="l"/>
                <a:tab pos="375285" algn="l"/>
              </a:tabLst>
            </a:pPr>
            <a:r>
              <a:rPr sz="2800" dirty="0">
                <a:latin typeface="Calibri"/>
                <a:cs typeface="Calibri"/>
              </a:rPr>
              <a:t>The</a:t>
            </a:r>
            <a:r>
              <a:rPr sz="2800" spc="550" dirty="0">
                <a:latin typeface="Calibri"/>
                <a:cs typeface="Calibri"/>
              </a:rPr>
              <a:t>  </a:t>
            </a:r>
            <a:r>
              <a:rPr sz="2800" dirty="0">
                <a:solidFill>
                  <a:srgbClr val="FF0000"/>
                </a:solidFill>
                <a:latin typeface="Calibri"/>
                <a:cs typeface="Calibri"/>
              </a:rPr>
              <a:t>command</a:t>
            </a:r>
            <a:r>
              <a:rPr sz="2800" spc="560" dirty="0">
                <a:solidFill>
                  <a:srgbClr val="FF0000"/>
                </a:solidFill>
                <a:latin typeface="Calibri"/>
                <a:cs typeface="Calibri"/>
              </a:rPr>
              <a:t>  </a:t>
            </a:r>
            <a:r>
              <a:rPr sz="2800" dirty="0">
                <a:solidFill>
                  <a:srgbClr val="FF0000"/>
                </a:solidFill>
                <a:latin typeface="Calibri"/>
                <a:cs typeface="Calibri"/>
              </a:rPr>
              <a:t>module</a:t>
            </a:r>
            <a:r>
              <a:rPr sz="2800" spc="555" dirty="0">
                <a:solidFill>
                  <a:srgbClr val="FF0000"/>
                </a:solidFill>
                <a:latin typeface="Calibri"/>
                <a:cs typeface="Calibri"/>
              </a:rPr>
              <a:t>  </a:t>
            </a:r>
            <a:r>
              <a:rPr sz="2800" dirty="0">
                <a:latin typeface="Calibri"/>
                <a:cs typeface="Calibri"/>
              </a:rPr>
              <a:t>was</a:t>
            </a:r>
            <a:r>
              <a:rPr sz="2800" spc="550" dirty="0">
                <a:latin typeface="Calibri"/>
                <a:cs typeface="Calibri"/>
              </a:rPr>
              <a:t>  </a:t>
            </a:r>
            <a:r>
              <a:rPr sz="2800" dirty="0">
                <a:latin typeface="Calibri"/>
                <a:cs typeface="Calibri"/>
              </a:rPr>
              <a:t>designed</a:t>
            </a:r>
            <a:r>
              <a:rPr sz="2800" spc="560" dirty="0">
                <a:latin typeface="Calibri"/>
                <a:cs typeface="Calibri"/>
              </a:rPr>
              <a:t>  </a:t>
            </a:r>
            <a:r>
              <a:rPr sz="2800" spc="-25" dirty="0">
                <a:latin typeface="Calibri"/>
                <a:cs typeface="Calibri"/>
              </a:rPr>
              <a:t>to </a:t>
            </a:r>
            <a:r>
              <a:rPr sz="2800" dirty="0">
                <a:latin typeface="Calibri"/>
                <a:cs typeface="Calibri"/>
              </a:rPr>
              <a:t>encircle</a:t>
            </a:r>
            <a:r>
              <a:rPr sz="2800" spc="40" dirty="0">
                <a:latin typeface="Calibri"/>
                <a:cs typeface="Calibri"/>
              </a:rPr>
              <a:t>  </a:t>
            </a:r>
            <a:r>
              <a:rPr sz="2800" dirty="0">
                <a:latin typeface="Calibri"/>
                <a:cs typeface="Calibri"/>
              </a:rPr>
              <a:t>the</a:t>
            </a:r>
            <a:r>
              <a:rPr sz="2800" spc="65" dirty="0">
                <a:latin typeface="Calibri"/>
                <a:cs typeface="Calibri"/>
              </a:rPr>
              <a:t>  </a:t>
            </a:r>
            <a:r>
              <a:rPr sz="2800" dirty="0">
                <a:latin typeface="Calibri"/>
                <a:cs typeface="Calibri"/>
              </a:rPr>
              <a:t>moon</a:t>
            </a:r>
            <a:r>
              <a:rPr sz="2800" spc="60" dirty="0">
                <a:latin typeface="Calibri"/>
                <a:cs typeface="Calibri"/>
              </a:rPr>
              <a:t>  </a:t>
            </a:r>
            <a:r>
              <a:rPr sz="2800" dirty="0">
                <a:latin typeface="Calibri"/>
                <a:cs typeface="Calibri"/>
              </a:rPr>
              <a:t>while</a:t>
            </a:r>
            <a:r>
              <a:rPr sz="2800" spc="65" dirty="0">
                <a:latin typeface="Calibri"/>
                <a:cs typeface="Calibri"/>
              </a:rPr>
              <a:t>  </a:t>
            </a:r>
            <a:r>
              <a:rPr sz="2800" dirty="0">
                <a:latin typeface="Calibri"/>
                <a:cs typeface="Calibri"/>
              </a:rPr>
              <a:t>the</a:t>
            </a:r>
            <a:r>
              <a:rPr sz="2800" spc="55" dirty="0">
                <a:latin typeface="Calibri"/>
                <a:cs typeface="Calibri"/>
              </a:rPr>
              <a:t>  </a:t>
            </a:r>
            <a:r>
              <a:rPr sz="2800" dirty="0">
                <a:solidFill>
                  <a:srgbClr val="6F2F9F"/>
                </a:solidFill>
                <a:latin typeface="Calibri"/>
                <a:cs typeface="Calibri"/>
              </a:rPr>
              <a:t>Lunar</a:t>
            </a:r>
            <a:r>
              <a:rPr sz="2800" spc="65" dirty="0">
                <a:solidFill>
                  <a:srgbClr val="6F2F9F"/>
                </a:solidFill>
                <a:latin typeface="Calibri"/>
                <a:cs typeface="Calibri"/>
              </a:rPr>
              <a:t>  </a:t>
            </a:r>
            <a:r>
              <a:rPr sz="2800" spc="-10" dirty="0">
                <a:solidFill>
                  <a:srgbClr val="6F2F9F"/>
                </a:solidFill>
                <a:latin typeface="Calibri"/>
                <a:cs typeface="Calibri"/>
              </a:rPr>
              <a:t>Module </a:t>
            </a:r>
            <a:r>
              <a:rPr sz="2800" dirty="0">
                <a:latin typeface="Calibri"/>
                <a:cs typeface="Calibri"/>
              </a:rPr>
              <a:t>and</a:t>
            </a:r>
            <a:r>
              <a:rPr sz="2800" spc="85" dirty="0">
                <a:latin typeface="Calibri"/>
                <a:cs typeface="Calibri"/>
              </a:rPr>
              <a:t> </a:t>
            </a:r>
            <a:r>
              <a:rPr sz="2800" dirty="0">
                <a:latin typeface="Calibri"/>
                <a:cs typeface="Calibri"/>
              </a:rPr>
              <a:t>its</a:t>
            </a:r>
            <a:r>
              <a:rPr sz="2800" spc="70" dirty="0">
                <a:latin typeface="Calibri"/>
                <a:cs typeface="Calibri"/>
              </a:rPr>
              <a:t> </a:t>
            </a:r>
            <a:r>
              <a:rPr sz="2800" dirty="0">
                <a:latin typeface="Calibri"/>
                <a:cs typeface="Calibri"/>
              </a:rPr>
              <a:t>crew</a:t>
            </a:r>
            <a:r>
              <a:rPr sz="2800" spc="65" dirty="0">
                <a:latin typeface="Calibri"/>
                <a:cs typeface="Calibri"/>
              </a:rPr>
              <a:t> </a:t>
            </a:r>
            <a:r>
              <a:rPr sz="2800" dirty="0">
                <a:latin typeface="Calibri"/>
                <a:cs typeface="Calibri"/>
              </a:rPr>
              <a:t>were</a:t>
            </a:r>
            <a:r>
              <a:rPr sz="2800" spc="75" dirty="0">
                <a:latin typeface="Calibri"/>
                <a:cs typeface="Calibri"/>
              </a:rPr>
              <a:t> </a:t>
            </a:r>
            <a:r>
              <a:rPr sz="2800" dirty="0">
                <a:latin typeface="Calibri"/>
                <a:cs typeface="Calibri"/>
              </a:rPr>
              <a:t>designed</a:t>
            </a:r>
            <a:r>
              <a:rPr sz="2800" spc="85" dirty="0">
                <a:latin typeface="Calibri"/>
                <a:cs typeface="Calibri"/>
              </a:rPr>
              <a:t> </a:t>
            </a:r>
            <a:r>
              <a:rPr sz="2800" dirty="0">
                <a:latin typeface="Calibri"/>
                <a:cs typeface="Calibri"/>
              </a:rPr>
              <a:t>to</a:t>
            </a:r>
            <a:r>
              <a:rPr sz="2800" spc="90" dirty="0">
                <a:latin typeface="Calibri"/>
                <a:cs typeface="Calibri"/>
              </a:rPr>
              <a:t> </a:t>
            </a:r>
            <a:r>
              <a:rPr sz="2800" dirty="0">
                <a:latin typeface="Calibri"/>
                <a:cs typeface="Calibri"/>
              </a:rPr>
              <a:t>go</a:t>
            </a:r>
            <a:r>
              <a:rPr sz="2800" spc="80" dirty="0">
                <a:latin typeface="Calibri"/>
                <a:cs typeface="Calibri"/>
              </a:rPr>
              <a:t> </a:t>
            </a:r>
            <a:r>
              <a:rPr sz="2800" dirty="0">
                <a:latin typeface="Calibri"/>
                <a:cs typeface="Calibri"/>
              </a:rPr>
              <a:t>down</a:t>
            </a:r>
            <a:r>
              <a:rPr sz="2800" spc="90" dirty="0">
                <a:latin typeface="Calibri"/>
                <a:cs typeface="Calibri"/>
              </a:rPr>
              <a:t> </a:t>
            </a:r>
            <a:r>
              <a:rPr sz="2800" dirty="0">
                <a:latin typeface="Calibri"/>
                <a:cs typeface="Calibri"/>
              </a:rPr>
              <a:t>to</a:t>
            </a:r>
            <a:r>
              <a:rPr sz="2800" spc="80" dirty="0">
                <a:latin typeface="Calibri"/>
                <a:cs typeface="Calibri"/>
              </a:rPr>
              <a:t> </a:t>
            </a:r>
            <a:r>
              <a:rPr sz="2800" spc="-25" dirty="0">
                <a:latin typeface="Calibri"/>
                <a:cs typeface="Calibri"/>
              </a:rPr>
              <a:t>the </a:t>
            </a:r>
            <a:r>
              <a:rPr sz="2800" dirty="0">
                <a:latin typeface="Calibri"/>
                <a:cs typeface="Calibri"/>
              </a:rPr>
              <a:t>moon</a:t>
            </a:r>
            <a:r>
              <a:rPr sz="2800" spc="-55" dirty="0">
                <a:latin typeface="Calibri"/>
                <a:cs typeface="Calibri"/>
              </a:rPr>
              <a:t> </a:t>
            </a:r>
            <a:r>
              <a:rPr sz="2800" dirty="0">
                <a:latin typeface="Calibri"/>
                <a:cs typeface="Calibri"/>
              </a:rPr>
              <a:t>surface</a:t>
            </a:r>
            <a:r>
              <a:rPr sz="2800" spc="-55" dirty="0">
                <a:latin typeface="Calibri"/>
                <a:cs typeface="Calibri"/>
              </a:rPr>
              <a:t> </a:t>
            </a:r>
            <a:r>
              <a:rPr sz="2800" dirty="0">
                <a:latin typeface="Calibri"/>
                <a:cs typeface="Calibri"/>
              </a:rPr>
              <a:t>and</a:t>
            </a:r>
            <a:r>
              <a:rPr sz="2800" spc="-45" dirty="0">
                <a:latin typeface="Calibri"/>
                <a:cs typeface="Calibri"/>
              </a:rPr>
              <a:t> </a:t>
            </a:r>
            <a:r>
              <a:rPr sz="2800" dirty="0">
                <a:latin typeface="Calibri"/>
                <a:cs typeface="Calibri"/>
              </a:rPr>
              <a:t>land</a:t>
            </a:r>
            <a:r>
              <a:rPr sz="2800" spc="-45" dirty="0">
                <a:latin typeface="Calibri"/>
                <a:cs typeface="Calibri"/>
              </a:rPr>
              <a:t> </a:t>
            </a:r>
            <a:r>
              <a:rPr sz="2800" dirty="0">
                <a:latin typeface="Calibri"/>
                <a:cs typeface="Calibri"/>
              </a:rPr>
              <a:t>there</a:t>
            </a:r>
            <a:r>
              <a:rPr sz="2800" spc="-75" dirty="0">
                <a:latin typeface="Calibri"/>
                <a:cs typeface="Calibri"/>
              </a:rPr>
              <a:t> </a:t>
            </a:r>
            <a:r>
              <a:rPr sz="2800" spc="-10" dirty="0">
                <a:latin typeface="Calibri"/>
                <a:cs typeface="Calibri"/>
              </a:rPr>
              <a:t>safely.</a:t>
            </a:r>
            <a:endParaRPr lang="en-IN" sz="2800" spc="-10" dirty="0">
              <a:latin typeface="Calibri"/>
              <a:cs typeface="Calibri"/>
            </a:endParaRPr>
          </a:p>
          <a:p>
            <a:pPr marL="468630" marR="5080" indent="-457200" algn="just">
              <a:spcBef>
                <a:spcPts val="770"/>
              </a:spcBef>
              <a:buSzPct val="96875"/>
              <a:buFont typeface="Wingdings" panose="05000000000000000000" pitchFamily="2" charset="2"/>
              <a:buChar char="§"/>
              <a:tabLst>
                <a:tab pos="355600" algn="l"/>
                <a:tab pos="375285" algn="l"/>
              </a:tabLst>
            </a:pPr>
            <a:r>
              <a:rPr lang="en-IN" sz="2800" dirty="0">
                <a:latin typeface="Calibri"/>
                <a:cs typeface="Calibri"/>
              </a:rPr>
              <a:t>The Lunar </a:t>
            </a:r>
            <a:r>
              <a:rPr lang="en-US" sz="2800" dirty="0">
                <a:latin typeface="Calibri"/>
                <a:cs typeface="Calibri"/>
              </a:rPr>
              <a:t>Module featured in total 18 </a:t>
            </a:r>
            <a:r>
              <a:rPr lang="en-US" sz="2800" u="sng" dirty="0">
                <a:solidFill>
                  <a:srgbClr val="6F2F9F"/>
                </a:solidFill>
                <a:uFill>
                  <a:solidFill>
                    <a:srgbClr val="6F2F9F"/>
                  </a:solidFill>
                </a:uFill>
                <a:latin typeface="Calibri"/>
                <a:cs typeface="Calibri"/>
              </a:rPr>
              <a:t>engines.</a:t>
            </a:r>
            <a:r>
              <a:rPr lang="en-US" sz="2800" spc="500" dirty="0">
                <a:solidFill>
                  <a:srgbClr val="6F2F9F"/>
                </a:solidFill>
                <a:latin typeface="Calibri"/>
                <a:cs typeface="Calibri"/>
              </a:rPr>
              <a:t>  </a:t>
            </a:r>
            <a:r>
              <a:rPr lang="en-US" sz="2800" dirty="0">
                <a:latin typeface="Calibri"/>
                <a:cs typeface="Calibri"/>
              </a:rPr>
              <a:t>There</a:t>
            </a:r>
            <a:r>
              <a:rPr lang="en-US" sz="2800" spc="490" dirty="0">
                <a:latin typeface="Calibri"/>
                <a:cs typeface="Calibri"/>
              </a:rPr>
              <a:t>  </a:t>
            </a:r>
            <a:r>
              <a:rPr lang="en-US" sz="2800" dirty="0">
                <a:latin typeface="Calibri"/>
                <a:cs typeface="Calibri"/>
              </a:rPr>
              <a:t>were</a:t>
            </a:r>
            <a:r>
              <a:rPr lang="en-US" sz="2800" spc="495" dirty="0">
                <a:latin typeface="Calibri"/>
                <a:cs typeface="Calibri"/>
              </a:rPr>
              <a:t>  </a:t>
            </a:r>
            <a:r>
              <a:rPr lang="en-US" sz="2800" u="sng" dirty="0">
                <a:solidFill>
                  <a:srgbClr val="FF0000"/>
                </a:solidFill>
                <a:uFill>
                  <a:solidFill>
                    <a:srgbClr val="FF0000"/>
                  </a:solidFill>
                </a:uFill>
                <a:latin typeface="Calibri"/>
                <a:cs typeface="Calibri"/>
              </a:rPr>
              <a:t>16</a:t>
            </a:r>
            <a:r>
              <a:rPr lang="en-US" sz="2800" u="sng" spc="495" dirty="0">
                <a:solidFill>
                  <a:srgbClr val="FF0000"/>
                </a:solidFill>
                <a:uFill>
                  <a:solidFill>
                    <a:srgbClr val="FF0000"/>
                  </a:solidFill>
                </a:uFill>
                <a:latin typeface="Calibri"/>
                <a:cs typeface="Calibri"/>
              </a:rPr>
              <a:t>  </a:t>
            </a:r>
            <a:r>
              <a:rPr lang="en-US" sz="2800" u="sng" dirty="0">
                <a:solidFill>
                  <a:srgbClr val="FF0000"/>
                </a:solidFill>
                <a:uFill>
                  <a:solidFill>
                    <a:srgbClr val="FF0000"/>
                  </a:solidFill>
                </a:uFill>
                <a:latin typeface="Calibri"/>
                <a:cs typeface="Calibri"/>
              </a:rPr>
              <a:t>reaction</a:t>
            </a:r>
            <a:r>
              <a:rPr lang="en-US" sz="2800" u="sng" spc="505" dirty="0">
                <a:solidFill>
                  <a:srgbClr val="FF0000"/>
                </a:solidFill>
                <a:uFill>
                  <a:solidFill>
                    <a:srgbClr val="FF0000"/>
                  </a:solidFill>
                </a:uFill>
                <a:latin typeface="Calibri"/>
                <a:cs typeface="Calibri"/>
              </a:rPr>
              <a:t>  </a:t>
            </a:r>
            <a:r>
              <a:rPr lang="en-US" sz="2800" u="sng" spc="-10" dirty="0">
                <a:solidFill>
                  <a:srgbClr val="FF0000"/>
                </a:solidFill>
                <a:uFill>
                  <a:solidFill>
                    <a:srgbClr val="FF0000"/>
                  </a:solidFill>
                </a:uFill>
                <a:latin typeface="Calibri"/>
                <a:cs typeface="Calibri"/>
              </a:rPr>
              <a:t>control</a:t>
            </a:r>
            <a:r>
              <a:rPr lang="en-US" sz="2800" spc="-10" dirty="0">
                <a:solidFill>
                  <a:srgbClr val="FF0000"/>
                </a:solidFill>
                <a:latin typeface="Calibri"/>
                <a:cs typeface="Calibri"/>
              </a:rPr>
              <a:t> </a:t>
            </a:r>
            <a:r>
              <a:rPr lang="en-US" sz="2800" u="sng" dirty="0">
                <a:solidFill>
                  <a:srgbClr val="FF0000"/>
                </a:solidFill>
                <a:uFill>
                  <a:solidFill>
                    <a:srgbClr val="FF0000"/>
                  </a:solidFill>
                </a:uFill>
                <a:latin typeface="Calibri"/>
                <a:cs typeface="Calibri"/>
              </a:rPr>
              <a:t>thrusters,</a:t>
            </a:r>
            <a:r>
              <a:rPr lang="en-US" sz="2800" spc="150" dirty="0">
                <a:solidFill>
                  <a:srgbClr val="FF0000"/>
                </a:solidFill>
                <a:latin typeface="Calibri"/>
                <a:cs typeface="Calibri"/>
              </a:rPr>
              <a:t>  </a:t>
            </a:r>
            <a:r>
              <a:rPr lang="en-US" sz="2800" dirty="0">
                <a:latin typeface="Calibri"/>
                <a:cs typeface="Calibri"/>
              </a:rPr>
              <a:t>a</a:t>
            </a:r>
            <a:r>
              <a:rPr lang="en-US" sz="2800" spc="165" dirty="0">
                <a:latin typeface="Calibri"/>
                <a:cs typeface="Calibri"/>
              </a:rPr>
              <a:t>  </a:t>
            </a:r>
            <a:r>
              <a:rPr lang="en-US" sz="2800" dirty="0">
                <a:solidFill>
                  <a:srgbClr val="00AF50"/>
                </a:solidFill>
                <a:latin typeface="Calibri"/>
                <a:cs typeface="Calibri"/>
              </a:rPr>
              <a:t>descent</a:t>
            </a:r>
            <a:r>
              <a:rPr lang="en-US" sz="2800" spc="160" dirty="0">
                <a:solidFill>
                  <a:srgbClr val="00AF50"/>
                </a:solidFill>
                <a:latin typeface="Calibri"/>
                <a:cs typeface="Calibri"/>
              </a:rPr>
              <a:t>  </a:t>
            </a:r>
            <a:r>
              <a:rPr lang="en-US" sz="2800" dirty="0">
                <a:solidFill>
                  <a:srgbClr val="00AF50"/>
                </a:solidFill>
                <a:latin typeface="Calibri"/>
                <a:cs typeface="Calibri"/>
              </a:rPr>
              <a:t>engine</a:t>
            </a:r>
            <a:r>
              <a:rPr lang="en-US" sz="2800" spc="160" dirty="0">
                <a:solidFill>
                  <a:srgbClr val="00AF50"/>
                </a:solidFill>
                <a:latin typeface="Calibri"/>
                <a:cs typeface="Calibri"/>
              </a:rPr>
              <a:t>  </a:t>
            </a:r>
            <a:r>
              <a:rPr lang="en-US" sz="2800" dirty="0">
                <a:latin typeface="Calibri"/>
                <a:cs typeface="Calibri"/>
              </a:rPr>
              <a:t>and</a:t>
            </a:r>
            <a:r>
              <a:rPr lang="en-US" sz="2800" spc="170" dirty="0">
                <a:latin typeface="Calibri"/>
                <a:cs typeface="Calibri"/>
              </a:rPr>
              <a:t>  </a:t>
            </a:r>
            <a:r>
              <a:rPr lang="en-US" sz="2800" dirty="0">
                <a:latin typeface="Calibri"/>
                <a:cs typeface="Calibri"/>
              </a:rPr>
              <a:t>an</a:t>
            </a:r>
            <a:r>
              <a:rPr lang="en-US" sz="2800" spc="165" dirty="0">
                <a:latin typeface="Calibri"/>
                <a:cs typeface="Calibri"/>
              </a:rPr>
              <a:t>  </a:t>
            </a:r>
            <a:r>
              <a:rPr lang="en-US" sz="2800" spc="-10" dirty="0">
                <a:solidFill>
                  <a:srgbClr val="E36C09"/>
                </a:solidFill>
                <a:latin typeface="Calibri"/>
                <a:cs typeface="Calibri"/>
              </a:rPr>
              <a:t>ascent engine.</a:t>
            </a:r>
            <a:endParaRPr lang="en-IN" sz="2800" dirty="0">
              <a:latin typeface="Calibri"/>
              <a:cs typeface="Calibri"/>
            </a:endParaRPr>
          </a:p>
          <a:p>
            <a:pPr marL="355600" marR="5080" indent="-344170" algn="just">
              <a:spcBef>
                <a:spcPts val="770"/>
              </a:spcBef>
              <a:buSzPct val="96875"/>
              <a:buFont typeface="Wingdings"/>
              <a:buChar char=""/>
              <a:tabLst>
                <a:tab pos="355600" algn="l"/>
                <a:tab pos="375285" algn="l"/>
              </a:tabLst>
            </a:pPr>
            <a:endParaRPr sz="2800" dirty="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1435510" y="1028445"/>
            <a:ext cx="9694605" cy="6191567"/>
          </a:xfrm>
          <a:prstGeom prst="rect">
            <a:avLst/>
          </a:prstGeom>
        </p:spPr>
        <p:txBody>
          <a:bodyPr vert="horz" wrap="square" lIns="0" tIns="13335" rIns="0" bIns="0" rtlCol="0">
            <a:spAutoFit/>
          </a:bodyPr>
          <a:lstStyle/>
          <a:p>
            <a:pPr marL="469900" marR="5080" indent="-457200" algn="just">
              <a:spcBef>
                <a:spcPts val="770"/>
              </a:spcBef>
              <a:buFont typeface="Wingdings" panose="05000000000000000000" pitchFamily="2" charset="2"/>
              <a:buChar char="§"/>
              <a:tabLst>
                <a:tab pos="355600" algn="l"/>
              </a:tabLst>
            </a:pPr>
            <a:r>
              <a:rPr sz="3200" dirty="0">
                <a:latin typeface="Calibri"/>
                <a:cs typeface="Calibri"/>
              </a:rPr>
              <a:t>The</a:t>
            </a:r>
            <a:r>
              <a:rPr sz="3200" spc="450" dirty="0">
                <a:latin typeface="Calibri"/>
                <a:cs typeface="Calibri"/>
              </a:rPr>
              <a:t> </a:t>
            </a:r>
            <a:r>
              <a:rPr sz="3200" dirty="0">
                <a:solidFill>
                  <a:srgbClr val="C00000"/>
                </a:solidFill>
                <a:latin typeface="Calibri"/>
                <a:cs typeface="Calibri"/>
              </a:rPr>
              <a:t>descent</a:t>
            </a:r>
            <a:r>
              <a:rPr sz="3200" spc="465" dirty="0">
                <a:solidFill>
                  <a:srgbClr val="C00000"/>
                </a:solidFill>
                <a:latin typeface="Calibri"/>
                <a:cs typeface="Calibri"/>
              </a:rPr>
              <a:t> </a:t>
            </a:r>
            <a:r>
              <a:rPr sz="3200" dirty="0">
                <a:solidFill>
                  <a:srgbClr val="C00000"/>
                </a:solidFill>
                <a:latin typeface="Calibri"/>
                <a:cs typeface="Calibri"/>
              </a:rPr>
              <a:t>engine</a:t>
            </a:r>
            <a:r>
              <a:rPr sz="3200" spc="459" dirty="0">
                <a:solidFill>
                  <a:srgbClr val="C00000"/>
                </a:solidFill>
                <a:latin typeface="Calibri"/>
                <a:cs typeface="Calibri"/>
              </a:rPr>
              <a:t> </a:t>
            </a:r>
            <a:r>
              <a:rPr sz="3200" dirty="0">
                <a:latin typeface="Calibri"/>
                <a:cs typeface="Calibri"/>
              </a:rPr>
              <a:t>was</a:t>
            </a:r>
            <a:r>
              <a:rPr sz="3200" spc="450" dirty="0">
                <a:latin typeface="Calibri"/>
                <a:cs typeface="Calibri"/>
              </a:rPr>
              <a:t> </a:t>
            </a:r>
            <a:r>
              <a:rPr sz="3200" dirty="0">
                <a:latin typeface="Calibri"/>
                <a:cs typeface="Calibri"/>
              </a:rPr>
              <a:t>designed</a:t>
            </a:r>
            <a:r>
              <a:rPr sz="3200" spc="470" dirty="0">
                <a:latin typeface="Calibri"/>
                <a:cs typeface="Calibri"/>
              </a:rPr>
              <a:t> </a:t>
            </a:r>
            <a:r>
              <a:rPr sz="3200" dirty="0">
                <a:latin typeface="Calibri"/>
                <a:cs typeface="Calibri"/>
              </a:rPr>
              <a:t>to</a:t>
            </a:r>
            <a:r>
              <a:rPr sz="3200" spc="465" dirty="0">
                <a:latin typeface="Calibri"/>
                <a:cs typeface="Calibri"/>
              </a:rPr>
              <a:t> </a:t>
            </a:r>
            <a:r>
              <a:rPr sz="3200" spc="-10" dirty="0">
                <a:latin typeface="Calibri"/>
                <a:cs typeface="Calibri"/>
              </a:rPr>
              <a:t>provide </a:t>
            </a:r>
            <a:r>
              <a:rPr sz="3200" dirty="0">
                <a:latin typeface="Calibri"/>
                <a:cs typeface="Calibri"/>
              </a:rPr>
              <a:t>thrust</a:t>
            </a:r>
            <a:r>
              <a:rPr sz="3200" spc="585" dirty="0">
                <a:latin typeface="Calibri"/>
                <a:cs typeface="Calibri"/>
              </a:rPr>
              <a:t> </a:t>
            </a:r>
            <a:r>
              <a:rPr sz="3200" dirty="0">
                <a:latin typeface="Calibri"/>
                <a:cs typeface="Calibri"/>
              </a:rPr>
              <a:t>to</a:t>
            </a:r>
            <a:r>
              <a:rPr sz="3200" spc="585" dirty="0">
                <a:latin typeface="Calibri"/>
                <a:cs typeface="Calibri"/>
              </a:rPr>
              <a:t> </a:t>
            </a:r>
            <a:r>
              <a:rPr sz="3200" dirty="0">
                <a:latin typeface="Calibri"/>
                <a:cs typeface="Calibri"/>
              </a:rPr>
              <a:t>the</a:t>
            </a:r>
            <a:r>
              <a:rPr sz="3200" spc="585" dirty="0">
                <a:latin typeface="Calibri"/>
                <a:cs typeface="Calibri"/>
              </a:rPr>
              <a:t> </a:t>
            </a:r>
            <a:r>
              <a:rPr sz="3200" dirty="0">
                <a:latin typeface="Calibri"/>
                <a:cs typeface="Calibri"/>
              </a:rPr>
              <a:t>lunar</a:t>
            </a:r>
            <a:r>
              <a:rPr sz="3200" spc="585" dirty="0">
                <a:latin typeface="Calibri"/>
                <a:cs typeface="Calibri"/>
              </a:rPr>
              <a:t> </a:t>
            </a:r>
            <a:r>
              <a:rPr sz="3200" dirty="0">
                <a:latin typeface="Calibri"/>
                <a:cs typeface="Calibri"/>
              </a:rPr>
              <a:t>module</a:t>
            </a:r>
            <a:r>
              <a:rPr sz="3200" spc="590" dirty="0">
                <a:latin typeface="Calibri"/>
                <a:cs typeface="Calibri"/>
              </a:rPr>
              <a:t> </a:t>
            </a:r>
            <a:r>
              <a:rPr sz="3200" dirty="0">
                <a:latin typeface="Calibri"/>
                <a:cs typeface="Calibri"/>
              </a:rPr>
              <a:t>out</a:t>
            </a:r>
            <a:r>
              <a:rPr sz="3200" spc="570" dirty="0">
                <a:latin typeface="Calibri"/>
                <a:cs typeface="Calibri"/>
              </a:rPr>
              <a:t> </a:t>
            </a:r>
            <a:r>
              <a:rPr sz="3200" dirty="0">
                <a:latin typeface="Calibri"/>
                <a:cs typeface="Calibri"/>
              </a:rPr>
              <a:t>of</a:t>
            </a:r>
            <a:r>
              <a:rPr sz="3200" spc="590" dirty="0">
                <a:latin typeface="Calibri"/>
                <a:cs typeface="Calibri"/>
              </a:rPr>
              <a:t> </a:t>
            </a:r>
            <a:r>
              <a:rPr sz="3200" dirty="0">
                <a:latin typeface="Calibri"/>
                <a:cs typeface="Calibri"/>
              </a:rPr>
              <a:t>the</a:t>
            </a:r>
            <a:r>
              <a:rPr sz="3200" spc="585" dirty="0">
                <a:latin typeface="Calibri"/>
                <a:cs typeface="Calibri"/>
              </a:rPr>
              <a:t> </a:t>
            </a:r>
            <a:r>
              <a:rPr sz="3200" spc="-10" dirty="0">
                <a:latin typeface="Calibri"/>
                <a:cs typeface="Calibri"/>
              </a:rPr>
              <a:t>lunar </a:t>
            </a:r>
            <a:r>
              <a:rPr sz="3200" dirty="0">
                <a:latin typeface="Calibri"/>
                <a:cs typeface="Calibri"/>
              </a:rPr>
              <a:t>orbit</a:t>
            </a:r>
            <a:r>
              <a:rPr sz="3200" spc="-60" dirty="0">
                <a:latin typeface="Calibri"/>
                <a:cs typeface="Calibri"/>
              </a:rPr>
              <a:t> </a:t>
            </a:r>
            <a:r>
              <a:rPr sz="3200" dirty="0">
                <a:latin typeface="Calibri"/>
                <a:cs typeface="Calibri"/>
              </a:rPr>
              <a:t>and</a:t>
            </a:r>
            <a:r>
              <a:rPr sz="3200" spc="-40" dirty="0">
                <a:latin typeface="Calibri"/>
                <a:cs typeface="Calibri"/>
              </a:rPr>
              <a:t> </a:t>
            </a:r>
            <a:r>
              <a:rPr sz="3200" dirty="0">
                <a:latin typeface="Calibri"/>
                <a:cs typeface="Calibri"/>
              </a:rPr>
              <a:t>land</a:t>
            </a:r>
            <a:r>
              <a:rPr sz="3200" spc="-40" dirty="0">
                <a:latin typeface="Calibri"/>
                <a:cs typeface="Calibri"/>
              </a:rPr>
              <a:t> </a:t>
            </a:r>
            <a:r>
              <a:rPr sz="3200" dirty="0">
                <a:latin typeface="Calibri"/>
                <a:cs typeface="Calibri"/>
              </a:rPr>
              <a:t>it</a:t>
            </a:r>
            <a:r>
              <a:rPr sz="3200" spc="-40" dirty="0">
                <a:latin typeface="Calibri"/>
                <a:cs typeface="Calibri"/>
              </a:rPr>
              <a:t> </a:t>
            </a:r>
            <a:r>
              <a:rPr sz="3200" dirty="0">
                <a:latin typeface="Calibri"/>
                <a:cs typeface="Calibri"/>
              </a:rPr>
              <a:t>safely</a:t>
            </a:r>
            <a:r>
              <a:rPr sz="3200" spc="-45" dirty="0">
                <a:latin typeface="Calibri"/>
                <a:cs typeface="Calibri"/>
              </a:rPr>
              <a:t> </a:t>
            </a:r>
            <a:r>
              <a:rPr sz="3200" dirty="0">
                <a:latin typeface="Calibri"/>
                <a:cs typeface="Calibri"/>
              </a:rPr>
              <a:t>on</a:t>
            </a:r>
            <a:r>
              <a:rPr sz="3200" spc="-50" dirty="0">
                <a:latin typeface="Calibri"/>
                <a:cs typeface="Calibri"/>
              </a:rPr>
              <a:t> </a:t>
            </a:r>
            <a:r>
              <a:rPr sz="3200" dirty="0">
                <a:latin typeface="Calibri"/>
                <a:cs typeface="Calibri"/>
              </a:rPr>
              <a:t>the</a:t>
            </a:r>
            <a:r>
              <a:rPr sz="3200" spc="-60" dirty="0">
                <a:latin typeface="Calibri"/>
                <a:cs typeface="Calibri"/>
              </a:rPr>
              <a:t> </a:t>
            </a:r>
            <a:r>
              <a:rPr sz="3200" spc="-10" dirty="0">
                <a:latin typeface="Calibri"/>
                <a:cs typeface="Calibri"/>
              </a:rPr>
              <a:t>moon.</a:t>
            </a:r>
            <a:endParaRPr sz="3200" dirty="0">
              <a:latin typeface="Calibri"/>
              <a:cs typeface="Calibri"/>
            </a:endParaRPr>
          </a:p>
          <a:p>
            <a:pPr marL="469900" marR="7620" indent="-457200" algn="just">
              <a:spcBef>
                <a:spcPts val="770"/>
              </a:spcBef>
              <a:buFont typeface="Wingdings" panose="05000000000000000000" pitchFamily="2" charset="2"/>
              <a:buChar char="§"/>
              <a:tabLst>
                <a:tab pos="355600" algn="l"/>
              </a:tabLst>
            </a:pPr>
            <a:r>
              <a:rPr sz="3200" dirty="0">
                <a:latin typeface="Calibri"/>
                <a:cs typeface="Calibri"/>
              </a:rPr>
              <a:t>The</a:t>
            </a:r>
            <a:r>
              <a:rPr sz="3200" spc="790" dirty="0">
                <a:latin typeface="Calibri"/>
                <a:cs typeface="Calibri"/>
              </a:rPr>
              <a:t> </a:t>
            </a:r>
            <a:r>
              <a:rPr sz="3200" dirty="0">
                <a:latin typeface="Calibri"/>
                <a:cs typeface="Calibri"/>
              </a:rPr>
              <a:t>MIT’s</a:t>
            </a:r>
            <a:r>
              <a:rPr sz="3200" spc="35" dirty="0">
                <a:latin typeface="Calibri"/>
                <a:cs typeface="Calibri"/>
              </a:rPr>
              <a:t>  </a:t>
            </a:r>
            <a:r>
              <a:rPr sz="3200" dirty="0">
                <a:latin typeface="Calibri"/>
                <a:cs typeface="Calibri"/>
              </a:rPr>
              <a:t>original</a:t>
            </a:r>
            <a:r>
              <a:rPr sz="3200" spc="40" dirty="0">
                <a:latin typeface="Calibri"/>
                <a:cs typeface="Calibri"/>
              </a:rPr>
              <a:t>  </a:t>
            </a:r>
            <a:r>
              <a:rPr sz="3200" dirty="0">
                <a:latin typeface="Calibri"/>
                <a:cs typeface="Calibri"/>
              </a:rPr>
              <a:t>design</a:t>
            </a:r>
            <a:r>
              <a:rPr sz="3200" spc="40" dirty="0">
                <a:latin typeface="Calibri"/>
                <a:cs typeface="Calibri"/>
              </a:rPr>
              <a:t>  </a:t>
            </a:r>
            <a:r>
              <a:rPr sz="3200" dirty="0">
                <a:latin typeface="Calibri"/>
                <a:cs typeface="Calibri"/>
              </a:rPr>
              <a:t>was</a:t>
            </a:r>
            <a:r>
              <a:rPr sz="3200" spc="795" dirty="0">
                <a:latin typeface="Calibri"/>
                <a:cs typeface="Calibri"/>
              </a:rPr>
              <a:t> </a:t>
            </a:r>
            <a:r>
              <a:rPr sz="3200" dirty="0">
                <a:latin typeface="Calibri"/>
                <a:cs typeface="Calibri"/>
              </a:rPr>
              <a:t>based</a:t>
            </a:r>
            <a:r>
              <a:rPr sz="3200" spc="35" dirty="0">
                <a:latin typeface="Calibri"/>
                <a:cs typeface="Calibri"/>
              </a:rPr>
              <a:t>  </a:t>
            </a:r>
            <a:r>
              <a:rPr sz="3200" dirty="0">
                <a:latin typeface="Calibri"/>
                <a:cs typeface="Calibri"/>
              </a:rPr>
              <a:t>on</a:t>
            </a:r>
            <a:r>
              <a:rPr sz="3200" spc="45" dirty="0">
                <a:latin typeface="Calibri"/>
                <a:cs typeface="Calibri"/>
              </a:rPr>
              <a:t>  </a:t>
            </a:r>
            <a:r>
              <a:rPr sz="3200" spc="-25" dirty="0">
                <a:latin typeface="Calibri"/>
                <a:cs typeface="Calibri"/>
              </a:rPr>
              <a:t>4K </a:t>
            </a:r>
            <a:r>
              <a:rPr sz="3200" dirty="0">
                <a:latin typeface="Calibri"/>
                <a:cs typeface="Calibri"/>
              </a:rPr>
              <a:t>words</a:t>
            </a:r>
            <a:r>
              <a:rPr sz="3200" spc="-65" dirty="0">
                <a:latin typeface="Calibri"/>
                <a:cs typeface="Calibri"/>
              </a:rPr>
              <a:t> </a:t>
            </a:r>
            <a:r>
              <a:rPr sz="3200" dirty="0">
                <a:latin typeface="Calibri"/>
                <a:cs typeface="Calibri"/>
              </a:rPr>
              <a:t>of</a:t>
            </a:r>
            <a:r>
              <a:rPr sz="3200" spc="-55" dirty="0">
                <a:latin typeface="Calibri"/>
                <a:cs typeface="Calibri"/>
              </a:rPr>
              <a:t> </a:t>
            </a:r>
            <a:r>
              <a:rPr sz="3200" dirty="0">
                <a:solidFill>
                  <a:srgbClr val="00AF50"/>
                </a:solidFill>
                <a:latin typeface="Calibri"/>
                <a:cs typeface="Calibri"/>
              </a:rPr>
              <a:t>ROM</a:t>
            </a:r>
            <a:r>
              <a:rPr sz="3200" spc="-35" dirty="0">
                <a:solidFill>
                  <a:srgbClr val="00AF50"/>
                </a:solidFill>
                <a:latin typeface="Calibri"/>
                <a:cs typeface="Calibri"/>
              </a:rPr>
              <a:t> </a:t>
            </a:r>
            <a:r>
              <a:rPr sz="3200" dirty="0">
                <a:latin typeface="Calibri"/>
                <a:cs typeface="Calibri"/>
              </a:rPr>
              <a:t>and</a:t>
            </a:r>
            <a:r>
              <a:rPr sz="3200" spc="-30" dirty="0">
                <a:latin typeface="Calibri"/>
                <a:cs typeface="Calibri"/>
              </a:rPr>
              <a:t> </a:t>
            </a:r>
            <a:r>
              <a:rPr sz="3200" dirty="0">
                <a:latin typeface="Calibri"/>
                <a:cs typeface="Calibri"/>
              </a:rPr>
              <a:t>256</a:t>
            </a:r>
            <a:r>
              <a:rPr sz="3200" spc="-30" dirty="0">
                <a:latin typeface="Calibri"/>
                <a:cs typeface="Calibri"/>
              </a:rPr>
              <a:t> </a:t>
            </a:r>
            <a:r>
              <a:rPr sz="3200" dirty="0">
                <a:latin typeface="Calibri"/>
                <a:cs typeface="Calibri"/>
              </a:rPr>
              <a:t>words</a:t>
            </a:r>
            <a:r>
              <a:rPr sz="3200" spc="-50" dirty="0">
                <a:latin typeface="Calibri"/>
                <a:cs typeface="Calibri"/>
              </a:rPr>
              <a:t> </a:t>
            </a:r>
            <a:r>
              <a:rPr sz="3200" dirty="0">
                <a:latin typeface="Calibri"/>
                <a:cs typeface="Calibri"/>
              </a:rPr>
              <a:t>of</a:t>
            </a:r>
            <a:r>
              <a:rPr sz="3200" spc="-55" dirty="0">
                <a:latin typeface="Calibri"/>
                <a:cs typeface="Calibri"/>
              </a:rPr>
              <a:t> </a:t>
            </a:r>
            <a:r>
              <a:rPr sz="3200" spc="-20" dirty="0">
                <a:solidFill>
                  <a:srgbClr val="FF00FF"/>
                </a:solidFill>
                <a:latin typeface="Calibri"/>
                <a:cs typeface="Calibri"/>
              </a:rPr>
              <a:t>RAM.</a:t>
            </a:r>
            <a:endParaRPr sz="3200" dirty="0">
              <a:latin typeface="Calibri"/>
              <a:cs typeface="Calibri"/>
            </a:endParaRPr>
          </a:p>
          <a:p>
            <a:pPr marL="469900" marR="6350" indent="-457200" algn="just">
              <a:spcBef>
                <a:spcPts val="770"/>
              </a:spcBef>
              <a:buFont typeface="Wingdings" panose="05000000000000000000" pitchFamily="2" charset="2"/>
              <a:buChar char="§"/>
              <a:tabLst>
                <a:tab pos="355600" algn="l"/>
              </a:tabLst>
            </a:pPr>
            <a:r>
              <a:rPr sz="3200" dirty="0">
                <a:latin typeface="Calibri"/>
                <a:cs typeface="Calibri"/>
              </a:rPr>
              <a:t>By</a:t>
            </a:r>
            <a:r>
              <a:rPr sz="3200" spc="615" dirty="0">
                <a:latin typeface="Calibri"/>
                <a:cs typeface="Calibri"/>
              </a:rPr>
              <a:t>  </a:t>
            </a:r>
            <a:r>
              <a:rPr sz="3200" dirty="0">
                <a:latin typeface="Calibri"/>
                <a:cs typeface="Calibri"/>
              </a:rPr>
              <a:t>june</a:t>
            </a:r>
            <a:r>
              <a:rPr sz="3200" spc="625" dirty="0">
                <a:latin typeface="Calibri"/>
                <a:cs typeface="Calibri"/>
              </a:rPr>
              <a:t> </a:t>
            </a:r>
            <a:r>
              <a:rPr sz="3200" dirty="0">
                <a:solidFill>
                  <a:srgbClr val="001F5F"/>
                </a:solidFill>
                <a:latin typeface="Calibri"/>
                <a:cs typeface="Calibri"/>
              </a:rPr>
              <a:t>1963</a:t>
            </a:r>
            <a:r>
              <a:rPr sz="3200" dirty="0">
                <a:latin typeface="Calibri"/>
                <a:cs typeface="Calibri"/>
              </a:rPr>
              <a:t>,</a:t>
            </a:r>
            <a:r>
              <a:rPr sz="3200" spc="630" dirty="0">
                <a:latin typeface="Calibri"/>
                <a:cs typeface="Calibri"/>
              </a:rPr>
              <a:t> </a:t>
            </a:r>
            <a:r>
              <a:rPr sz="3200" dirty="0">
                <a:latin typeface="Calibri"/>
                <a:cs typeface="Calibri"/>
              </a:rPr>
              <a:t>it</a:t>
            </a:r>
            <a:r>
              <a:rPr sz="3200" spc="625" dirty="0">
                <a:latin typeface="Calibri"/>
                <a:cs typeface="Calibri"/>
              </a:rPr>
              <a:t> </a:t>
            </a:r>
            <a:r>
              <a:rPr sz="3200" dirty="0">
                <a:latin typeface="Calibri"/>
                <a:cs typeface="Calibri"/>
              </a:rPr>
              <a:t>reached</a:t>
            </a:r>
            <a:r>
              <a:rPr sz="3200" spc="630" dirty="0">
                <a:latin typeface="Calibri"/>
                <a:cs typeface="Calibri"/>
              </a:rPr>
              <a:t> </a:t>
            </a:r>
            <a:r>
              <a:rPr sz="3200" dirty="0">
                <a:latin typeface="Calibri"/>
                <a:cs typeface="Calibri"/>
              </a:rPr>
              <a:t>10K</a:t>
            </a:r>
            <a:r>
              <a:rPr sz="3200" spc="620" dirty="0">
                <a:latin typeface="Calibri"/>
                <a:cs typeface="Calibri"/>
              </a:rPr>
              <a:t> </a:t>
            </a:r>
            <a:r>
              <a:rPr sz="3200" dirty="0">
                <a:solidFill>
                  <a:srgbClr val="00AF50"/>
                </a:solidFill>
                <a:latin typeface="Calibri"/>
                <a:cs typeface="Calibri"/>
              </a:rPr>
              <a:t>ROM</a:t>
            </a:r>
            <a:r>
              <a:rPr sz="3200" spc="615" dirty="0">
                <a:solidFill>
                  <a:srgbClr val="00AF50"/>
                </a:solidFill>
                <a:latin typeface="Calibri"/>
                <a:cs typeface="Calibri"/>
              </a:rPr>
              <a:t> </a:t>
            </a:r>
            <a:r>
              <a:rPr sz="3200" dirty="0">
                <a:latin typeface="Calibri"/>
                <a:cs typeface="Calibri"/>
              </a:rPr>
              <a:t>and</a:t>
            </a:r>
            <a:r>
              <a:rPr sz="3200" spc="635" dirty="0">
                <a:latin typeface="Calibri"/>
                <a:cs typeface="Calibri"/>
              </a:rPr>
              <a:t> </a:t>
            </a:r>
            <a:r>
              <a:rPr sz="3200" spc="-25" dirty="0">
                <a:latin typeface="Calibri"/>
                <a:cs typeface="Calibri"/>
              </a:rPr>
              <a:t>1K </a:t>
            </a:r>
            <a:r>
              <a:rPr sz="3200" spc="-20" dirty="0">
                <a:solidFill>
                  <a:srgbClr val="FF00FF"/>
                </a:solidFill>
                <a:latin typeface="Calibri"/>
                <a:cs typeface="Calibri"/>
              </a:rPr>
              <a:t>RAM</a:t>
            </a:r>
            <a:r>
              <a:rPr sz="3200" spc="-20" dirty="0">
                <a:latin typeface="Calibri"/>
                <a:cs typeface="Calibri"/>
              </a:rPr>
              <a:t>.</a:t>
            </a:r>
            <a:endParaRPr lang="en-IN" sz="3200" spc="-20" dirty="0">
              <a:latin typeface="Calibri"/>
              <a:cs typeface="Calibri"/>
            </a:endParaRPr>
          </a:p>
          <a:p>
            <a:pPr marL="469900" indent="-457200">
              <a:spcBef>
                <a:spcPts val="600"/>
              </a:spcBef>
              <a:buFont typeface="Wingdings" panose="05000000000000000000" pitchFamily="2" charset="2"/>
              <a:buChar char="§"/>
              <a:tabLst>
                <a:tab pos="354965" algn="l"/>
              </a:tabLst>
            </a:pPr>
            <a:r>
              <a:rPr lang="en-US" sz="3200" dirty="0">
                <a:latin typeface="Calibri"/>
                <a:cs typeface="Calibri"/>
              </a:rPr>
              <a:t>The</a:t>
            </a:r>
            <a:r>
              <a:rPr lang="en-US" sz="3200" spc="-40" dirty="0">
                <a:latin typeface="Calibri"/>
                <a:cs typeface="Calibri"/>
              </a:rPr>
              <a:t> </a:t>
            </a:r>
            <a:r>
              <a:rPr lang="en-US" sz="3200" dirty="0">
                <a:latin typeface="Calibri"/>
                <a:cs typeface="Calibri"/>
              </a:rPr>
              <a:t>final</a:t>
            </a:r>
            <a:r>
              <a:rPr lang="en-US" sz="3200" spc="-30" dirty="0">
                <a:latin typeface="Calibri"/>
                <a:cs typeface="Calibri"/>
              </a:rPr>
              <a:t> </a:t>
            </a:r>
            <a:r>
              <a:rPr lang="en-US" sz="3200" spc="-10" dirty="0">
                <a:latin typeface="Calibri"/>
                <a:cs typeface="Calibri"/>
              </a:rPr>
              <a:t>configuration</a:t>
            </a:r>
            <a:r>
              <a:rPr lang="en-US" sz="3200" spc="-40" dirty="0">
                <a:latin typeface="Calibri"/>
                <a:cs typeface="Calibri"/>
              </a:rPr>
              <a:t> </a:t>
            </a:r>
            <a:r>
              <a:rPr lang="en-US" sz="3200" dirty="0">
                <a:latin typeface="Calibri"/>
                <a:cs typeface="Calibri"/>
              </a:rPr>
              <a:t>was</a:t>
            </a:r>
            <a:r>
              <a:rPr lang="en-US" sz="3200" spc="-45" dirty="0">
                <a:latin typeface="Calibri"/>
                <a:cs typeface="Calibri"/>
              </a:rPr>
              <a:t> </a:t>
            </a:r>
            <a:r>
              <a:rPr lang="en-US" sz="3200" dirty="0">
                <a:latin typeface="Calibri"/>
                <a:cs typeface="Calibri"/>
              </a:rPr>
              <a:t>36K</a:t>
            </a:r>
            <a:r>
              <a:rPr lang="en-US" sz="3200" spc="-35" dirty="0">
                <a:latin typeface="Calibri"/>
                <a:cs typeface="Calibri"/>
              </a:rPr>
              <a:t> </a:t>
            </a:r>
            <a:r>
              <a:rPr lang="en-US" sz="3200" dirty="0">
                <a:solidFill>
                  <a:srgbClr val="00AFEF"/>
                </a:solidFill>
                <a:latin typeface="Calibri"/>
                <a:cs typeface="Calibri"/>
              </a:rPr>
              <a:t>ROM</a:t>
            </a:r>
            <a:r>
              <a:rPr lang="en-US" sz="3200" spc="-20" dirty="0">
                <a:solidFill>
                  <a:srgbClr val="00AFEF"/>
                </a:solidFill>
                <a:latin typeface="Calibri"/>
                <a:cs typeface="Calibri"/>
              </a:rPr>
              <a:t> </a:t>
            </a:r>
            <a:r>
              <a:rPr lang="en-US" sz="3200" dirty="0">
                <a:latin typeface="Calibri"/>
                <a:cs typeface="Calibri"/>
              </a:rPr>
              <a:t>and</a:t>
            </a:r>
            <a:r>
              <a:rPr lang="en-US" sz="3200" spc="-45" dirty="0">
                <a:latin typeface="Calibri"/>
                <a:cs typeface="Calibri"/>
              </a:rPr>
              <a:t> </a:t>
            </a:r>
            <a:r>
              <a:rPr lang="en-US" sz="3200" dirty="0">
                <a:latin typeface="Calibri"/>
                <a:cs typeface="Calibri"/>
              </a:rPr>
              <a:t>2K</a:t>
            </a:r>
            <a:r>
              <a:rPr lang="en-US" sz="3200" spc="-30" dirty="0">
                <a:latin typeface="Calibri"/>
                <a:cs typeface="Calibri"/>
              </a:rPr>
              <a:t> </a:t>
            </a:r>
            <a:r>
              <a:rPr lang="en-US" sz="3200" dirty="0">
                <a:latin typeface="Calibri"/>
                <a:cs typeface="Calibri"/>
              </a:rPr>
              <a:t>of</a:t>
            </a:r>
            <a:r>
              <a:rPr lang="en-US" sz="3200" spc="-35" dirty="0">
                <a:latin typeface="Calibri"/>
                <a:cs typeface="Calibri"/>
              </a:rPr>
              <a:t> </a:t>
            </a:r>
            <a:r>
              <a:rPr lang="en-US" sz="3200" spc="-20" dirty="0">
                <a:solidFill>
                  <a:srgbClr val="E36C09"/>
                </a:solidFill>
                <a:latin typeface="Calibri"/>
                <a:cs typeface="Calibri"/>
              </a:rPr>
              <a:t>RAM</a:t>
            </a:r>
            <a:r>
              <a:rPr lang="en-US" sz="3200" spc="-20" dirty="0">
                <a:latin typeface="Calibri"/>
                <a:cs typeface="Calibri"/>
              </a:rPr>
              <a:t>.</a:t>
            </a:r>
            <a:endParaRPr lang="en-US" sz="3200" dirty="0">
              <a:latin typeface="Calibri"/>
              <a:cs typeface="Calibri"/>
            </a:endParaRPr>
          </a:p>
          <a:p>
            <a:pPr marL="469900" marR="5080" indent="-457200" algn="just">
              <a:lnSpc>
                <a:spcPct val="80000"/>
              </a:lnSpc>
              <a:spcBef>
                <a:spcPts val="600"/>
              </a:spcBef>
              <a:buFont typeface="Wingdings" panose="05000000000000000000" pitchFamily="2" charset="2"/>
              <a:buChar char="§"/>
              <a:tabLst>
                <a:tab pos="355600" algn="l"/>
              </a:tabLst>
            </a:pPr>
            <a:r>
              <a:rPr lang="en-US" sz="3200" dirty="0">
                <a:latin typeface="Calibri"/>
                <a:cs typeface="Calibri"/>
              </a:rPr>
              <a:t>The</a:t>
            </a:r>
            <a:r>
              <a:rPr lang="en-US" sz="3200" spc="15" dirty="0">
                <a:latin typeface="Calibri"/>
                <a:cs typeface="Calibri"/>
              </a:rPr>
              <a:t> </a:t>
            </a:r>
            <a:r>
              <a:rPr lang="en-US" sz="3200" dirty="0">
                <a:solidFill>
                  <a:srgbClr val="FF00FF"/>
                </a:solidFill>
                <a:latin typeface="Calibri"/>
                <a:cs typeface="Calibri"/>
              </a:rPr>
              <a:t>clock</a:t>
            </a:r>
            <a:r>
              <a:rPr lang="en-US" sz="3200" spc="20" dirty="0">
                <a:solidFill>
                  <a:srgbClr val="FF00FF"/>
                </a:solidFill>
                <a:latin typeface="Calibri"/>
                <a:cs typeface="Calibri"/>
              </a:rPr>
              <a:t> </a:t>
            </a:r>
            <a:r>
              <a:rPr lang="en-US" sz="3200" dirty="0">
                <a:solidFill>
                  <a:srgbClr val="FF00FF"/>
                </a:solidFill>
                <a:latin typeface="Calibri"/>
                <a:cs typeface="Calibri"/>
              </a:rPr>
              <a:t>frequency</a:t>
            </a:r>
            <a:r>
              <a:rPr lang="en-US" sz="3200" spc="20" dirty="0">
                <a:solidFill>
                  <a:srgbClr val="FF00FF"/>
                </a:solidFill>
                <a:latin typeface="Calibri"/>
                <a:cs typeface="Calibri"/>
              </a:rPr>
              <a:t> </a:t>
            </a:r>
            <a:r>
              <a:rPr lang="en-US" sz="3200" dirty="0">
                <a:latin typeface="Calibri"/>
                <a:cs typeface="Calibri"/>
              </a:rPr>
              <a:t>of</a:t>
            </a:r>
            <a:r>
              <a:rPr lang="en-US" sz="3200" spc="35" dirty="0">
                <a:latin typeface="Calibri"/>
                <a:cs typeface="Calibri"/>
              </a:rPr>
              <a:t> </a:t>
            </a:r>
            <a:r>
              <a:rPr lang="en-US" sz="3200" dirty="0">
                <a:latin typeface="Calibri"/>
                <a:cs typeface="Calibri"/>
              </a:rPr>
              <a:t>the</a:t>
            </a:r>
            <a:r>
              <a:rPr lang="en-US" sz="3200" spc="30" dirty="0">
                <a:latin typeface="Calibri"/>
                <a:cs typeface="Calibri"/>
              </a:rPr>
              <a:t> </a:t>
            </a:r>
            <a:r>
              <a:rPr lang="en-US" sz="3200" dirty="0">
                <a:latin typeface="Calibri"/>
                <a:cs typeface="Calibri"/>
              </a:rPr>
              <a:t>first</a:t>
            </a:r>
            <a:r>
              <a:rPr lang="en-US" sz="3200" spc="15" dirty="0">
                <a:latin typeface="Calibri"/>
                <a:cs typeface="Calibri"/>
              </a:rPr>
              <a:t> </a:t>
            </a:r>
            <a:r>
              <a:rPr lang="en-US" sz="3200" dirty="0">
                <a:latin typeface="Calibri"/>
                <a:cs typeface="Calibri"/>
              </a:rPr>
              <a:t>microchip</a:t>
            </a:r>
            <a:r>
              <a:rPr lang="en-US" sz="3200" spc="25" dirty="0">
                <a:latin typeface="Calibri"/>
                <a:cs typeface="Calibri"/>
              </a:rPr>
              <a:t> </a:t>
            </a:r>
            <a:r>
              <a:rPr lang="en-US" sz="3200" dirty="0">
                <a:latin typeface="Calibri"/>
                <a:cs typeface="Calibri"/>
              </a:rPr>
              <a:t>photo</a:t>
            </a:r>
            <a:r>
              <a:rPr lang="en-US" sz="3200" spc="25" dirty="0">
                <a:latin typeface="Calibri"/>
                <a:cs typeface="Calibri"/>
              </a:rPr>
              <a:t> </a:t>
            </a:r>
            <a:r>
              <a:rPr lang="en-US" sz="3200" spc="-10" dirty="0">
                <a:latin typeface="Calibri"/>
                <a:cs typeface="Calibri"/>
              </a:rPr>
              <a:t>model </a:t>
            </a:r>
            <a:r>
              <a:rPr lang="en-US" sz="3200" dirty="0">
                <a:latin typeface="Calibri"/>
                <a:cs typeface="Calibri"/>
              </a:rPr>
              <a:t>used</a:t>
            </a:r>
            <a:r>
              <a:rPr lang="en-US" sz="3200" spc="185" dirty="0">
                <a:latin typeface="Calibri"/>
                <a:cs typeface="Calibri"/>
              </a:rPr>
              <a:t> </a:t>
            </a:r>
            <a:r>
              <a:rPr lang="en-US" sz="3200" dirty="0">
                <a:latin typeface="Calibri"/>
                <a:cs typeface="Calibri"/>
              </a:rPr>
              <a:t>in</a:t>
            </a:r>
            <a:r>
              <a:rPr lang="en-US" sz="3200" spc="200" dirty="0">
                <a:latin typeface="Calibri"/>
                <a:cs typeface="Calibri"/>
              </a:rPr>
              <a:t> </a:t>
            </a:r>
            <a:r>
              <a:rPr lang="en-US" sz="3200" dirty="0">
                <a:latin typeface="Calibri"/>
                <a:cs typeface="Calibri"/>
              </a:rPr>
              <a:t>AGC</a:t>
            </a:r>
            <a:r>
              <a:rPr lang="en-US" sz="3200" spc="195" dirty="0">
                <a:latin typeface="Calibri"/>
                <a:cs typeface="Calibri"/>
              </a:rPr>
              <a:t> </a:t>
            </a:r>
            <a:r>
              <a:rPr lang="en-US" sz="3200" dirty="0">
                <a:latin typeface="Calibri"/>
                <a:cs typeface="Calibri"/>
              </a:rPr>
              <a:t>was</a:t>
            </a:r>
            <a:r>
              <a:rPr lang="en-US" sz="3200" spc="200" dirty="0">
                <a:latin typeface="Calibri"/>
                <a:cs typeface="Calibri"/>
              </a:rPr>
              <a:t> </a:t>
            </a:r>
            <a:r>
              <a:rPr lang="en-US" sz="3200" dirty="0">
                <a:solidFill>
                  <a:srgbClr val="00AF50"/>
                </a:solidFill>
                <a:latin typeface="Calibri"/>
                <a:cs typeface="Calibri"/>
              </a:rPr>
              <a:t>1.024MHz</a:t>
            </a:r>
            <a:r>
              <a:rPr lang="en-US" sz="3200" spc="200" dirty="0">
                <a:solidFill>
                  <a:srgbClr val="00AF50"/>
                </a:solidFill>
                <a:latin typeface="Calibri"/>
                <a:cs typeface="Calibri"/>
              </a:rPr>
              <a:t> </a:t>
            </a:r>
            <a:r>
              <a:rPr lang="en-US" sz="3200" dirty="0">
                <a:latin typeface="Calibri"/>
                <a:cs typeface="Calibri"/>
              </a:rPr>
              <a:t>and</a:t>
            </a:r>
            <a:r>
              <a:rPr lang="en-US" sz="3200" spc="195" dirty="0">
                <a:latin typeface="Calibri"/>
                <a:cs typeface="Calibri"/>
              </a:rPr>
              <a:t> </a:t>
            </a:r>
            <a:r>
              <a:rPr lang="en-US" sz="3200" dirty="0">
                <a:latin typeface="Calibri"/>
                <a:cs typeface="Calibri"/>
              </a:rPr>
              <a:t>it</a:t>
            </a:r>
            <a:r>
              <a:rPr lang="en-US" sz="3200" spc="195" dirty="0">
                <a:latin typeface="Calibri"/>
                <a:cs typeface="Calibri"/>
              </a:rPr>
              <a:t> </a:t>
            </a:r>
            <a:r>
              <a:rPr lang="en-US" sz="3200" dirty="0">
                <a:latin typeface="Calibri"/>
                <a:cs typeface="Calibri"/>
              </a:rPr>
              <a:t>was</a:t>
            </a:r>
            <a:r>
              <a:rPr lang="en-US" sz="3200" spc="200" dirty="0">
                <a:latin typeface="Calibri"/>
                <a:cs typeface="Calibri"/>
              </a:rPr>
              <a:t> </a:t>
            </a:r>
            <a:r>
              <a:rPr lang="en-US" sz="3200" dirty="0">
                <a:latin typeface="Calibri"/>
                <a:cs typeface="Calibri"/>
              </a:rPr>
              <a:t>derived</a:t>
            </a:r>
            <a:r>
              <a:rPr lang="en-US" sz="3200" spc="195" dirty="0">
                <a:latin typeface="Calibri"/>
                <a:cs typeface="Calibri"/>
              </a:rPr>
              <a:t> </a:t>
            </a:r>
            <a:r>
              <a:rPr lang="en-US" sz="3200" dirty="0">
                <a:latin typeface="Calibri"/>
                <a:cs typeface="Calibri"/>
              </a:rPr>
              <a:t>from</a:t>
            </a:r>
            <a:r>
              <a:rPr lang="en-US" sz="3200" spc="200" dirty="0">
                <a:latin typeface="Calibri"/>
                <a:cs typeface="Calibri"/>
              </a:rPr>
              <a:t> </a:t>
            </a:r>
            <a:r>
              <a:rPr lang="en-US" sz="3200" spc="-50" dirty="0">
                <a:latin typeface="Calibri"/>
                <a:cs typeface="Calibri"/>
              </a:rPr>
              <a:t>a </a:t>
            </a:r>
            <a:r>
              <a:rPr lang="en-US" sz="3200" dirty="0">
                <a:latin typeface="Calibri"/>
                <a:cs typeface="Calibri"/>
              </a:rPr>
              <a:t>2.048MHz</a:t>
            </a:r>
            <a:r>
              <a:rPr lang="en-US" sz="3200" spc="-114" dirty="0">
                <a:latin typeface="Calibri"/>
                <a:cs typeface="Calibri"/>
              </a:rPr>
              <a:t> </a:t>
            </a:r>
            <a:r>
              <a:rPr lang="en-US" sz="3200" dirty="0">
                <a:latin typeface="Calibri"/>
                <a:cs typeface="Calibri"/>
              </a:rPr>
              <a:t>crystal</a:t>
            </a:r>
            <a:r>
              <a:rPr lang="en-US" sz="3200" spc="-90" dirty="0">
                <a:latin typeface="Calibri"/>
                <a:cs typeface="Calibri"/>
              </a:rPr>
              <a:t> </a:t>
            </a:r>
            <a:r>
              <a:rPr lang="en-US" sz="3200" spc="-10" dirty="0">
                <a:latin typeface="Calibri"/>
                <a:cs typeface="Calibri"/>
              </a:rPr>
              <a:t>clock.</a:t>
            </a:r>
            <a:endParaRPr lang="en-US" sz="3200" dirty="0">
              <a:latin typeface="Calibri"/>
              <a:cs typeface="Calibri"/>
            </a:endParaRPr>
          </a:p>
          <a:p>
            <a:pPr marL="355600" marR="6350" indent="-342900" algn="just">
              <a:spcBef>
                <a:spcPts val="770"/>
              </a:spcBef>
              <a:buFont typeface="Arial MT"/>
              <a:buChar char="•"/>
              <a:tabLst>
                <a:tab pos="355600" algn="l"/>
              </a:tabLst>
            </a:pPr>
            <a:endParaRPr lang="en-IN" sz="3200" spc="-20" dirty="0">
              <a:latin typeface="Calibri"/>
              <a:cs typeface="Calibri"/>
            </a:endParaRPr>
          </a:p>
          <a:p>
            <a:pPr marL="355600" marR="6350" indent="-342900" algn="just">
              <a:spcBef>
                <a:spcPts val="770"/>
              </a:spcBef>
              <a:buFont typeface="Arial MT"/>
              <a:buChar char="•"/>
              <a:tabLst>
                <a:tab pos="355600" algn="l"/>
              </a:tabLst>
            </a:pPr>
            <a:endParaRPr sz="3200" dirty="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1283109" y="804959"/>
            <a:ext cx="9625781" cy="4849404"/>
          </a:xfrm>
          <a:prstGeom prst="rect">
            <a:avLst/>
          </a:prstGeom>
        </p:spPr>
        <p:txBody>
          <a:bodyPr vert="horz" wrap="square" lIns="0" tIns="12700" rIns="0" bIns="0" rtlCol="0">
            <a:spAutoFit/>
          </a:bodyPr>
          <a:lstStyle/>
          <a:p>
            <a:pPr>
              <a:spcBef>
                <a:spcPts val="570"/>
              </a:spcBef>
              <a:buFont typeface="Wingdings"/>
              <a:buChar char=""/>
            </a:pPr>
            <a:endParaRPr sz="2700" dirty="0">
              <a:latin typeface="Calibri"/>
              <a:cs typeface="Calibri"/>
            </a:endParaRPr>
          </a:p>
          <a:p>
            <a:pPr marL="469900" marR="5715" indent="-457200" algn="just">
              <a:lnSpc>
                <a:spcPts val="2590"/>
              </a:lnSpc>
              <a:spcBef>
                <a:spcPts val="600"/>
              </a:spcBef>
              <a:spcAft>
                <a:spcPts val="600"/>
              </a:spcAft>
              <a:buFont typeface="Wingdings" panose="05000000000000000000" pitchFamily="2" charset="2"/>
              <a:buChar char="§"/>
              <a:tabLst>
                <a:tab pos="355600" algn="l"/>
              </a:tabLst>
            </a:pPr>
            <a:r>
              <a:rPr sz="2700" dirty="0">
                <a:latin typeface="Calibri"/>
                <a:cs typeface="Calibri"/>
              </a:rPr>
              <a:t>Around</a:t>
            </a:r>
            <a:r>
              <a:rPr sz="2700" spc="365" dirty="0">
                <a:latin typeface="Calibri"/>
                <a:cs typeface="Calibri"/>
              </a:rPr>
              <a:t> </a:t>
            </a:r>
            <a:r>
              <a:rPr sz="2700" dirty="0">
                <a:solidFill>
                  <a:srgbClr val="FF0000"/>
                </a:solidFill>
                <a:latin typeface="Calibri"/>
                <a:cs typeface="Calibri"/>
              </a:rPr>
              <a:t>5000</a:t>
            </a:r>
            <a:r>
              <a:rPr sz="2700" spc="380" dirty="0">
                <a:solidFill>
                  <a:srgbClr val="FF0000"/>
                </a:solidFill>
                <a:latin typeface="Calibri"/>
                <a:cs typeface="Calibri"/>
              </a:rPr>
              <a:t> </a:t>
            </a:r>
            <a:r>
              <a:rPr sz="2700" dirty="0">
                <a:latin typeface="Calibri"/>
                <a:cs typeface="Calibri"/>
              </a:rPr>
              <a:t>ICs</a:t>
            </a:r>
            <a:r>
              <a:rPr sz="2700" spc="375" dirty="0">
                <a:latin typeface="Calibri"/>
                <a:cs typeface="Calibri"/>
              </a:rPr>
              <a:t> </a:t>
            </a:r>
            <a:r>
              <a:rPr sz="2700" dirty="0">
                <a:latin typeface="Calibri"/>
                <a:cs typeface="Calibri"/>
              </a:rPr>
              <a:t>supplied</a:t>
            </a:r>
            <a:r>
              <a:rPr sz="2700" spc="390" dirty="0">
                <a:latin typeface="Calibri"/>
                <a:cs typeface="Calibri"/>
              </a:rPr>
              <a:t> </a:t>
            </a:r>
            <a:r>
              <a:rPr sz="2700" dirty="0">
                <a:latin typeface="Calibri"/>
                <a:cs typeface="Calibri"/>
              </a:rPr>
              <a:t>by</a:t>
            </a:r>
            <a:r>
              <a:rPr sz="2700" spc="395" dirty="0">
                <a:latin typeface="Calibri"/>
                <a:cs typeface="Calibri"/>
              </a:rPr>
              <a:t> </a:t>
            </a:r>
            <a:r>
              <a:rPr sz="2700" dirty="0">
                <a:latin typeface="Calibri"/>
                <a:cs typeface="Calibri"/>
              </a:rPr>
              <a:t>Fairchild</a:t>
            </a:r>
            <a:r>
              <a:rPr sz="2700" spc="385" dirty="0">
                <a:latin typeface="Calibri"/>
                <a:cs typeface="Calibri"/>
              </a:rPr>
              <a:t> </a:t>
            </a:r>
            <a:r>
              <a:rPr sz="2700" spc="-10" dirty="0">
                <a:latin typeface="Calibri"/>
                <a:cs typeface="Calibri"/>
              </a:rPr>
              <a:t>Semiconductor </a:t>
            </a:r>
            <a:r>
              <a:rPr sz="2700" dirty="0">
                <a:latin typeface="Calibri"/>
                <a:cs typeface="Calibri"/>
              </a:rPr>
              <a:t>were</a:t>
            </a:r>
            <a:r>
              <a:rPr sz="2700" spc="-55" dirty="0">
                <a:latin typeface="Calibri"/>
                <a:cs typeface="Calibri"/>
              </a:rPr>
              <a:t> </a:t>
            </a:r>
            <a:r>
              <a:rPr sz="2700" dirty="0">
                <a:latin typeface="Calibri"/>
                <a:cs typeface="Calibri"/>
              </a:rPr>
              <a:t>used</a:t>
            </a:r>
            <a:r>
              <a:rPr sz="2700" spc="-55" dirty="0">
                <a:latin typeface="Calibri"/>
                <a:cs typeface="Calibri"/>
              </a:rPr>
              <a:t> </a:t>
            </a:r>
            <a:r>
              <a:rPr sz="2700" dirty="0">
                <a:latin typeface="Calibri"/>
                <a:cs typeface="Calibri"/>
              </a:rPr>
              <a:t>in</a:t>
            </a:r>
            <a:r>
              <a:rPr sz="2700" spc="-25" dirty="0">
                <a:latin typeface="Calibri"/>
                <a:cs typeface="Calibri"/>
              </a:rPr>
              <a:t> </a:t>
            </a:r>
            <a:r>
              <a:rPr sz="2700" dirty="0">
                <a:latin typeface="Calibri"/>
                <a:cs typeface="Calibri"/>
              </a:rPr>
              <a:t>this</a:t>
            </a:r>
            <a:r>
              <a:rPr sz="2700" spc="-35" dirty="0">
                <a:latin typeface="Calibri"/>
                <a:cs typeface="Calibri"/>
              </a:rPr>
              <a:t> </a:t>
            </a:r>
            <a:r>
              <a:rPr sz="2700" spc="-10" dirty="0">
                <a:latin typeface="Calibri"/>
                <a:cs typeface="Calibri"/>
              </a:rPr>
              <a:t>design.</a:t>
            </a:r>
            <a:endParaRPr sz="2700" dirty="0">
              <a:latin typeface="Calibri"/>
              <a:cs typeface="Calibri"/>
            </a:endParaRPr>
          </a:p>
          <a:p>
            <a:pPr marL="469900" marR="5715" indent="-457200" algn="just">
              <a:lnSpc>
                <a:spcPct val="80000"/>
              </a:lnSpc>
              <a:spcBef>
                <a:spcPts val="600"/>
              </a:spcBef>
              <a:spcAft>
                <a:spcPts val="600"/>
              </a:spcAft>
              <a:buFont typeface="Wingdings" panose="05000000000000000000" pitchFamily="2" charset="2"/>
              <a:buChar char="§"/>
              <a:tabLst>
                <a:tab pos="355600" algn="l"/>
              </a:tabLst>
            </a:pPr>
            <a:r>
              <a:rPr sz="2700" dirty="0">
                <a:latin typeface="Calibri"/>
                <a:cs typeface="Calibri"/>
              </a:rPr>
              <a:t>The</a:t>
            </a:r>
            <a:r>
              <a:rPr sz="2700" spc="580" dirty="0">
                <a:latin typeface="Calibri"/>
                <a:cs typeface="Calibri"/>
              </a:rPr>
              <a:t>  </a:t>
            </a:r>
            <a:r>
              <a:rPr sz="2700" dirty="0">
                <a:latin typeface="Calibri"/>
                <a:cs typeface="Calibri"/>
              </a:rPr>
              <a:t>user</a:t>
            </a:r>
            <a:r>
              <a:rPr sz="2700" spc="585" dirty="0">
                <a:latin typeface="Calibri"/>
                <a:cs typeface="Calibri"/>
              </a:rPr>
              <a:t>  </a:t>
            </a:r>
            <a:r>
              <a:rPr sz="2700" dirty="0">
                <a:latin typeface="Calibri"/>
                <a:cs typeface="Calibri"/>
              </a:rPr>
              <a:t>interface</a:t>
            </a:r>
            <a:r>
              <a:rPr sz="2700" spc="585" dirty="0">
                <a:latin typeface="Calibri"/>
                <a:cs typeface="Calibri"/>
              </a:rPr>
              <a:t>  </a:t>
            </a:r>
            <a:r>
              <a:rPr sz="2700" dirty="0">
                <a:latin typeface="Calibri"/>
                <a:cs typeface="Calibri"/>
              </a:rPr>
              <a:t>unit</a:t>
            </a:r>
            <a:r>
              <a:rPr sz="2700" spc="590" dirty="0">
                <a:latin typeface="Calibri"/>
                <a:cs typeface="Calibri"/>
              </a:rPr>
              <a:t>  </a:t>
            </a:r>
            <a:r>
              <a:rPr sz="2700" dirty="0">
                <a:latin typeface="Calibri"/>
                <a:cs typeface="Calibri"/>
              </a:rPr>
              <a:t>of</a:t>
            </a:r>
            <a:r>
              <a:rPr sz="2700" spc="585" dirty="0">
                <a:latin typeface="Calibri"/>
                <a:cs typeface="Calibri"/>
              </a:rPr>
              <a:t>  </a:t>
            </a:r>
            <a:r>
              <a:rPr sz="2700" dirty="0">
                <a:latin typeface="Calibri"/>
                <a:cs typeface="Calibri"/>
              </a:rPr>
              <a:t>AGC</a:t>
            </a:r>
            <a:r>
              <a:rPr sz="2700" spc="595" dirty="0">
                <a:latin typeface="Calibri"/>
                <a:cs typeface="Calibri"/>
              </a:rPr>
              <a:t>  </a:t>
            </a:r>
            <a:r>
              <a:rPr sz="2700" dirty="0">
                <a:latin typeface="Calibri"/>
                <a:cs typeface="Calibri"/>
              </a:rPr>
              <a:t>is</a:t>
            </a:r>
            <a:r>
              <a:rPr sz="2700" spc="585" dirty="0">
                <a:latin typeface="Calibri"/>
                <a:cs typeface="Calibri"/>
              </a:rPr>
              <a:t>  </a:t>
            </a:r>
            <a:r>
              <a:rPr sz="2700" dirty="0">
                <a:latin typeface="Calibri"/>
                <a:cs typeface="Calibri"/>
              </a:rPr>
              <a:t>known</a:t>
            </a:r>
            <a:r>
              <a:rPr sz="2700" spc="575" dirty="0">
                <a:latin typeface="Calibri"/>
                <a:cs typeface="Calibri"/>
              </a:rPr>
              <a:t>  </a:t>
            </a:r>
            <a:r>
              <a:rPr sz="2700" spc="-25" dirty="0">
                <a:latin typeface="Calibri"/>
                <a:cs typeface="Calibri"/>
              </a:rPr>
              <a:t>as </a:t>
            </a:r>
            <a:r>
              <a:rPr sz="2700" spc="-10" dirty="0">
                <a:solidFill>
                  <a:srgbClr val="C00000"/>
                </a:solidFill>
                <a:latin typeface="Calibri"/>
                <a:cs typeface="Calibri"/>
              </a:rPr>
              <a:t>DSKY(Display/Keyboard).</a:t>
            </a:r>
            <a:endParaRPr sz="2700" dirty="0">
              <a:latin typeface="Calibri"/>
              <a:cs typeface="Calibri"/>
            </a:endParaRPr>
          </a:p>
          <a:p>
            <a:pPr marL="469900" marR="5715" indent="-457200" algn="just">
              <a:lnSpc>
                <a:spcPct val="80000"/>
              </a:lnSpc>
              <a:spcBef>
                <a:spcPts val="600"/>
              </a:spcBef>
              <a:spcAft>
                <a:spcPts val="600"/>
              </a:spcAft>
              <a:buFont typeface="Wingdings" panose="05000000000000000000" pitchFamily="2" charset="2"/>
              <a:buChar char="§"/>
              <a:tabLst>
                <a:tab pos="355600" algn="l"/>
              </a:tabLst>
            </a:pPr>
            <a:r>
              <a:rPr sz="2700" dirty="0">
                <a:latin typeface="Calibri"/>
                <a:cs typeface="Calibri"/>
              </a:rPr>
              <a:t>DSKY</a:t>
            </a:r>
            <a:r>
              <a:rPr sz="2700" spc="5" dirty="0">
                <a:latin typeface="Calibri"/>
                <a:cs typeface="Calibri"/>
              </a:rPr>
              <a:t> </a:t>
            </a:r>
            <a:r>
              <a:rPr sz="2700" dirty="0">
                <a:latin typeface="Calibri"/>
                <a:cs typeface="Calibri"/>
              </a:rPr>
              <a:t>looked</a:t>
            </a:r>
            <a:r>
              <a:rPr sz="2700" spc="15" dirty="0">
                <a:latin typeface="Calibri"/>
                <a:cs typeface="Calibri"/>
              </a:rPr>
              <a:t> </a:t>
            </a:r>
            <a:r>
              <a:rPr sz="2700" dirty="0">
                <a:latin typeface="Calibri"/>
                <a:cs typeface="Calibri"/>
              </a:rPr>
              <a:t>like</a:t>
            </a:r>
            <a:r>
              <a:rPr sz="2700" spc="5" dirty="0">
                <a:latin typeface="Calibri"/>
                <a:cs typeface="Calibri"/>
              </a:rPr>
              <a:t> </a:t>
            </a:r>
            <a:r>
              <a:rPr sz="2700" dirty="0">
                <a:latin typeface="Calibri"/>
                <a:cs typeface="Calibri"/>
              </a:rPr>
              <a:t>a</a:t>
            </a:r>
            <a:r>
              <a:rPr sz="2700" spc="15" dirty="0">
                <a:latin typeface="Calibri"/>
                <a:cs typeface="Calibri"/>
              </a:rPr>
              <a:t> </a:t>
            </a:r>
            <a:r>
              <a:rPr sz="2700" dirty="0">
                <a:latin typeface="Calibri"/>
                <a:cs typeface="Calibri"/>
              </a:rPr>
              <a:t>calculator</a:t>
            </a:r>
            <a:r>
              <a:rPr sz="2700" spc="5" dirty="0">
                <a:latin typeface="Calibri"/>
                <a:cs typeface="Calibri"/>
              </a:rPr>
              <a:t> </a:t>
            </a:r>
            <a:r>
              <a:rPr sz="2700" dirty="0">
                <a:latin typeface="Calibri"/>
                <a:cs typeface="Calibri"/>
              </a:rPr>
              <a:t>type</a:t>
            </a:r>
            <a:r>
              <a:rPr sz="2700" spc="10" dirty="0">
                <a:latin typeface="Calibri"/>
                <a:cs typeface="Calibri"/>
              </a:rPr>
              <a:t> </a:t>
            </a:r>
            <a:r>
              <a:rPr sz="2700" dirty="0">
                <a:latin typeface="Calibri"/>
                <a:cs typeface="Calibri"/>
              </a:rPr>
              <a:t>keypad</a:t>
            </a:r>
            <a:r>
              <a:rPr sz="2700" spc="5" dirty="0">
                <a:latin typeface="Calibri"/>
                <a:cs typeface="Calibri"/>
              </a:rPr>
              <a:t> </a:t>
            </a:r>
            <a:r>
              <a:rPr sz="2700" dirty="0">
                <a:latin typeface="Calibri"/>
                <a:cs typeface="Calibri"/>
              </a:rPr>
              <a:t>with</a:t>
            </a:r>
            <a:r>
              <a:rPr sz="2700" spc="15" dirty="0">
                <a:latin typeface="Calibri"/>
                <a:cs typeface="Calibri"/>
              </a:rPr>
              <a:t> </a:t>
            </a:r>
            <a:r>
              <a:rPr sz="2700" dirty="0">
                <a:latin typeface="Calibri"/>
                <a:cs typeface="Calibri"/>
              </a:rPr>
              <a:t>an</a:t>
            </a:r>
            <a:r>
              <a:rPr sz="2700" spc="5" dirty="0">
                <a:latin typeface="Calibri"/>
                <a:cs typeface="Calibri"/>
              </a:rPr>
              <a:t> </a:t>
            </a:r>
            <a:r>
              <a:rPr sz="2700" spc="-10" dirty="0">
                <a:latin typeface="Calibri"/>
                <a:cs typeface="Calibri"/>
              </a:rPr>
              <a:t>array </a:t>
            </a:r>
            <a:r>
              <a:rPr sz="2700" dirty="0">
                <a:latin typeface="Calibri"/>
                <a:cs typeface="Calibri"/>
              </a:rPr>
              <a:t>of</a:t>
            </a:r>
            <a:r>
              <a:rPr sz="2700" spc="-15" dirty="0">
                <a:latin typeface="Calibri"/>
                <a:cs typeface="Calibri"/>
              </a:rPr>
              <a:t> </a:t>
            </a:r>
            <a:r>
              <a:rPr sz="2700" spc="-10" dirty="0">
                <a:latin typeface="Calibri"/>
                <a:cs typeface="Calibri"/>
              </a:rPr>
              <a:t>numerals.</a:t>
            </a:r>
            <a:endParaRPr lang="en-IN" sz="2700" spc="-10" dirty="0">
              <a:latin typeface="Calibri"/>
              <a:cs typeface="Calibri"/>
            </a:endParaRPr>
          </a:p>
          <a:p>
            <a:pPr marL="469900" marR="5715" indent="-457200" algn="just">
              <a:lnSpc>
                <a:spcPct val="80000"/>
              </a:lnSpc>
              <a:spcBef>
                <a:spcPts val="600"/>
              </a:spcBef>
              <a:spcAft>
                <a:spcPts val="600"/>
              </a:spcAft>
              <a:buFont typeface="Wingdings" panose="05000000000000000000" pitchFamily="2" charset="2"/>
              <a:buChar char="§"/>
              <a:tabLst>
                <a:tab pos="355600" algn="l"/>
              </a:tabLst>
            </a:pPr>
            <a:r>
              <a:rPr lang="en-IN" sz="2800" spc="-25" dirty="0">
                <a:latin typeface="Calibri"/>
                <a:cs typeface="Calibri"/>
              </a:rPr>
              <a:t>The </a:t>
            </a:r>
            <a:r>
              <a:rPr lang="en-IN" sz="2800" spc="-20" dirty="0">
                <a:latin typeface="Calibri"/>
                <a:cs typeface="Calibri"/>
              </a:rPr>
              <a:t>first </a:t>
            </a:r>
            <a:r>
              <a:rPr lang="en-IN" sz="2800" spc="-10" dirty="0">
                <a:solidFill>
                  <a:srgbClr val="C00000"/>
                </a:solidFill>
                <a:latin typeface="Calibri"/>
                <a:cs typeface="Calibri"/>
              </a:rPr>
              <a:t>mass-produced </a:t>
            </a:r>
            <a:r>
              <a:rPr lang="en-IN" sz="2800" spc="-10" dirty="0">
                <a:latin typeface="Calibri"/>
                <a:cs typeface="Calibri"/>
              </a:rPr>
              <a:t>embedded </a:t>
            </a:r>
            <a:r>
              <a:rPr lang="en-IN" sz="2800" spc="-25" dirty="0">
                <a:latin typeface="Calibri"/>
                <a:cs typeface="Calibri"/>
              </a:rPr>
              <a:t>system </a:t>
            </a:r>
            <a:r>
              <a:rPr lang="en-US" sz="2800" spc="-25" dirty="0">
                <a:latin typeface="Calibri"/>
                <a:cs typeface="Calibri"/>
              </a:rPr>
              <a:t>was</a:t>
            </a:r>
            <a:r>
              <a:rPr lang="en-US" sz="2800" dirty="0">
                <a:latin typeface="Calibri"/>
                <a:cs typeface="Calibri"/>
              </a:rPr>
              <a:t>	</a:t>
            </a:r>
            <a:r>
              <a:rPr lang="en-US" sz="2800" spc="-25" dirty="0">
                <a:latin typeface="Calibri"/>
                <a:cs typeface="Calibri"/>
              </a:rPr>
              <a:t>the</a:t>
            </a:r>
            <a:r>
              <a:rPr lang="en-US" sz="2800" dirty="0">
                <a:latin typeface="Calibri"/>
                <a:cs typeface="Calibri"/>
              </a:rPr>
              <a:t>	</a:t>
            </a:r>
            <a:r>
              <a:rPr lang="en-US" sz="2800" spc="-10" dirty="0">
                <a:latin typeface="Calibri"/>
                <a:cs typeface="Calibri"/>
              </a:rPr>
              <a:t>guidance computer </a:t>
            </a:r>
            <a:r>
              <a:rPr lang="en-US" sz="2800" spc="-25" dirty="0">
                <a:latin typeface="Calibri"/>
                <a:cs typeface="Calibri"/>
              </a:rPr>
              <a:t>for the </a:t>
            </a:r>
            <a:r>
              <a:rPr lang="en-US" sz="2800" spc="-30" dirty="0">
                <a:solidFill>
                  <a:srgbClr val="00AFEF"/>
                </a:solidFill>
                <a:latin typeface="Calibri"/>
                <a:cs typeface="Calibri"/>
              </a:rPr>
              <a:t>Minuteman-</a:t>
            </a:r>
            <a:r>
              <a:rPr lang="en-US" sz="2800" dirty="0">
                <a:solidFill>
                  <a:srgbClr val="00AFEF"/>
                </a:solidFill>
                <a:latin typeface="Calibri"/>
                <a:cs typeface="Calibri"/>
              </a:rPr>
              <a:t>I</a:t>
            </a:r>
            <a:r>
              <a:rPr lang="en-US" sz="2800" spc="35" dirty="0">
                <a:solidFill>
                  <a:srgbClr val="00AFEF"/>
                </a:solidFill>
                <a:latin typeface="Calibri"/>
                <a:cs typeface="Calibri"/>
              </a:rPr>
              <a:t> </a:t>
            </a:r>
            <a:r>
              <a:rPr lang="en-US" sz="2800" dirty="0">
                <a:solidFill>
                  <a:srgbClr val="00AFEF"/>
                </a:solidFill>
                <a:latin typeface="Calibri"/>
                <a:cs typeface="Calibri"/>
              </a:rPr>
              <a:t>missile </a:t>
            </a:r>
            <a:r>
              <a:rPr lang="en-US" sz="2800" dirty="0">
                <a:latin typeface="Calibri"/>
                <a:cs typeface="Calibri"/>
              </a:rPr>
              <a:t>in</a:t>
            </a:r>
            <a:r>
              <a:rPr lang="en-US" sz="2800" spc="20" dirty="0">
                <a:latin typeface="Calibri"/>
                <a:cs typeface="Calibri"/>
              </a:rPr>
              <a:t> </a:t>
            </a:r>
            <a:r>
              <a:rPr lang="en-US" sz="2800" spc="-10" dirty="0">
                <a:latin typeface="Calibri"/>
                <a:cs typeface="Calibri"/>
              </a:rPr>
              <a:t>1961.</a:t>
            </a:r>
          </a:p>
          <a:p>
            <a:pPr marL="469900" marR="5715" indent="-457200" algn="just">
              <a:lnSpc>
                <a:spcPct val="80000"/>
              </a:lnSpc>
              <a:spcBef>
                <a:spcPts val="600"/>
              </a:spcBef>
              <a:spcAft>
                <a:spcPts val="600"/>
              </a:spcAft>
              <a:buFont typeface="Wingdings" panose="05000000000000000000" pitchFamily="2" charset="2"/>
              <a:buChar char="§"/>
              <a:tabLst>
                <a:tab pos="355600" algn="l"/>
              </a:tabLst>
            </a:pPr>
            <a:r>
              <a:rPr lang="en-US" sz="2800" dirty="0">
                <a:latin typeface="Calibri"/>
                <a:cs typeface="Calibri"/>
              </a:rPr>
              <a:t>It</a:t>
            </a:r>
            <a:r>
              <a:rPr lang="en-US" sz="2800" spc="440" dirty="0">
                <a:latin typeface="Calibri"/>
                <a:cs typeface="Calibri"/>
              </a:rPr>
              <a:t>  </a:t>
            </a:r>
            <a:r>
              <a:rPr lang="en-US" sz="2800" dirty="0">
                <a:latin typeface="Calibri"/>
                <a:cs typeface="Calibri"/>
              </a:rPr>
              <a:t>was</a:t>
            </a:r>
            <a:r>
              <a:rPr lang="en-US" sz="2800" spc="450" dirty="0">
                <a:latin typeface="Calibri"/>
                <a:cs typeface="Calibri"/>
              </a:rPr>
              <a:t>  </a:t>
            </a:r>
            <a:r>
              <a:rPr lang="en-US" sz="2800" dirty="0">
                <a:latin typeface="Calibri"/>
                <a:cs typeface="Calibri"/>
              </a:rPr>
              <a:t>the</a:t>
            </a:r>
            <a:r>
              <a:rPr lang="en-US" sz="2800" spc="434" dirty="0">
                <a:latin typeface="Calibri"/>
                <a:cs typeface="Calibri"/>
              </a:rPr>
              <a:t>  </a:t>
            </a:r>
            <a:r>
              <a:rPr lang="en-US" sz="2800" dirty="0">
                <a:solidFill>
                  <a:srgbClr val="FF00FF"/>
                </a:solidFill>
                <a:latin typeface="Calibri"/>
                <a:cs typeface="Calibri"/>
              </a:rPr>
              <a:t>“AUTONETICS</a:t>
            </a:r>
            <a:r>
              <a:rPr lang="en-US" sz="2800" spc="450" dirty="0">
                <a:solidFill>
                  <a:srgbClr val="FF00FF"/>
                </a:solidFill>
                <a:latin typeface="Calibri"/>
                <a:cs typeface="Calibri"/>
              </a:rPr>
              <a:t>  </a:t>
            </a:r>
            <a:r>
              <a:rPr lang="en-US" sz="2800" spc="-20" dirty="0">
                <a:solidFill>
                  <a:srgbClr val="FF00FF"/>
                </a:solidFill>
                <a:latin typeface="Calibri"/>
                <a:cs typeface="Calibri"/>
              </a:rPr>
              <a:t>D-</a:t>
            </a:r>
            <a:r>
              <a:rPr lang="en-US" sz="2800" dirty="0">
                <a:solidFill>
                  <a:srgbClr val="FF00FF"/>
                </a:solidFill>
                <a:latin typeface="Calibri"/>
                <a:cs typeface="Calibri"/>
              </a:rPr>
              <a:t>17”</a:t>
            </a:r>
            <a:r>
              <a:rPr lang="en-US" sz="2800" spc="450" dirty="0">
                <a:solidFill>
                  <a:srgbClr val="FF00FF"/>
                </a:solidFill>
                <a:latin typeface="Calibri"/>
                <a:cs typeface="Calibri"/>
              </a:rPr>
              <a:t>  </a:t>
            </a:r>
            <a:r>
              <a:rPr lang="en-US" sz="2800" spc="-10" dirty="0">
                <a:latin typeface="Calibri"/>
                <a:cs typeface="Calibri"/>
              </a:rPr>
              <a:t>guidance </a:t>
            </a:r>
            <a:r>
              <a:rPr lang="en-US" sz="2800" dirty="0">
                <a:latin typeface="Calibri"/>
                <a:cs typeface="Calibri"/>
              </a:rPr>
              <a:t>computer,</a:t>
            </a:r>
            <a:r>
              <a:rPr lang="en-US" sz="2800" spc="560" dirty="0">
                <a:latin typeface="Calibri"/>
                <a:cs typeface="Calibri"/>
              </a:rPr>
              <a:t> </a:t>
            </a:r>
            <a:r>
              <a:rPr lang="en-US" sz="2800" dirty="0">
                <a:latin typeface="Calibri"/>
                <a:cs typeface="Calibri"/>
              </a:rPr>
              <a:t>but</a:t>
            </a:r>
            <a:r>
              <a:rPr lang="en-US" sz="2800" spc="580" dirty="0">
                <a:latin typeface="Calibri"/>
                <a:cs typeface="Calibri"/>
              </a:rPr>
              <a:t> </a:t>
            </a:r>
            <a:r>
              <a:rPr lang="en-US" sz="2800" dirty="0">
                <a:latin typeface="Calibri"/>
                <a:cs typeface="Calibri"/>
              </a:rPr>
              <a:t>using</a:t>
            </a:r>
            <a:r>
              <a:rPr lang="en-US" sz="2800" spc="580" dirty="0">
                <a:latin typeface="Calibri"/>
                <a:cs typeface="Calibri"/>
              </a:rPr>
              <a:t> </a:t>
            </a:r>
            <a:r>
              <a:rPr lang="en-US" sz="2800" dirty="0">
                <a:latin typeface="Calibri"/>
                <a:cs typeface="Calibri"/>
              </a:rPr>
              <a:t>discrete</a:t>
            </a:r>
            <a:r>
              <a:rPr lang="en-US" sz="2800" spc="580" dirty="0">
                <a:latin typeface="Calibri"/>
                <a:cs typeface="Calibri"/>
              </a:rPr>
              <a:t> </a:t>
            </a:r>
            <a:r>
              <a:rPr lang="en-US" sz="2800" dirty="0">
                <a:latin typeface="Calibri"/>
                <a:cs typeface="Calibri"/>
              </a:rPr>
              <a:t>transistor</a:t>
            </a:r>
            <a:r>
              <a:rPr lang="en-US" sz="2800" spc="565" dirty="0">
                <a:latin typeface="Calibri"/>
                <a:cs typeface="Calibri"/>
              </a:rPr>
              <a:t> </a:t>
            </a:r>
            <a:r>
              <a:rPr lang="en-US" sz="2800" spc="-10" dirty="0">
                <a:latin typeface="Calibri"/>
                <a:cs typeface="Calibri"/>
              </a:rPr>
              <a:t>logic </a:t>
            </a:r>
            <a:r>
              <a:rPr lang="en-US" sz="2800" dirty="0">
                <a:latin typeface="Calibri"/>
                <a:cs typeface="Calibri"/>
              </a:rPr>
              <a:t>and</a:t>
            </a:r>
            <a:r>
              <a:rPr lang="en-US" sz="2800" spc="-35" dirty="0">
                <a:latin typeface="Calibri"/>
                <a:cs typeface="Calibri"/>
              </a:rPr>
              <a:t> </a:t>
            </a:r>
            <a:r>
              <a:rPr lang="en-US" sz="2800" dirty="0">
                <a:latin typeface="Calibri"/>
                <a:cs typeface="Calibri"/>
              </a:rPr>
              <a:t>a</a:t>
            </a:r>
            <a:r>
              <a:rPr lang="en-US" sz="2800" spc="-40" dirty="0">
                <a:latin typeface="Calibri"/>
                <a:cs typeface="Calibri"/>
              </a:rPr>
              <a:t> </a:t>
            </a:r>
            <a:r>
              <a:rPr lang="en-US" sz="2800" spc="-35" dirty="0">
                <a:latin typeface="Calibri"/>
                <a:cs typeface="Calibri"/>
              </a:rPr>
              <a:t>hard-</a:t>
            </a:r>
            <a:r>
              <a:rPr lang="en-US" sz="2800" dirty="0">
                <a:latin typeface="Calibri"/>
                <a:cs typeface="Calibri"/>
              </a:rPr>
              <a:t>disk</a:t>
            </a:r>
            <a:r>
              <a:rPr lang="en-US" sz="2800" spc="-25" dirty="0">
                <a:latin typeface="Calibri"/>
                <a:cs typeface="Calibri"/>
              </a:rPr>
              <a:t> </a:t>
            </a:r>
            <a:r>
              <a:rPr lang="en-US" sz="2800" dirty="0">
                <a:latin typeface="Calibri"/>
                <a:cs typeface="Calibri"/>
              </a:rPr>
              <a:t>for</a:t>
            </a:r>
            <a:r>
              <a:rPr lang="en-US" sz="2800" spc="-40" dirty="0">
                <a:latin typeface="Calibri"/>
                <a:cs typeface="Calibri"/>
              </a:rPr>
              <a:t> </a:t>
            </a:r>
            <a:r>
              <a:rPr lang="en-US" sz="2800" dirty="0">
                <a:latin typeface="Calibri"/>
                <a:cs typeface="Calibri"/>
              </a:rPr>
              <a:t>main</a:t>
            </a:r>
            <a:r>
              <a:rPr lang="en-US" sz="2800" spc="-20" dirty="0">
                <a:latin typeface="Calibri"/>
                <a:cs typeface="Calibri"/>
              </a:rPr>
              <a:t> </a:t>
            </a:r>
            <a:r>
              <a:rPr lang="en-US" sz="2800" spc="-10" dirty="0">
                <a:latin typeface="Calibri"/>
                <a:cs typeface="Calibri"/>
              </a:rPr>
              <a:t>memory.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519516" y="321037"/>
            <a:ext cx="7184923" cy="1590820"/>
          </a:xfrm>
          <a:prstGeom prst="rect">
            <a:avLst/>
          </a:prstGeom>
          <a:ln w="9144">
            <a:solidFill>
              <a:srgbClr val="77923B"/>
            </a:solidFill>
          </a:ln>
        </p:spPr>
        <p:txBody>
          <a:bodyPr vert="horz" wrap="square" lIns="0" tIns="234315" rIns="0" bIns="0" rtlCol="0" anchor="ctr">
            <a:spAutoFit/>
          </a:bodyPr>
          <a:lstStyle/>
          <a:p>
            <a:pPr marL="106680">
              <a:lnSpc>
                <a:spcPct val="100000"/>
              </a:lnSpc>
              <a:spcBef>
                <a:spcPts val="1845"/>
              </a:spcBef>
            </a:pPr>
            <a:r>
              <a:rPr spc="-30" dirty="0">
                <a:solidFill>
                  <a:srgbClr val="FF00FF"/>
                </a:solidFill>
              </a:rPr>
              <a:t>CLASSIFICATION</a:t>
            </a:r>
            <a:r>
              <a:rPr spc="-90" dirty="0">
                <a:solidFill>
                  <a:srgbClr val="FF00FF"/>
                </a:solidFill>
              </a:rPr>
              <a:t> </a:t>
            </a:r>
            <a:r>
              <a:rPr dirty="0">
                <a:solidFill>
                  <a:srgbClr val="FF00FF"/>
                </a:solidFill>
              </a:rPr>
              <a:t>OF</a:t>
            </a:r>
            <a:r>
              <a:rPr spc="-125" dirty="0">
                <a:solidFill>
                  <a:srgbClr val="FF00FF"/>
                </a:solidFill>
              </a:rPr>
              <a:t> </a:t>
            </a:r>
            <a:r>
              <a:rPr dirty="0">
                <a:solidFill>
                  <a:srgbClr val="FF00FF"/>
                </a:solidFill>
              </a:rPr>
              <a:t>EMBEDDED</a:t>
            </a:r>
            <a:r>
              <a:rPr spc="-130" dirty="0">
                <a:solidFill>
                  <a:srgbClr val="FF00FF"/>
                </a:solidFill>
              </a:rPr>
              <a:t> </a:t>
            </a:r>
            <a:r>
              <a:rPr spc="-10" dirty="0">
                <a:solidFill>
                  <a:srgbClr val="FF00FF"/>
                </a:solidFill>
              </a:rPr>
              <a:t>SYSTEMS</a:t>
            </a:r>
          </a:p>
        </p:txBody>
      </p:sp>
      <p:sp>
        <p:nvSpPr>
          <p:cNvPr id="7" name="object 7"/>
          <p:cNvSpPr txBox="1"/>
          <p:nvPr/>
        </p:nvSpPr>
        <p:spPr>
          <a:xfrm>
            <a:off x="2059940" y="2369948"/>
            <a:ext cx="8008620" cy="3440429"/>
          </a:xfrm>
          <a:prstGeom prst="rect">
            <a:avLst/>
          </a:prstGeom>
        </p:spPr>
        <p:txBody>
          <a:bodyPr vert="horz" wrap="square" lIns="0" tIns="13335" rIns="0" bIns="0" rtlCol="0">
            <a:spAutoFit/>
          </a:bodyPr>
          <a:lstStyle/>
          <a:p>
            <a:pPr marL="12700">
              <a:spcBef>
                <a:spcPts val="105"/>
              </a:spcBef>
            </a:pPr>
            <a:r>
              <a:rPr sz="3200" dirty="0">
                <a:latin typeface="Calibri"/>
                <a:cs typeface="Calibri"/>
              </a:rPr>
              <a:t>It</a:t>
            </a:r>
            <a:r>
              <a:rPr sz="3200" spc="-50" dirty="0">
                <a:latin typeface="Calibri"/>
                <a:cs typeface="Calibri"/>
              </a:rPr>
              <a:t> </a:t>
            </a:r>
            <a:r>
              <a:rPr sz="3200" dirty="0">
                <a:latin typeface="Calibri"/>
                <a:cs typeface="Calibri"/>
              </a:rPr>
              <a:t>is</a:t>
            </a:r>
            <a:r>
              <a:rPr sz="3200" spc="-60" dirty="0">
                <a:latin typeface="Calibri"/>
                <a:cs typeface="Calibri"/>
              </a:rPr>
              <a:t> </a:t>
            </a:r>
            <a:r>
              <a:rPr sz="3200" dirty="0">
                <a:latin typeface="Calibri"/>
                <a:cs typeface="Calibri"/>
              </a:rPr>
              <a:t>classified</a:t>
            </a:r>
            <a:r>
              <a:rPr sz="3200" spc="-50" dirty="0">
                <a:latin typeface="Calibri"/>
                <a:cs typeface="Calibri"/>
              </a:rPr>
              <a:t> </a:t>
            </a:r>
            <a:r>
              <a:rPr sz="3200" dirty="0">
                <a:latin typeface="Calibri"/>
                <a:cs typeface="Calibri"/>
              </a:rPr>
              <a:t>based</a:t>
            </a:r>
            <a:r>
              <a:rPr sz="3200" spc="-55" dirty="0">
                <a:latin typeface="Calibri"/>
                <a:cs typeface="Calibri"/>
              </a:rPr>
              <a:t> </a:t>
            </a:r>
            <a:r>
              <a:rPr sz="3200" dirty="0">
                <a:latin typeface="Calibri"/>
                <a:cs typeface="Calibri"/>
              </a:rPr>
              <a:t>on</a:t>
            </a:r>
            <a:r>
              <a:rPr sz="3200" spc="-50" dirty="0">
                <a:latin typeface="Calibri"/>
                <a:cs typeface="Calibri"/>
              </a:rPr>
              <a:t> </a:t>
            </a:r>
            <a:r>
              <a:rPr sz="3200" spc="-20" dirty="0">
                <a:latin typeface="Calibri"/>
                <a:cs typeface="Calibri"/>
              </a:rPr>
              <a:t>different</a:t>
            </a:r>
            <a:r>
              <a:rPr sz="3200" spc="-50" dirty="0">
                <a:latin typeface="Calibri"/>
                <a:cs typeface="Calibri"/>
              </a:rPr>
              <a:t> </a:t>
            </a:r>
            <a:r>
              <a:rPr sz="3200" spc="-10" dirty="0">
                <a:latin typeface="Calibri"/>
                <a:cs typeface="Calibri"/>
              </a:rPr>
              <a:t>criteria.</a:t>
            </a:r>
            <a:endParaRPr sz="3200">
              <a:latin typeface="Calibri"/>
              <a:cs typeface="Calibri"/>
            </a:endParaRPr>
          </a:p>
          <a:p>
            <a:pPr>
              <a:spcBef>
                <a:spcPts val="1470"/>
              </a:spcBef>
            </a:pPr>
            <a:endParaRPr sz="3200">
              <a:latin typeface="Calibri"/>
              <a:cs typeface="Calibri"/>
            </a:endParaRPr>
          </a:p>
          <a:p>
            <a:pPr marL="873760" indent="-400685">
              <a:buAutoNum type="arabicPeriod"/>
              <a:tabLst>
                <a:tab pos="873760" algn="l"/>
              </a:tabLst>
            </a:pPr>
            <a:r>
              <a:rPr sz="3200" dirty="0">
                <a:solidFill>
                  <a:srgbClr val="00AF50"/>
                </a:solidFill>
                <a:latin typeface="Calibri"/>
                <a:cs typeface="Calibri"/>
              </a:rPr>
              <a:t>Based</a:t>
            </a:r>
            <a:r>
              <a:rPr sz="3200" spc="-45" dirty="0">
                <a:solidFill>
                  <a:srgbClr val="00AF50"/>
                </a:solidFill>
                <a:latin typeface="Calibri"/>
                <a:cs typeface="Calibri"/>
              </a:rPr>
              <a:t> </a:t>
            </a:r>
            <a:r>
              <a:rPr sz="3200" dirty="0">
                <a:solidFill>
                  <a:srgbClr val="00AF50"/>
                </a:solidFill>
                <a:latin typeface="Calibri"/>
                <a:cs typeface="Calibri"/>
              </a:rPr>
              <a:t>on</a:t>
            </a:r>
            <a:r>
              <a:rPr sz="3200" spc="-35" dirty="0">
                <a:solidFill>
                  <a:srgbClr val="00AF50"/>
                </a:solidFill>
                <a:latin typeface="Calibri"/>
                <a:cs typeface="Calibri"/>
              </a:rPr>
              <a:t> </a:t>
            </a:r>
            <a:r>
              <a:rPr sz="3200" spc="-10" dirty="0">
                <a:solidFill>
                  <a:srgbClr val="00AF50"/>
                </a:solidFill>
                <a:latin typeface="Calibri"/>
                <a:cs typeface="Calibri"/>
              </a:rPr>
              <a:t>generation</a:t>
            </a:r>
            <a:endParaRPr sz="3200">
              <a:latin typeface="Calibri"/>
              <a:cs typeface="Calibri"/>
            </a:endParaRPr>
          </a:p>
          <a:p>
            <a:pPr marL="873760" indent="-400685">
              <a:spcBef>
                <a:spcPts val="765"/>
              </a:spcBef>
              <a:buAutoNum type="arabicPeriod"/>
              <a:tabLst>
                <a:tab pos="873760" algn="l"/>
              </a:tabLst>
            </a:pPr>
            <a:r>
              <a:rPr sz="3200" spc="-10" dirty="0">
                <a:solidFill>
                  <a:srgbClr val="00AFEF"/>
                </a:solidFill>
                <a:latin typeface="Calibri"/>
                <a:cs typeface="Calibri"/>
              </a:rPr>
              <a:t>Complexity</a:t>
            </a:r>
            <a:r>
              <a:rPr sz="3200" spc="-80" dirty="0">
                <a:solidFill>
                  <a:srgbClr val="00AFEF"/>
                </a:solidFill>
                <a:latin typeface="Calibri"/>
                <a:cs typeface="Calibri"/>
              </a:rPr>
              <a:t> </a:t>
            </a:r>
            <a:r>
              <a:rPr sz="3200" dirty="0">
                <a:solidFill>
                  <a:srgbClr val="00AFEF"/>
                </a:solidFill>
                <a:latin typeface="Calibri"/>
                <a:cs typeface="Calibri"/>
              </a:rPr>
              <a:t>and</a:t>
            </a:r>
            <a:r>
              <a:rPr sz="3200" spc="-75" dirty="0">
                <a:solidFill>
                  <a:srgbClr val="00AFEF"/>
                </a:solidFill>
                <a:latin typeface="Calibri"/>
                <a:cs typeface="Calibri"/>
              </a:rPr>
              <a:t> </a:t>
            </a:r>
            <a:r>
              <a:rPr sz="3200" dirty="0">
                <a:solidFill>
                  <a:srgbClr val="00AFEF"/>
                </a:solidFill>
                <a:latin typeface="Calibri"/>
                <a:cs typeface="Calibri"/>
              </a:rPr>
              <a:t>performance</a:t>
            </a:r>
            <a:r>
              <a:rPr sz="3200" spc="-80" dirty="0">
                <a:solidFill>
                  <a:srgbClr val="00AFEF"/>
                </a:solidFill>
                <a:latin typeface="Calibri"/>
                <a:cs typeface="Calibri"/>
              </a:rPr>
              <a:t> </a:t>
            </a:r>
            <a:r>
              <a:rPr sz="3200" spc="-10" dirty="0">
                <a:solidFill>
                  <a:srgbClr val="00AFEF"/>
                </a:solidFill>
                <a:latin typeface="Calibri"/>
                <a:cs typeface="Calibri"/>
              </a:rPr>
              <a:t>requirements</a:t>
            </a:r>
            <a:endParaRPr sz="3200">
              <a:latin typeface="Calibri"/>
              <a:cs typeface="Calibri"/>
            </a:endParaRPr>
          </a:p>
          <a:p>
            <a:pPr marL="873760" indent="-400685">
              <a:spcBef>
                <a:spcPts val="770"/>
              </a:spcBef>
              <a:buAutoNum type="arabicPeriod"/>
              <a:tabLst>
                <a:tab pos="873760" algn="l"/>
              </a:tabLst>
            </a:pPr>
            <a:r>
              <a:rPr sz="3200" dirty="0">
                <a:solidFill>
                  <a:srgbClr val="943735"/>
                </a:solidFill>
                <a:latin typeface="Calibri"/>
                <a:cs typeface="Calibri"/>
              </a:rPr>
              <a:t>Based</a:t>
            </a:r>
            <a:r>
              <a:rPr sz="3200" spc="-75" dirty="0">
                <a:solidFill>
                  <a:srgbClr val="943735"/>
                </a:solidFill>
                <a:latin typeface="Calibri"/>
                <a:cs typeface="Calibri"/>
              </a:rPr>
              <a:t> </a:t>
            </a:r>
            <a:r>
              <a:rPr sz="3200" dirty="0">
                <a:solidFill>
                  <a:srgbClr val="943735"/>
                </a:solidFill>
                <a:latin typeface="Calibri"/>
                <a:cs typeface="Calibri"/>
              </a:rPr>
              <a:t>on</a:t>
            </a:r>
            <a:r>
              <a:rPr sz="3200" spc="-80" dirty="0">
                <a:solidFill>
                  <a:srgbClr val="943735"/>
                </a:solidFill>
                <a:latin typeface="Calibri"/>
                <a:cs typeface="Calibri"/>
              </a:rPr>
              <a:t> </a:t>
            </a:r>
            <a:r>
              <a:rPr sz="3200" dirty="0">
                <a:solidFill>
                  <a:srgbClr val="943735"/>
                </a:solidFill>
                <a:latin typeface="Calibri"/>
                <a:cs typeface="Calibri"/>
              </a:rPr>
              <a:t>deterministic</a:t>
            </a:r>
            <a:r>
              <a:rPr sz="3200" spc="-45" dirty="0">
                <a:solidFill>
                  <a:srgbClr val="943735"/>
                </a:solidFill>
                <a:latin typeface="Calibri"/>
                <a:cs typeface="Calibri"/>
              </a:rPr>
              <a:t> </a:t>
            </a:r>
            <a:r>
              <a:rPr sz="3200" spc="-10" dirty="0">
                <a:solidFill>
                  <a:srgbClr val="943735"/>
                </a:solidFill>
                <a:latin typeface="Calibri"/>
                <a:cs typeface="Calibri"/>
              </a:rPr>
              <a:t>behaviour</a:t>
            </a:r>
            <a:endParaRPr sz="3200">
              <a:latin typeface="Calibri"/>
              <a:cs typeface="Calibri"/>
            </a:endParaRPr>
          </a:p>
          <a:p>
            <a:pPr marL="873760" indent="-400685">
              <a:spcBef>
                <a:spcPts val="770"/>
              </a:spcBef>
              <a:buAutoNum type="arabicPeriod"/>
              <a:tabLst>
                <a:tab pos="873760" algn="l"/>
              </a:tabLst>
            </a:pPr>
            <a:r>
              <a:rPr sz="3200" dirty="0">
                <a:solidFill>
                  <a:srgbClr val="FF0000"/>
                </a:solidFill>
                <a:latin typeface="Calibri"/>
                <a:cs typeface="Calibri"/>
              </a:rPr>
              <a:t>Based</a:t>
            </a:r>
            <a:r>
              <a:rPr sz="3200" spc="-45" dirty="0">
                <a:solidFill>
                  <a:srgbClr val="FF0000"/>
                </a:solidFill>
                <a:latin typeface="Calibri"/>
                <a:cs typeface="Calibri"/>
              </a:rPr>
              <a:t> </a:t>
            </a:r>
            <a:r>
              <a:rPr sz="3200" dirty="0">
                <a:solidFill>
                  <a:srgbClr val="FF0000"/>
                </a:solidFill>
                <a:latin typeface="Calibri"/>
                <a:cs typeface="Calibri"/>
              </a:rPr>
              <a:t>on</a:t>
            </a:r>
            <a:r>
              <a:rPr sz="3200" spc="-35" dirty="0">
                <a:solidFill>
                  <a:srgbClr val="FF0000"/>
                </a:solidFill>
                <a:latin typeface="Calibri"/>
                <a:cs typeface="Calibri"/>
              </a:rPr>
              <a:t> </a:t>
            </a:r>
            <a:r>
              <a:rPr sz="3200" spc="-10" dirty="0">
                <a:solidFill>
                  <a:srgbClr val="FF0000"/>
                </a:solidFill>
                <a:latin typeface="Calibri"/>
                <a:cs typeface="Calibri"/>
              </a:rPr>
              <a:t>Triggering.</a:t>
            </a:r>
            <a:endParaRPr sz="32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521542" y="831415"/>
            <a:ext cx="9148916" cy="913712"/>
          </a:xfrm>
          <a:prstGeom prst="rect">
            <a:avLst/>
          </a:prstGeom>
          <a:ln w="9144">
            <a:solidFill>
              <a:srgbClr val="00AF50"/>
            </a:solidFill>
          </a:ln>
        </p:spPr>
        <p:txBody>
          <a:bodyPr vert="horz" wrap="square" lIns="0" tIns="234315" rIns="0" bIns="0" rtlCol="0" anchor="ctr">
            <a:spAutoFit/>
          </a:bodyPr>
          <a:lstStyle/>
          <a:p>
            <a:pPr marL="240029">
              <a:lnSpc>
                <a:spcPct val="100000"/>
              </a:lnSpc>
              <a:spcBef>
                <a:spcPts val="1845"/>
              </a:spcBef>
              <a:tabLst>
                <a:tab pos="5666105" algn="l"/>
              </a:tabLst>
            </a:pPr>
            <a:r>
              <a:rPr dirty="0">
                <a:solidFill>
                  <a:srgbClr val="E36C09"/>
                </a:solidFill>
              </a:rPr>
              <a:t>1)</a:t>
            </a:r>
            <a:r>
              <a:rPr spc="-80" dirty="0">
                <a:solidFill>
                  <a:srgbClr val="E36C09"/>
                </a:solidFill>
              </a:rPr>
              <a:t> </a:t>
            </a:r>
            <a:r>
              <a:rPr dirty="0">
                <a:solidFill>
                  <a:srgbClr val="E36C09"/>
                </a:solidFill>
              </a:rPr>
              <a:t>Classification</a:t>
            </a:r>
            <a:r>
              <a:rPr spc="-85" dirty="0">
                <a:solidFill>
                  <a:srgbClr val="E36C09"/>
                </a:solidFill>
              </a:rPr>
              <a:t> </a:t>
            </a:r>
            <a:r>
              <a:rPr dirty="0">
                <a:solidFill>
                  <a:srgbClr val="E36C09"/>
                </a:solidFill>
              </a:rPr>
              <a:t>based</a:t>
            </a:r>
            <a:r>
              <a:rPr spc="-95" dirty="0">
                <a:solidFill>
                  <a:srgbClr val="E36C09"/>
                </a:solidFill>
              </a:rPr>
              <a:t> </a:t>
            </a:r>
            <a:r>
              <a:rPr spc="-25" dirty="0">
                <a:solidFill>
                  <a:srgbClr val="E36C09"/>
                </a:solidFill>
              </a:rPr>
              <a:t>o</a:t>
            </a:r>
            <a:r>
              <a:rPr lang="en-IN" spc="-25" dirty="0">
                <a:solidFill>
                  <a:srgbClr val="E36C09"/>
                </a:solidFill>
              </a:rPr>
              <a:t>n </a:t>
            </a:r>
            <a:r>
              <a:rPr spc="-10" dirty="0">
                <a:solidFill>
                  <a:srgbClr val="E36C09"/>
                </a:solidFill>
              </a:rPr>
              <a:t>Generation</a:t>
            </a:r>
          </a:p>
        </p:txBody>
      </p:sp>
      <p:sp>
        <p:nvSpPr>
          <p:cNvPr id="10" name="object 10"/>
          <p:cNvSpPr txBox="1"/>
          <p:nvPr/>
        </p:nvSpPr>
        <p:spPr>
          <a:xfrm>
            <a:off x="3854041" y="2420633"/>
            <a:ext cx="3383915" cy="3500754"/>
          </a:xfrm>
          <a:prstGeom prst="rect">
            <a:avLst/>
          </a:prstGeom>
        </p:spPr>
        <p:txBody>
          <a:bodyPr vert="horz" wrap="square" lIns="0" tIns="12700" rIns="0" bIns="0" rtlCol="0">
            <a:spAutoFit/>
          </a:bodyPr>
          <a:lstStyle/>
          <a:p>
            <a:pPr marL="520065" indent="-507365">
              <a:spcBef>
                <a:spcPts val="100"/>
              </a:spcBef>
              <a:buAutoNum type="alphaUcParenR"/>
              <a:tabLst>
                <a:tab pos="520065" algn="l"/>
              </a:tabLst>
            </a:pPr>
            <a:r>
              <a:rPr sz="3000" dirty="0">
                <a:solidFill>
                  <a:srgbClr val="FF0000"/>
                </a:solidFill>
                <a:latin typeface="Calibri"/>
                <a:cs typeface="Calibri"/>
              </a:rPr>
              <a:t>First</a:t>
            </a:r>
            <a:r>
              <a:rPr sz="3000" spc="-140" dirty="0">
                <a:solidFill>
                  <a:srgbClr val="FF0000"/>
                </a:solidFill>
                <a:latin typeface="Calibri"/>
                <a:cs typeface="Calibri"/>
              </a:rPr>
              <a:t> </a:t>
            </a:r>
            <a:r>
              <a:rPr sz="3000" spc="-10" dirty="0">
                <a:solidFill>
                  <a:srgbClr val="FF0000"/>
                </a:solidFill>
                <a:latin typeface="Calibri"/>
                <a:cs typeface="Calibri"/>
              </a:rPr>
              <a:t>Generation</a:t>
            </a:r>
            <a:endParaRPr sz="3000" dirty="0">
              <a:latin typeface="Calibri"/>
              <a:cs typeface="Calibri"/>
            </a:endParaRPr>
          </a:p>
          <a:p>
            <a:pPr>
              <a:spcBef>
                <a:spcPts val="655"/>
              </a:spcBef>
              <a:buAutoNum type="alphaUcParenR"/>
            </a:pPr>
            <a:endParaRPr sz="3000" dirty="0">
              <a:latin typeface="Calibri"/>
              <a:cs typeface="Calibri"/>
            </a:endParaRPr>
          </a:p>
          <a:p>
            <a:pPr marL="419734" indent="-407034">
              <a:buAutoNum type="alphaUcParenR"/>
              <a:tabLst>
                <a:tab pos="419734" algn="l"/>
              </a:tabLst>
            </a:pPr>
            <a:r>
              <a:rPr sz="3000" dirty="0">
                <a:solidFill>
                  <a:srgbClr val="00AF50"/>
                </a:solidFill>
                <a:latin typeface="Calibri"/>
                <a:cs typeface="Calibri"/>
              </a:rPr>
              <a:t>Second</a:t>
            </a:r>
            <a:r>
              <a:rPr sz="3000" spc="-55" dirty="0">
                <a:solidFill>
                  <a:srgbClr val="00AF50"/>
                </a:solidFill>
                <a:latin typeface="Calibri"/>
                <a:cs typeface="Calibri"/>
              </a:rPr>
              <a:t> </a:t>
            </a:r>
            <a:r>
              <a:rPr sz="3000" spc="-10" dirty="0">
                <a:solidFill>
                  <a:srgbClr val="00AF50"/>
                </a:solidFill>
                <a:latin typeface="Calibri"/>
                <a:cs typeface="Calibri"/>
              </a:rPr>
              <a:t>Generation</a:t>
            </a:r>
            <a:endParaRPr sz="3000" dirty="0">
              <a:latin typeface="Calibri"/>
              <a:cs typeface="Calibri"/>
            </a:endParaRPr>
          </a:p>
          <a:p>
            <a:pPr>
              <a:spcBef>
                <a:spcPts val="660"/>
              </a:spcBef>
              <a:buAutoNum type="alphaUcParenR"/>
            </a:pPr>
            <a:endParaRPr sz="3000" dirty="0">
              <a:latin typeface="Calibri"/>
              <a:cs typeface="Calibri"/>
            </a:endParaRPr>
          </a:p>
          <a:p>
            <a:pPr marL="415290" indent="-402590">
              <a:buAutoNum type="alphaUcParenR"/>
              <a:tabLst>
                <a:tab pos="415290" algn="l"/>
              </a:tabLst>
            </a:pPr>
            <a:r>
              <a:rPr sz="3000" dirty="0">
                <a:solidFill>
                  <a:srgbClr val="C00000"/>
                </a:solidFill>
                <a:latin typeface="Calibri"/>
                <a:cs typeface="Calibri"/>
              </a:rPr>
              <a:t>Third</a:t>
            </a:r>
            <a:r>
              <a:rPr sz="3000" spc="-100" dirty="0">
                <a:solidFill>
                  <a:srgbClr val="C00000"/>
                </a:solidFill>
                <a:latin typeface="Calibri"/>
                <a:cs typeface="Calibri"/>
              </a:rPr>
              <a:t> </a:t>
            </a:r>
            <a:r>
              <a:rPr sz="3000" spc="-10" dirty="0">
                <a:solidFill>
                  <a:srgbClr val="C00000"/>
                </a:solidFill>
                <a:latin typeface="Calibri"/>
                <a:cs typeface="Calibri"/>
              </a:rPr>
              <a:t>Generation</a:t>
            </a:r>
            <a:endParaRPr sz="3000" dirty="0">
              <a:latin typeface="Calibri"/>
              <a:cs typeface="Calibri"/>
            </a:endParaRPr>
          </a:p>
          <a:p>
            <a:pPr>
              <a:spcBef>
                <a:spcPts val="660"/>
              </a:spcBef>
              <a:buAutoNum type="alphaUcParenR"/>
            </a:pPr>
            <a:endParaRPr sz="3000" dirty="0">
              <a:latin typeface="Calibri"/>
              <a:cs typeface="Calibri"/>
            </a:endParaRPr>
          </a:p>
          <a:p>
            <a:pPr marL="447040" indent="-434340">
              <a:buAutoNum type="alphaUcParenR"/>
              <a:tabLst>
                <a:tab pos="447040" algn="l"/>
              </a:tabLst>
            </a:pPr>
            <a:r>
              <a:rPr sz="3000" dirty="0">
                <a:solidFill>
                  <a:srgbClr val="FF00FF"/>
                </a:solidFill>
                <a:latin typeface="Calibri"/>
                <a:cs typeface="Calibri"/>
              </a:rPr>
              <a:t>Fourth</a:t>
            </a:r>
            <a:r>
              <a:rPr sz="3000" spc="-130" dirty="0">
                <a:solidFill>
                  <a:srgbClr val="FF00FF"/>
                </a:solidFill>
                <a:latin typeface="Calibri"/>
                <a:cs typeface="Calibri"/>
              </a:rPr>
              <a:t> </a:t>
            </a:r>
            <a:r>
              <a:rPr sz="3000" spc="-10" dirty="0">
                <a:solidFill>
                  <a:srgbClr val="FF00FF"/>
                </a:solidFill>
                <a:latin typeface="Calibri"/>
                <a:cs typeface="Calibri"/>
              </a:rPr>
              <a:t>Generation</a:t>
            </a:r>
            <a:endParaRPr sz="3000" dirty="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1718310">
              <a:lnSpc>
                <a:spcPct val="100000"/>
              </a:lnSpc>
              <a:spcBef>
                <a:spcPts val="105"/>
              </a:spcBef>
            </a:pPr>
            <a:r>
              <a:rPr dirty="0"/>
              <a:t>a)</a:t>
            </a:r>
            <a:r>
              <a:rPr spc="-114" dirty="0"/>
              <a:t> </a:t>
            </a:r>
            <a:r>
              <a:rPr dirty="0"/>
              <a:t>First</a:t>
            </a:r>
            <a:r>
              <a:rPr spc="-110" dirty="0"/>
              <a:t> </a:t>
            </a:r>
            <a:r>
              <a:rPr spc="-10" dirty="0"/>
              <a:t>Generation</a:t>
            </a:r>
            <a:endParaRPr/>
          </a:p>
        </p:txBody>
      </p:sp>
      <p:sp>
        <p:nvSpPr>
          <p:cNvPr id="3" name="object 3"/>
          <p:cNvSpPr txBox="1"/>
          <p:nvPr/>
        </p:nvSpPr>
        <p:spPr>
          <a:xfrm>
            <a:off x="2059940" y="1509942"/>
            <a:ext cx="7787640" cy="3343275"/>
          </a:xfrm>
          <a:prstGeom prst="rect">
            <a:avLst/>
          </a:prstGeom>
        </p:spPr>
        <p:txBody>
          <a:bodyPr vert="horz" wrap="square" lIns="0" tIns="110489" rIns="0" bIns="0" rtlCol="0">
            <a:spAutoFit/>
          </a:bodyPr>
          <a:lstStyle/>
          <a:p>
            <a:pPr marL="354965" indent="-342265">
              <a:spcBef>
                <a:spcPts val="869"/>
              </a:spcBef>
              <a:buFont typeface="Arial MT"/>
              <a:buChar char="•"/>
              <a:tabLst>
                <a:tab pos="354965" algn="l"/>
              </a:tabLst>
            </a:pPr>
            <a:r>
              <a:rPr sz="3200" dirty="0">
                <a:latin typeface="Calibri"/>
                <a:cs typeface="Calibri"/>
              </a:rPr>
              <a:t>8</a:t>
            </a:r>
            <a:r>
              <a:rPr sz="3200" spc="-15" dirty="0">
                <a:latin typeface="Calibri"/>
                <a:cs typeface="Calibri"/>
              </a:rPr>
              <a:t> </a:t>
            </a:r>
            <a:r>
              <a:rPr sz="3200" dirty="0">
                <a:latin typeface="Calibri"/>
                <a:cs typeface="Calibri"/>
              </a:rPr>
              <a:t>–</a:t>
            </a:r>
            <a:r>
              <a:rPr sz="3200" spc="-10" dirty="0">
                <a:latin typeface="Calibri"/>
                <a:cs typeface="Calibri"/>
              </a:rPr>
              <a:t> </a:t>
            </a:r>
            <a:r>
              <a:rPr sz="3200" dirty="0">
                <a:latin typeface="Calibri"/>
                <a:cs typeface="Calibri"/>
              </a:rPr>
              <a:t>bit</a:t>
            </a:r>
            <a:r>
              <a:rPr sz="3200" spc="-20" dirty="0">
                <a:latin typeface="Calibri"/>
                <a:cs typeface="Calibri"/>
              </a:rPr>
              <a:t> </a:t>
            </a:r>
            <a:r>
              <a:rPr sz="3200" spc="-10" dirty="0">
                <a:latin typeface="Calibri"/>
                <a:cs typeface="Calibri"/>
              </a:rPr>
              <a:t>microprocessors</a:t>
            </a:r>
            <a:endParaRPr sz="3200">
              <a:latin typeface="Calibri"/>
              <a:cs typeface="Calibri"/>
            </a:endParaRPr>
          </a:p>
          <a:p>
            <a:pPr marL="354965" indent="-342265">
              <a:spcBef>
                <a:spcPts val="770"/>
              </a:spcBef>
              <a:buFont typeface="Arial MT"/>
              <a:buChar char="•"/>
              <a:tabLst>
                <a:tab pos="354965" algn="l"/>
              </a:tabLst>
            </a:pPr>
            <a:r>
              <a:rPr sz="3200" dirty="0">
                <a:latin typeface="Calibri"/>
                <a:cs typeface="Calibri"/>
              </a:rPr>
              <a:t>8085</a:t>
            </a:r>
            <a:r>
              <a:rPr sz="3200" spc="-45" dirty="0">
                <a:latin typeface="Calibri"/>
                <a:cs typeface="Calibri"/>
              </a:rPr>
              <a:t> </a:t>
            </a:r>
            <a:r>
              <a:rPr sz="3200" dirty="0">
                <a:latin typeface="Calibri"/>
                <a:cs typeface="Calibri"/>
              </a:rPr>
              <a:t>and</a:t>
            </a:r>
            <a:r>
              <a:rPr sz="3200" spc="-30" dirty="0">
                <a:latin typeface="Calibri"/>
                <a:cs typeface="Calibri"/>
              </a:rPr>
              <a:t> </a:t>
            </a:r>
            <a:r>
              <a:rPr sz="3200" dirty="0">
                <a:latin typeface="Calibri"/>
                <a:cs typeface="Calibri"/>
              </a:rPr>
              <a:t>Z80,</a:t>
            </a:r>
            <a:r>
              <a:rPr sz="3200" spc="-35" dirty="0">
                <a:latin typeface="Calibri"/>
                <a:cs typeface="Calibri"/>
              </a:rPr>
              <a:t> </a:t>
            </a:r>
            <a:r>
              <a:rPr sz="3200" spc="-30" dirty="0">
                <a:latin typeface="Calibri"/>
                <a:cs typeface="Calibri"/>
              </a:rPr>
              <a:t>4-</a:t>
            </a:r>
            <a:r>
              <a:rPr sz="3200" dirty="0">
                <a:latin typeface="Calibri"/>
                <a:cs typeface="Calibri"/>
              </a:rPr>
              <a:t>bit</a:t>
            </a:r>
            <a:r>
              <a:rPr sz="3200" spc="-50" dirty="0">
                <a:latin typeface="Calibri"/>
                <a:cs typeface="Calibri"/>
              </a:rPr>
              <a:t> </a:t>
            </a:r>
            <a:r>
              <a:rPr sz="3200" spc="-10" dirty="0">
                <a:latin typeface="Calibri"/>
                <a:cs typeface="Calibri"/>
              </a:rPr>
              <a:t>microcontrollers</a:t>
            </a:r>
            <a:endParaRPr sz="3200">
              <a:latin typeface="Calibri"/>
              <a:cs typeface="Calibri"/>
            </a:endParaRPr>
          </a:p>
          <a:p>
            <a:pPr marL="355600" marR="939165" indent="-342900">
              <a:spcBef>
                <a:spcPts val="770"/>
              </a:spcBef>
              <a:buFont typeface="Arial MT"/>
              <a:buChar char="•"/>
              <a:tabLst>
                <a:tab pos="355600" algn="l"/>
              </a:tabLst>
            </a:pPr>
            <a:r>
              <a:rPr sz="3200" dirty="0">
                <a:latin typeface="Calibri"/>
                <a:cs typeface="Calibri"/>
              </a:rPr>
              <a:t>Simple</a:t>
            </a:r>
            <a:r>
              <a:rPr sz="3200" spc="-85" dirty="0">
                <a:latin typeface="Calibri"/>
                <a:cs typeface="Calibri"/>
              </a:rPr>
              <a:t> </a:t>
            </a:r>
            <a:r>
              <a:rPr sz="3200" spc="-10" dirty="0">
                <a:latin typeface="Calibri"/>
                <a:cs typeface="Calibri"/>
              </a:rPr>
              <a:t>hardware</a:t>
            </a:r>
            <a:r>
              <a:rPr sz="3200" spc="-100" dirty="0">
                <a:latin typeface="Calibri"/>
                <a:cs typeface="Calibri"/>
              </a:rPr>
              <a:t> </a:t>
            </a:r>
            <a:r>
              <a:rPr sz="3200" dirty="0">
                <a:latin typeface="Calibri"/>
                <a:cs typeface="Calibri"/>
              </a:rPr>
              <a:t>circuits</a:t>
            </a:r>
            <a:r>
              <a:rPr sz="3200" spc="-105" dirty="0">
                <a:latin typeface="Calibri"/>
                <a:cs typeface="Calibri"/>
              </a:rPr>
              <a:t> </a:t>
            </a:r>
            <a:r>
              <a:rPr sz="3200" dirty="0">
                <a:latin typeface="Calibri"/>
                <a:cs typeface="Calibri"/>
              </a:rPr>
              <a:t>with</a:t>
            </a:r>
            <a:r>
              <a:rPr sz="3200" spc="-85" dirty="0">
                <a:latin typeface="Calibri"/>
                <a:cs typeface="Calibri"/>
              </a:rPr>
              <a:t> </a:t>
            </a:r>
            <a:r>
              <a:rPr sz="3200" spc="-10" dirty="0">
                <a:latin typeface="Calibri"/>
                <a:cs typeface="Calibri"/>
              </a:rPr>
              <a:t>firmware </a:t>
            </a:r>
            <a:r>
              <a:rPr sz="3200" dirty="0">
                <a:latin typeface="Calibri"/>
                <a:cs typeface="Calibri"/>
              </a:rPr>
              <a:t>developed</a:t>
            </a:r>
            <a:r>
              <a:rPr sz="3200" spc="-45" dirty="0">
                <a:latin typeface="Calibri"/>
                <a:cs typeface="Calibri"/>
              </a:rPr>
              <a:t> </a:t>
            </a:r>
            <a:r>
              <a:rPr sz="3200" dirty="0">
                <a:latin typeface="Calibri"/>
                <a:cs typeface="Calibri"/>
              </a:rPr>
              <a:t>In</a:t>
            </a:r>
            <a:r>
              <a:rPr sz="3200" spc="-30" dirty="0">
                <a:latin typeface="Calibri"/>
                <a:cs typeface="Calibri"/>
              </a:rPr>
              <a:t> </a:t>
            </a:r>
            <a:r>
              <a:rPr sz="3200" dirty="0">
                <a:latin typeface="Calibri"/>
                <a:cs typeface="Calibri"/>
              </a:rPr>
              <a:t>assembly</a:t>
            </a:r>
            <a:r>
              <a:rPr sz="3200" spc="-20" dirty="0">
                <a:latin typeface="Calibri"/>
                <a:cs typeface="Calibri"/>
              </a:rPr>
              <a:t> code</a:t>
            </a:r>
            <a:endParaRPr sz="3200">
              <a:latin typeface="Calibri"/>
              <a:cs typeface="Calibri"/>
            </a:endParaRPr>
          </a:p>
          <a:p>
            <a:pPr marL="355600" marR="5080" indent="-342900">
              <a:spcBef>
                <a:spcPts val="770"/>
              </a:spcBef>
              <a:buFont typeface="Arial MT"/>
              <a:buChar char="•"/>
              <a:tabLst>
                <a:tab pos="355600" algn="l"/>
              </a:tabLst>
            </a:pPr>
            <a:r>
              <a:rPr sz="3200" dirty="0">
                <a:latin typeface="Calibri"/>
                <a:cs typeface="Calibri"/>
              </a:rPr>
              <a:t>Ex:</a:t>
            </a:r>
            <a:r>
              <a:rPr sz="3200" spc="-85" dirty="0">
                <a:latin typeface="Calibri"/>
                <a:cs typeface="Calibri"/>
              </a:rPr>
              <a:t> </a:t>
            </a:r>
            <a:r>
              <a:rPr sz="3200" dirty="0">
                <a:latin typeface="Calibri"/>
                <a:cs typeface="Calibri"/>
              </a:rPr>
              <a:t>Digital</a:t>
            </a:r>
            <a:r>
              <a:rPr sz="3200" spc="-65" dirty="0">
                <a:latin typeface="Calibri"/>
                <a:cs typeface="Calibri"/>
              </a:rPr>
              <a:t> </a:t>
            </a:r>
            <a:r>
              <a:rPr sz="3200" dirty="0">
                <a:latin typeface="Calibri"/>
                <a:cs typeface="Calibri"/>
              </a:rPr>
              <a:t>telephone</a:t>
            </a:r>
            <a:r>
              <a:rPr sz="3200" spc="-85" dirty="0">
                <a:latin typeface="Calibri"/>
                <a:cs typeface="Calibri"/>
              </a:rPr>
              <a:t> </a:t>
            </a:r>
            <a:r>
              <a:rPr sz="3200" spc="-10" dirty="0">
                <a:latin typeface="Calibri"/>
                <a:cs typeface="Calibri"/>
              </a:rPr>
              <a:t>keypads,</a:t>
            </a:r>
            <a:r>
              <a:rPr sz="3200" spc="-80" dirty="0">
                <a:latin typeface="Calibri"/>
                <a:cs typeface="Calibri"/>
              </a:rPr>
              <a:t> </a:t>
            </a:r>
            <a:r>
              <a:rPr sz="3200" dirty="0">
                <a:latin typeface="Calibri"/>
                <a:cs typeface="Calibri"/>
              </a:rPr>
              <a:t>stepper</a:t>
            </a:r>
            <a:r>
              <a:rPr sz="3200" spc="-85" dirty="0">
                <a:latin typeface="Calibri"/>
                <a:cs typeface="Calibri"/>
              </a:rPr>
              <a:t> </a:t>
            </a:r>
            <a:r>
              <a:rPr sz="3200" spc="-10" dirty="0">
                <a:latin typeface="Calibri"/>
                <a:cs typeface="Calibri"/>
              </a:rPr>
              <a:t>motor </a:t>
            </a:r>
            <a:r>
              <a:rPr sz="3200" dirty="0">
                <a:latin typeface="Calibri"/>
                <a:cs typeface="Calibri"/>
              </a:rPr>
              <a:t>control</a:t>
            </a:r>
            <a:r>
              <a:rPr sz="3200" spc="-135" dirty="0">
                <a:latin typeface="Calibri"/>
                <a:cs typeface="Calibri"/>
              </a:rPr>
              <a:t> </a:t>
            </a:r>
            <a:r>
              <a:rPr sz="3200" dirty="0">
                <a:latin typeface="Calibri"/>
                <a:cs typeface="Calibri"/>
              </a:rPr>
              <a:t>units</a:t>
            </a:r>
            <a:r>
              <a:rPr sz="3200" spc="-114" dirty="0">
                <a:latin typeface="Calibri"/>
                <a:cs typeface="Calibri"/>
              </a:rPr>
              <a:t> </a:t>
            </a:r>
            <a:r>
              <a:rPr sz="3200" spc="-25" dirty="0">
                <a:latin typeface="Calibri"/>
                <a:cs typeface="Calibri"/>
              </a:rPr>
              <a:t>etc</a:t>
            </a:r>
            <a:endParaRPr sz="320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1365885">
              <a:lnSpc>
                <a:spcPct val="100000"/>
              </a:lnSpc>
              <a:spcBef>
                <a:spcPts val="105"/>
              </a:spcBef>
            </a:pPr>
            <a:r>
              <a:rPr dirty="0"/>
              <a:t>b)</a:t>
            </a:r>
            <a:r>
              <a:rPr spc="-50" dirty="0"/>
              <a:t> </a:t>
            </a:r>
            <a:r>
              <a:rPr dirty="0"/>
              <a:t>Second</a:t>
            </a:r>
            <a:r>
              <a:rPr spc="-35" dirty="0"/>
              <a:t> </a:t>
            </a:r>
            <a:r>
              <a:rPr spc="-10" dirty="0"/>
              <a:t>Generation</a:t>
            </a:r>
            <a:endParaRPr/>
          </a:p>
        </p:txBody>
      </p:sp>
      <p:sp>
        <p:nvSpPr>
          <p:cNvPr id="3" name="object 3"/>
          <p:cNvSpPr txBox="1">
            <a:spLocks noGrp="1"/>
          </p:cNvSpPr>
          <p:nvPr>
            <p:ph type="body" idx="1"/>
          </p:nvPr>
        </p:nvSpPr>
        <p:spPr>
          <a:xfrm>
            <a:off x="1182329" y="2150090"/>
            <a:ext cx="10515600" cy="3513782"/>
          </a:xfrm>
          <a:prstGeom prst="rect">
            <a:avLst/>
          </a:prstGeom>
        </p:spPr>
        <p:txBody>
          <a:bodyPr vert="horz" wrap="square" lIns="0" tIns="12700" rIns="0" bIns="0" rtlCol="0">
            <a:spAutoFit/>
          </a:bodyPr>
          <a:lstStyle/>
          <a:p>
            <a:pPr marL="381000" marR="1722755" indent="-342900">
              <a:lnSpc>
                <a:spcPct val="100000"/>
              </a:lnSpc>
              <a:spcBef>
                <a:spcPts val="100"/>
              </a:spcBef>
              <a:buFont typeface="Arial MT"/>
              <a:buChar char="•"/>
              <a:tabLst>
                <a:tab pos="381000" algn="l"/>
              </a:tabLst>
            </a:pPr>
            <a:r>
              <a:rPr sz="3000" spc="-20" dirty="0"/>
              <a:t>16-</a:t>
            </a:r>
            <a:r>
              <a:rPr sz="3000" dirty="0"/>
              <a:t>bit</a:t>
            </a:r>
            <a:r>
              <a:rPr sz="3000" spc="-35" dirty="0"/>
              <a:t> </a:t>
            </a:r>
            <a:r>
              <a:rPr sz="3000" spc="-10" dirty="0"/>
              <a:t>microprocessors</a:t>
            </a:r>
            <a:r>
              <a:rPr sz="3000" spc="-25" dirty="0"/>
              <a:t> </a:t>
            </a:r>
            <a:r>
              <a:rPr sz="3000" dirty="0"/>
              <a:t>and</a:t>
            </a:r>
            <a:r>
              <a:rPr sz="3000" spc="-25" dirty="0"/>
              <a:t> </a:t>
            </a:r>
            <a:r>
              <a:rPr sz="3000" dirty="0"/>
              <a:t>8</a:t>
            </a:r>
            <a:r>
              <a:rPr sz="3000" spc="-20" dirty="0"/>
              <a:t> </a:t>
            </a:r>
            <a:r>
              <a:rPr sz="3000" dirty="0"/>
              <a:t>or</a:t>
            </a:r>
            <a:r>
              <a:rPr sz="3000" spc="-30" dirty="0"/>
              <a:t> </a:t>
            </a:r>
            <a:r>
              <a:rPr sz="3000" dirty="0"/>
              <a:t>16</a:t>
            </a:r>
            <a:r>
              <a:rPr sz="3000" spc="-15" dirty="0"/>
              <a:t> </a:t>
            </a:r>
            <a:r>
              <a:rPr sz="3000" spc="-25" dirty="0"/>
              <a:t>bit </a:t>
            </a:r>
            <a:r>
              <a:rPr sz="3000" spc="-10" dirty="0"/>
              <a:t>microcontrollers</a:t>
            </a:r>
            <a:endParaRPr sz="3000" dirty="0"/>
          </a:p>
          <a:p>
            <a:pPr marL="381000" marR="40640" indent="-342900">
              <a:lnSpc>
                <a:spcPct val="100000"/>
              </a:lnSpc>
              <a:spcBef>
                <a:spcPts val="725"/>
              </a:spcBef>
              <a:buFont typeface="Arial MT"/>
              <a:buChar char="•"/>
              <a:tabLst>
                <a:tab pos="381000" algn="l"/>
              </a:tabLst>
            </a:pPr>
            <a:r>
              <a:rPr sz="3000" dirty="0"/>
              <a:t>The</a:t>
            </a:r>
            <a:r>
              <a:rPr sz="3000" spc="-40" dirty="0"/>
              <a:t> </a:t>
            </a:r>
            <a:r>
              <a:rPr sz="3000" dirty="0"/>
              <a:t>instruction</a:t>
            </a:r>
            <a:r>
              <a:rPr sz="3000" spc="-35" dirty="0"/>
              <a:t> </a:t>
            </a:r>
            <a:r>
              <a:rPr sz="3000" dirty="0"/>
              <a:t>set</a:t>
            </a:r>
            <a:r>
              <a:rPr sz="3000" spc="-45" dirty="0"/>
              <a:t> </a:t>
            </a:r>
            <a:r>
              <a:rPr sz="3000" dirty="0"/>
              <a:t>for</a:t>
            </a:r>
            <a:r>
              <a:rPr sz="3000" spc="-35" dirty="0"/>
              <a:t> </a:t>
            </a:r>
            <a:r>
              <a:rPr sz="3000" dirty="0"/>
              <a:t>the</a:t>
            </a:r>
            <a:r>
              <a:rPr sz="3000" spc="-55" dirty="0"/>
              <a:t> </a:t>
            </a:r>
            <a:r>
              <a:rPr sz="3000" dirty="0"/>
              <a:t>1</a:t>
            </a:r>
            <a:r>
              <a:rPr sz="3000" baseline="25000" dirty="0"/>
              <a:t>st</a:t>
            </a:r>
            <a:r>
              <a:rPr sz="3000" spc="300" baseline="25000" dirty="0"/>
              <a:t> </a:t>
            </a:r>
            <a:r>
              <a:rPr sz="3000" dirty="0"/>
              <a:t>or</a:t>
            </a:r>
            <a:r>
              <a:rPr sz="3000" spc="-40" dirty="0"/>
              <a:t> </a:t>
            </a:r>
            <a:r>
              <a:rPr sz="3000" dirty="0"/>
              <a:t>2</a:t>
            </a:r>
            <a:r>
              <a:rPr sz="3000" baseline="25000" dirty="0"/>
              <a:t>nd</a:t>
            </a:r>
            <a:r>
              <a:rPr sz="3000" spc="254" baseline="25000" dirty="0"/>
              <a:t> </a:t>
            </a:r>
            <a:r>
              <a:rPr sz="3000" spc="-10" dirty="0"/>
              <a:t>generation </a:t>
            </a:r>
            <a:r>
              <a:rPr sz="3000" spc="-20" dirty="0"/>
              <a:t>processors/controllers</a:t>
            </a:r>
            <a:r>
              <a:rPr sz="3000" spc="-50" dirty="0"/>
              <a:t> </a:t>
            </a:r>
            <a:r>
              <a:rPr sz="3000" dirty="0"/>
              <a:t>were</a:t>
            </a:r>
            <a:r>
              <a:rPr sz="3000" spc="-50" dirty="0"/>
              <a:t> </a:t>
            </a:r>
            <a:r>
              <a:rPr sz="3000" dirty="0"/>
              <a:t>much</a:t>
            </a:r>
            <a:r>
              <a:rPr sz="3000" spc="-50" dirty="0"/>
              <a:t> </a:t>
            </a:r>
            <a:r>
              <a:rPr sz="3000" dirty="0"/>
              <a:t>more</a:t>
            </a:r>
            <a:r>
              <a:rPr sz="3000" spc="-50" dirty="0"/>
              <a:t> </a:t>
            </a:r>
            <a:r>
              <a:rPr sz="3000" spc="-10" dirty="0"/>
              <a:t>complex </a:t>
            </a:r>
            <a:r>
              <a:rPr sz="3000" dirty="0"/>
              <a:t>and</a:t>
            </a:r>
            <a:r>
              <a:rPr sz="3000" spc="-40" dirty="0"/>
              <a:t> </a:t>
            </a:r>
            <a:r>
              <a:rPr sz="3000" dirty="0"/>
              <a:t>powerful</a:t>
            </a:r>
            <a:r>
              <a:rPr sz="3000" spc="-40" dirty="0"/>
              <a:t> </a:t>
            </a:r>
            <a:r>
              <a:rPr sz="3000" dirty="0"/>
              <a:t>than</a:t>
            </a:r>
            <a:r>
              <a:rPr sz="3000" spc="-45" dirty="0"/>
              <a:t> </a:t>
            </a:r>
            <a:r>
              <a:rPr sz="3000" dirty="0"/>
              <a:t>the</a:t>
            </a:r>
            <a:r>
              <a:rPr sz="3000" spc="-40" dirty="0"/>
              <a:t> </a:t>
            </a:r>
            <a:r>
              <a:rPr sz="3000" dirty="0"/>
              <a:t>1</a:t>
            </a:r>
            <a:r>
              <a:rPr sz="3000" baseline="25000" dirty="0"/>
              <a:t>st</a:t>
            </a:r>
            <a:r>
              <a:rPr sz="3000" spc="277" baseline="25000" dirty="0"/>
              <a:t> </a:t>
            </a:r>
            <a:r>
              <a:rPr sz="3000" spc="-10" dirty="0"/>
              <a:t>generation processors/controllers.</a:t>
            </a:r>
            <a:endParaRPr sz="3000" dirty="0"/>
          </a:p>
          <a:p>
            <a:pPr marL="381000" marR="763905" indent="-342900">
              <a:lnSpc>
                <a:spcPct val="100000"/>
              </a:lnSpc>
              <a:spcBef>
                <a:spcPts val="720"/>
              </a:spcBef>
              <a:buFont typeface="Arial MT"/>
              <a:buChar char="•"/>
              <a:tabLst>
                <a:tab pos="381000" algn="l"/>
              </a:tabLst>
            </a:pPr>
            <a:r>
              <a:rPr sz="3000" dirty="0"/>
              <a:t>It</a:t>
            </a:r>
            <a:r>
              <a:rPr sz="3000" spc="-75" dirty="0"/>
              <a:t> </a:t>
            </a:r>
            <a:r>
              <a:rPr sz="3000" dirty="0"/>
              <a:t>has</a:t>
            </a:r>
            <a:r>
              <a:rPr sz="3000" spc="-70" dirty="0"/>
              <a:t> </a:t>
            </a:r>
            <a:r>
              <a:rPr sz="3000" dirty="0"/>
              <a:t>embedded</a:t>
            </a:r>
            <a:r>
              <a:rPr sz="3000" spc="-80" dirty="0"/>
              <a:t> </a:t>
            </a:r>
            <a:r>
              <a:rPr sz="3000" dirty="0"/>
              <a:t>operating</a:t>
            </a:r>
            <a:r>
              <a:rPr sz="3000" spc="-60" dirty="0"/>
              <a:t> </a:t>
            </a:r>
            <a:r>
              <a:rPr sz="3000" spc="-10" dirty="0"/>
              <a:t>systems</a:t>
            </a:r>
            <a:r>
              <a:rPr sz="3000" spc="-70" dirty="0"/>
              <a:t> </a:t>
            </a:r>
            <a:r>
              <a:rPr sz="3000" dirty="0"/>
              <a:t>for</a:t>
            </a:r>
            <a:r>
              <a:rPr sz="3000" spc="-65" dirty="0"/>
              <a:t> </a:t>
            </a:r>
            <a:r>
              <a:rPr sz="3000" spc="-10" dirty="0"/>
              <a:t>their operation</a:t>
            </a:r>
            <a:endParaRPr sz="3000" dirty="0"/>
          </a:p>
          <a:p>
            <a:pPr marL="380365" indent="-342265">
              <a:lnSpc>
                <a:spcPct val="100000"/>
              </a:lnSpc>
              <a:spcBef>
                <a:spcPts val="725"/>
              </a:spcBef>
              <a:buFont typeface="Arial MT"/>
              <a:buChar char="•"/>
              <a:tabLst>
                <a:tab pos="380365" algn="l"/>
              </a:tabLst>
            </a:pPr>
            <a:r>
              <a:rPr sz="3000" dirty="0"/>
              <a:t>Ex:</a:t>
            </a:r>
            <a:r>
              <a:rPr sz="3000" spc="-80" dirty="0"/>
              <a:t> </a:t>
            </a:r>
            <a:r>
              <a:rPr sz="3000" dirty="0"/>
              <a:t>Data</a:t>
            </a:r>
            <a:r>
              <a:rPr sz="3000" spc="-85" dirty="0"/>
              <a:t> </a:t>
            </a:r>
            <a:r>
              <a:rPr sz="3000" dirty="0"/>
              <a:t>Acquisition</a:t>
            </a:r>
            <a:r>
              <a:rPr sz="3000" spc="-75" dirty="0"/>
              <a:t> </a:t>
            </a:r>
            <a:r>
              <a:rPr sz="3000" spc="-10" dirty="0"/>
              <a:t>systems,</a:t>
            </a:r>
            <a:r>
              <a:rPr sz="3000" spc="-80" dirty="0"/>
              <a:t> </a:t>
            </a:r>
            <a:r>
              <a:rPr sz="3000" dirty="0"/>
              <a:t>SCADA</a:t>
            </a:r>
            <a:r>
              <a:rPr sz="3000" spc="-75" dirty="0"/>
              <a:t> </a:t>
            </a:r>
            <a:r>
              <a:rPr sz="3000" spc="-10" dirty="0"/>
              <a:t>systems</a:t>
            </a:r>
            <a:r>
              <a:rPr sz="3000" spc="-85" dirty="0"/>
              <a:t> </a:t>
            </a:r>
            <a:r>
              <a:rPr sz="3000" spc="-20" dirty="0"/>
              <a:t>etc.</a:t>
            </a:r>
            <a:endParaRPr sz="3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1600835">
              <a:lnSpc>
                <a:spcPct val="100000"/>
              </a:lnSpc>
              <a:spcBef>
                <a:spcPts val="105"/>
              </a:spcBef>
            </a:pPr>
            <a:r>
              <a:rPr dirty="0"/>
              <a:t>C)</a:t>
            </a:r>
            <a:r>
              <a:rPr spc="-85" dirty="0"/>
              <a:t> </a:t>
            </a:r>
            <a:r>
              <a:rPr dirty="0"/>
              <a:t>Third</a:t>
            </a:r>
            <a:r>
              <a:rPr spc="-90" dirty="0"/>
              <a:t> </a:t>
            </a:r>
            <a:r>
              <a:rPr spc="-10" dirty="0"/>
              <a:t>Generation</a:t>
            </a:r>
            <a:endParaRPr/>
          </a:p>
        </p:txBody>
      </p:sp>
      <p:sp>
        <p:nvSpPr>
          <p:cNvPr id="3" name="object 3"/>
          <p:cNvSpPr txBox="1"/>
          <p:nvPr/>
        </p:nvSpPr>
        <p:spPr>
          <a:xfrm>
            <a:off x="2059940" y="1509942"/>
            <a:ext cx="7880350" cy="2757805"/>
          </a:xfrm>
          <a:prstGeom prst="rect">
            <a:avLst/>
          </a:prstGeom>
        </p:spPr>
        <p:txBody>
          <a:bodyPr vert="horz" wrap="square" lIns="0" tIns="110489" rIns="0" bIns="0" rtlCol="0">
            <a:spAutoFit/>
          </a:bodyPr>
          <a:lstStyle/>
          <a:p>
            <a:pPr marL="354965" indent="-342265">
              <a:spcBef>
                <a:spcPts val="869"/>
              </a:spcBef>
              <a:buFont typeface="Arial MT"/>
              <a:buChar char="•"/>
              <a:tabLst>
                <a:tab pos="354965" algn="l"/>
              </a:tabLst>
            </a:pPr>
            <a:r>
              <a:rPr sz="3200" dirty="0">
                <a:latin typeface="Calibri"/>
                <a:cs typeface="Calibri"/>
              </a:rPr>
              <a:t>32-</a:t>
            </a:r>
            <a:r>
              <a:rPr sz="3200" spc="-60" dirty="0">
                <a:latin typeface="Calibri"/>
                <a:cs typeface="Calibri"/>
              </a:rPr>
              <a:t> </a:t>
            </a:r>
            <a:r>
              <a:rPr sz="3200" dirty="0">
                <a:latin typeface="Calibri"/>
                <a:cs typeface="Calibri"/>
              </a:rPr>
              <a:t>bit</a:t>
            </a:r>
            <a:r>
              <a:rPr sz="3200" spc="-45" dirty="0">
                <a:latin typeface="Calibri"/>
                <a:cs typeface="Calibri"/>
              </a:rPr>
              <a:t> </a:t>
            </a:r>
            <a:r>
              <a:rPr sz="3200" dirty="0">
                <a:latin typeface="Calibri"/>
                <a:cs typeface="Calibri"/>
              </a:rPr>
              <a:t>processors</a:t>
            </a:r>
            <a:r>
              <a:rPr sz="3200" spc="-75" dirty="0">
                <a:latin typeface="Calibri"/>
                <a:cs typeface="Calibri"/>
              </a:rPr>
              <a:t> </a:t>
            </a:r>
            <a:r>
              <a:rPr sz="3200" dirty="0">
                <a:latin typeface="Calibri"/>
                <a:cs typeface="Calibri"/>
              </a:rPr>
              <a:t>and</a:t>
            </a:r>
            <a:r>
              <a:rPr sz="3200" spc="-50" dirty="0">
                <a:latin typeface="Calibri"/>
                <a:cs typeface="Calibri"/>
              </a:rPr>
              <a:t> </a:t>
            </a:r>
            <a:r>
              <a:rPr sz="3200" spc="-10" dirty="0">
                <a:latin typeface="Calibri"/>
                <a:cs typeface="Calibri"/>
              </a:rPr>
              <a:t>16-</a:t>
            </a:r>
            <a:r>
              <a:rPr sz="3200" dirty="0">
                <a:latin typeface="Calibri"/>
                <a:cs typeface="Calibri"/>
              </a:rPr>
              <a:t>bit</a:t>
            </a:r>
            <a:r>
              <a:rPr sz="3200" spc="-50" dirty="0">
                <a:latin typeface="Calibri"/>
                <a:cs typeface="Calibri"/>
              </a:rPr>
              <a:t> </a:t>
            </a:r>
            <a:r>
              <a:rPr sz="3200" spc="-10" dirty="0">
                <a:latin typeface="Calibri"/>
                <a:cs typeface="Calibri"/>
              </a:rPr>
              <a:t>microcontrollers</a:t>
            </a:r>
            <a:endParaRPr sz="3200">
              <a:latin typeface="Calibri"/>
              <a:cs typeface="Calibri"/>
            </a:endParaRPr>
          </a:p>
          <a:p>
            <a:pPr marL="354965" indent="-342265">
              <a:spcBef>
                <a:spcPts val="770"/>
              </a:spcBef>
              <a:buFont typeface="Arial MT"/>
              <a:buChar char="•"/>
              <a:tabLst>
                <a:tab pos="354965" algn="l"/>
              </a:tabLst>
            </a:pPr>
            <a:r>
              <a:rPr sz="3200" spc="-85" dirty="0">
                <a:latin typeface="Calibri"/>
                <a:cs typeface="Calibri"/>
              </a:rPr>
              <a:t>DSP,</a:t>
            </a:r>
            <a:r>
              <a:rPr sz="3200" spc="-95" dirty="0">
                <a:latin typeface="Calibri"/>
                <a:cs typeface="Calibri"/>
              </a:rPr>
              <a:t> </a:t>
            </a:r>
            <a:r>
              <a:rPr sz="3200" spc="-10" dirty="0">
                <a:latin typeface="Calibri"/>
                <a:cs typeface="Calibri"/>
              </a:rPr>
              <a:t>ASICs</a:t>
            </a:r>
            <a:endParaRPr sz="3200">
              <a:latin typeface="Calibri"/>
              <a:cs typeface="Calibri"/>
            </a:endParaRPr>
          </a:p>
          <a:p>
            <a:pPr marL="355600" marR="74295" indent="-342900">
              <a:spcBef>
                <a:spcPts val="770"/>
              </a:spcBef>
              <a:buFont typeface="Arial MT"/>
              <a:buChar char="•"/>
              <a:tabLst>
                <a:tab pos="355600" algn="l"/>
              </a:tabLst>
            </a:pPr>
            <a:r>
              <a:rPr sz="3200" dirty="0">
                <a:latin typeface="Calibri"/>
                <a:cs typeface="Calibri"/>
              </a:rPr>
              <a:t>The</a:t>
            </a:r>
            <a:r>
              <a:rPr sz="3200" spc="-45" dirty="0">
                <a:latin typeface="Calibri"/>
                <a:cs typeface="Calibri"/>
              </a:rPr>
              <a:t> </a:t>
            </a:r>
            <a:r>
              <a:rPr sz="3200" spc="-10" dirty="0">
                <a:latin typeface="Calibri"/>
                <a:cs typeface="Calibri"/>
              </a:rPr>
              <a:t>instruction</a:t>
            </a:r>
            <a:r>
              <a:rPr sz="3200" spc="-20" dirty="0">
                <a:latin typeface="Calibri"/>
                <a:cs typeface="Calibri"/>
              </a:rPr>
              <a:t> </a:t>
            </a:r>
            <a:r>
              <a:rPr sz="3200" dirty="0">
                <a:latin typeface="Calibri"/>
                <a:cs typeface="Calibri"/>
              </a:rPr>
              <a:t>set</a:t>
            </a:r>
            <a:r>
              <a:rPr sz="3200" spc="-55" dirty="0">
                <a:latin typeface="Calibri"/>
                <a:cs typeface="Calibri"/>
              </a:rPr>
              <a:t> </a:t>
            </a:r>
            <a:r>
              <a:rPr sz="3200" dirty="0">
                <a:latin typeface="Calibri"/>
                <a:cs typeface="Calibri"/>
              </a:rPr>
              <a:t>of</a:t>
            </a:r>
            <a:r>
              <a:rPr sz="3200" spc="-50" dirty="0">
                <a:latin typeface="Calibri"/>
                <a:cs typeface="Calibri"/>
              </a:rPr>
              <a:t> </a:t>
            </a:r>
            <a:r>
              <a:rPr sz="3200" dirty="0">
                <a:latin typeface="Calibri"/>
                <a:cs typeface="Calibri"/>
              </a:rPr>
              <a:t>processors</a:t>
            </a:r>
            <a:r>
              <a:rPr sz="3200" spc="-70" dirty="0">
                <a:latin typeface="Calibri"/>
                <a:cs typeface="Calibri"/>
              </a:rPr>
              <a:t> </a:t>
            </a:r>
            <a:r>
              <a:rPr sz="3200" spc="-10" dirty="0">
                <a:latin typeface="Calibri"/>
                <a:cs typeface="Calibri"/>
              </a:rPr>
              <a:t>became </a:t>
            </a:r>
            <a:r>
              <a:rPr sz="3200" dirty="0">
                <a:latin typeface="Calibri"/>
                <a:cs typeface="Calibri"/>
              </a:rPr>
              <a:t>more</a:t>
            </a:r>
            <a:r>
              <a:rPr sz="3200" spc="-60" dirty="0">
                <a:latin typeface="Calibri"/>
                <a:cs typeface="Calibri"/>
              </a:rPr>
              <a:t> </a:t>
            </a:r>
            <a:r>
              <a:rPr sz="3200" dirty="0">
                <a:latin typeface="Calibri"/>
                <a:cs typeface="Calibri"/>
              </a:rPr>
              <a:t>complex</a:t>
            </a:r>
            <a:r>
              <a:rPr sz="3200" spc="-45" dirty="0">
                <a:latin typeface="Calibri"/>
                <a:cs typeface="Calibri"/>
              </a:rPr>
              <a:t> </a:t>
            </a:r>
            <a:r>
              <a:rPr sz="3200" dirty="0">
                <a:latin typeface="Calibri"/>
                <a:cs typeface="Calibri"/>
              </a:rPr>
              <a:t>and</a:t>
            </a:r>
            <a:r>
              <a:rPr sz="3200" spc="-25" dirty="0">
                <a:latin typeface="Calibri"/>
                <a:cs typeface="Calibri"/>
              </a:rPr>
              <a:t> </a:t>
            </a:r>
            <a:r>
              <a:rPr sz="3200" dirty="0">
                <a:latin typeface="Calibri"/>
                <a:cs typeface="Calibri"/>
              </a:rPr>
              <a:t>powerful</a:t>
            </a:r>
            <a:r>
              <a:rPr sz="3200" spc="-45" dirty="0">
                <a:latin typeface="Calibri"/>
                <a:cs typeface="Calibri"/>
              </a:rPr>
              <a:t> </a:t>
            </a:r>
            <a:r>
              <a:rPr sz="3200" dirty="0">
                <a:latin typeface="Calibri"/>
                <a:cs typeface="Calibri"/>
              </a:rPr>
              <a:t>and</a:t>
            </a:r>
            <a:r>
              <a:rPr sz="3200" spc="-35" dirty="0">
                <a:latin typeface="Calibri"/>
                <a:cs typeface="Calibri"/>
              </a:rPr>
              <a:t> </a:t>
            </a:r>
            <a:r>
              <a:rPr sz="3200" dirty="0">
                <a:latin typeface="Calibri"/>
                <a:cs typeface="Calibri"/>
              </a:rPr>
              <a:t>the</a:t>
            </a:r>
            <a:r>
              <a:rPr sz="3200" spc="-45" dirty="0">
                <a:latin typeface="Calibri"/>
                <a:cs typeface="Calibri"/>
              </a:rPr>
              <a:t> </a:t>
            </a:r>
            <a:r>
              <a:rPr sz="3200" spc="-10" dirty="0">
                <a:latin typeface="Calibri"/>
                <a:cs typeface="Calibri"/>
              </a:rPr>
              <a:t>concept </a:t>
            </a:r>
            <a:r>
              <a:rPr sz="3200" dirty="0">
                <a:latin typeface="Calibri"/>
                <a:cs typeface="Calibri"/>
              </a:rPr>
              <a:t>of</a:t>
            </a:r>
            <a:r>
              <a:rPr sz="3200" spc="-50" dirty="0">
                <a:latin typeface="Calibri"/>
                <a:cs typeface="Calibri"/>
              </a:rPr>
              <a:t> </a:t>
            </a:r>
            <a:r>
              <a:rPr sz="3200" dirty="0">
                <a:latin typeface="Calibri"/>
                <a:cs typeface="Calibri"/>
              </a:rPr>
              <a:t>pipelining</a:t>
            </a:r>
            <a:r>
              <a:rPr sz="3200" spc="-5" dirty="0">
                <a:latin typeface="Calibri"/>
                <a:cs typeface="Calibri"/>
              </a:rPr>
              <a:t> </a:t>
            </a:r>
            <a:r>
              <a:rPr sz="3200" dirty="0">
                <a:latin typeface="Calibri"/>
                <a:cs typeface="Calibri"/>
              </a:rPr>
              <a:t>also</a:t>
            </a:r>
            <a:r>
              <a:rPr sz="3200" spc="-40" dirty="0">
                <a:latin typeface="Calibri"/>
                <a:cs typeface="Calibri"/>
              </a:rPr>
              <a:t> </a:t>
            </a:r>
            <a:r>
              <a:rPr sz="3200" spc="-10" dirty="0">
                <a:latin typeface="Calibri"/>
                <a:cs typeface="Calibri"/>
              </a:rPr>
              <a:t>evolved</a:t>
            </a:r>
            <a:endParaRPr sz="320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46428"/>
            <a:ext cx="10515600" cy="962956"/>
          </a:xfrm>
          <a:prstGeom prst="rect">
            <a:avLst/>
          </a:prstGeom>
        </p:spPr>
        <p:txBody>
          <a:bodyPr vert="horz" wrap="square" lIns="0" tIns="283083" rIns="0" bIns="0" rtlCol="0" anchor="ctr">
            <a:spAutoFit/>
          </a:bodyPr>
          <a:lstStyle/>
          <a:p>
            <a:pPr marL="1408430">
              <a:lnSpc>
                <a:spcPct val="100000"/>
              </a:lnSpc>
              <a:spcBef>
                <a:spcPts val="105"/>
              </a:spcBef>
            </a:pPr>
            <a:r>
              <a:rPr dirty="0"/>
              <a:t>D)</a:t>
            </a:r>
            <a:r>
              <a:rPr spc="-120" dirty="0"/>
              <a:t> </a:t>
            </a:r>
            <a:r>
              <a:rPr dirty="0"/>
              <a:t>Fourth</a:t>
            </a:r>
            <a:r>
              <a:rPr spc="-114" dirty="0"/>
              <a:t> </a:t>
            </a:r>
            <a:r>
              <a:rPr spc="-10" dirty="0"/>
              <a:t>Generation</a:t>
            </a:r>
            <a:endParaRPr/>
          </a:p>
        </p:txBody>
      </p:sp>
      <p:sp>
        <p:nvSpPr>
          <p:cNvPr id="3" name="object 3"/>
          <p:cNvSpPr txBox="1"/>
          <p:nvPr/>
        </p:nvSpPr>
        <p:spPr>
          <a:xfrm>
            <a:off x="2059941" y="1607261"/>
            <a:ext cx="7820025" cy="3148330"/>
          </a:xfrm>
          <a:prstGeom prst="rect">
            <a:avLst/>
          </a:prstGeom>
        </p:spPr>
        <p:txBody>
          <a:bodyPr vert="horz" wrap="square" lIns="0" tIns="13335" rIns="0" bIns="0" rtlCol="0">
            <a:spAutoFit/>
          </a:bodyPr>
          <a:lstStyle/>
          <a:p>
            <a:pPr marL="355600" marR="5080" indent="-342900">
              <a:spcBef>
                <a:spcPts val="105"/>
              </a:spcBef>
              <a:buFont typeface="Arial MT"/>
              <a:buChar char="•"/>
              <a:tabLst>
                <a:tab pos="355600" algn="l"/>
              </a:tabLst>
            </a:pPr>
            <a:r>
              <a:rPr sz="3200" dirty="0">
                <a:latin typeface="Calibri"/>
                <a:cs typeface="Calibri"/>
              </a:rPr>
              <a:t>SoC,</a:t>
            </a:r>
            <a:r>
              <a:rPr sz="3200" spc="-85" dirty="0">
                <a:latin typeface="Calibri"/>
                <a:cs typeface="Calibri"/>
              </a:rPr>
              <a:t> </a:t>
            </a:r>
            <a:r>
              <a:rPr sz="3200" spc="-10" dirty="0">
                <a:latin typeface="Calibri"/>
                <a:cs typeface="Calibri"/>
              </a:rPr>
              <a:t>reconfigurable</a:t>
            </a:r>
            <a:r>
              <a:rPr sz="3200" spc="-100" dirty="0">
                <a:latin typeface="Calibri"/>
                <a:cs typeface="Calibri"/>
              </a:rPr>
              <a:t> </a:t>
            </a:r>
            <a:r>
              <a:rPr sz="3200" dirty="0">
                <a:latin typeface="Calibri"/>
                <a:cs typeface="Calibri"/>
              </a:rPr>
              <a:t>processors</a:t>
            </a:r>
            <a:r>
              <a:rPr sz="3200" spc="-105" dirty="0">
                <a:latin typeface="Calibri"/>
                <a:cs typeface="Calibri"/>
              </a:rPr>
              <a:t> </a:t>
            </a:r>
            <a:r>
              <a:rPr sz="3200" dirty="0">
                <a:latin typeface="Calibri"/>
                <a:cs typeface="Calibri"/>
              </a:rPr>
              <a:t>and</a:t>
            </a:r>
            <a:r>
              <a:rPr sz="3200" spc="-80" dirty="0">
                <a:latin typeface="Calibri"/>
                <a:cs typeface="Calibri"/>
              </a:rPr>
              <a:t> </a:t>
            </a:r>
            <a:r>
              <a:rPr sz="3200" spc="-10" dirty="0">
                <a:latin typeface="Calibri"/>
                <a:cs typeface="Calibri"/>
              </a:rPr>
              <a:t>multicore processors</a:t>
            </a:r>
            <a:endParaRPr sz="3200">
              <a:latin typeface="Calibri"/>
              <a:cs typeface="Calibri"/>
            </a:endParaRPr>
          </a:p>
          <a:p>
            <a:pPr marL="355600" marR="375920" indent="-342900">
              <a:spcBef>
                <a:spcPts val="770"/>
              </a:spcBef>
              <a:buFont typeface="Arial MT"/>
              <a:buChar char="•"/>
              <a:tabLst>
                <a:tab pos="355600" algn="l"/>
              </a:tabLst>
            </a:pPr>
            <a:r>
              <a:rPr sz="3200" dirty="0">
                <a:latin typeface="Calibri"/>
                <a:cs typeface="Calibri"/>
              </a:rPr>
              <a:t>These</a:t>
            </a:r>
            <a:r>
              <a:rPr sz="3200" spc="-35" dirty="0">
                <a:latin typeface="Calibri"/>
                <a:cs typeface="Calibri"/>
              </a:rPr>
              <a:t> </a:t>
            </a:r>
            <a:r>
              <a:rPr sz="3200" dirty="0">
                <a:latin typeface="Calibri"/>
                <a:cs typeface="Calibri"/>
              </a:rPr>
              <a:t>are</a:t>
            </a:r>
            <a:r>
              <a:rPr sz="3200" spc="-45" dirty="0">
                <a:latin typeface="Calibri"/>
                <a:cs typeface="Calibri"/>
              </a:rPr>
              <a:t> </a:t>
            </a:r>
            <a:r>
              <a:rPr sz="3200" dirty="0">
                <a:latin typeface="Calibri"/>
                <a:cs typeface="Calibri"/>
              </a:rPr>
              <a:t>making</a:t>
            </a:r>
            <a:r>
              <a:rPr sz="3200" spc="-15" dirty="0">
                <a:latin typeface="Calibri"/>
                <a:cs typeface="Calibri"/>
              </a:rPr>
              <a:t> </a:t>
            </a:r>
            <a:r>
              <a:rPr sz="3200" dirty="0">
                <a:latin typeface="Calibri"/>
                <a:cs typeface="Calibri"/>
              </a:rPr>
              <a:t>use</a:t>
            </a:r>
            <a:r>
              <a:rPr sz="3200" spc="-30" dirty="0">
                <a:latin typeface="Calibri"/>
                <a:cs typeface="Calibri"/>
              </a:rPr>
              <a:t> </a:t>
            </a:r>
            <a:r>
              <a:rPr sz="3200" dirty="0">
                <a:latin typeface="Calibri"/>
                <a:cs typeface="Calibri"/>
              </a:rPr>
              <a:t>of</a:t>
            </a:r>
            <a:r>
              <a:rPr sz="3200" spc="-30" dirty="0">
                <a:latin typeface="Calibri"/>
                <a:cs typeface="Calibri"/>
              </a:rPr>
              <a:t> </a:t>
            </a:r>
            <a:r>
              <a:rPr sz="3200" dirty="0">
                <a:latin typeface="Calibri"/>
                <a:cs typeface="Calibri"/>
              </a:rPr>
              <a:t>High</a:t>
            </a:r>
            <a:r>
              <a:rPr sz="3200" spc="-15" dirty="0">
                <a:latin typeface="Calibri"/>
                <a:cs typeface="Calibri"/>
              </a:rPr>
              <a:t> </a:t>
            </a:r>
            <a:r>
              <a:rPr sz="3200" spc="-10" dirty="0">
                <a:latin typeface="Calibri"/>
                <a:cs typeface="Calibri"/>
              </a:rPr>
              <a:t>performance </a:t>
            </a:r>
            <a:r>
              <a:rPr sz="3200" dirty="0">
                <a:latin typeface="Calibri"/>
                <a:cs typeface="Calibri"/>
              </a:rPr>
              <a:t>real</a:t>
            </a:r>
            <a:r>
              <a:rPr sz="3200" spc="-80" dirty="0">
                <a:latin typeface="Calibri"/>
                <a:cs typeface="Calibri"/>
              </a:rPr>
              <a:t> </a:t>
            </a:r>
            <a:r>
              <a:rPr sz="3200" dirty="0">
                <a:latin typeface="Calibri"/>
                <a:cs typeface="Calibri"/>
              </a:rPr>
              <a:t>time</a:t>
            </a:r>
            <a:r>
              <a:rPr sz="3200" spc="-50" dirty="0">
                <a:latin typeface="Calibri"/>
                <a:cs typeface="Calibri"/>
              </a:rPr>
              <a:t> </a:t>
            </a:r>
            <a:r>
              <a:rPr sz="3200" dirty="0">
                <a:latin typeface="Calibri"/>
                <a:cs typeface="Calibri"/>
              </a:rPr>
              <a:t>embedded</a:t>
            </a:r>
            <a:r>
              <a:rPr sz="3200" spc="-65" dirty="0">
                <a:latin typeface="Calibri"/>
                <a:cs typeface="Calibri"/>
              </a:rPr>
              <a:t> </a:t>
            </a:r>
            <a:r>
              <a:rPr sz="3200" dirty="0">
                <a:latin typeface="Calibri"/>
                <a:cs typeface="Calibri"/>
              </a:rPr>
              <a:t>operating</a:t>
            </a:r>
            <a:r>
              <a:rPr sz="3200" spc="-65" dirty="0">
                <a:latin typeface="Calibri"/>
                <a:cs typeface="Calibri"/>
              </a:rPr>
              <a:t> </a:t>
            </a:r>
            <a:r>
              <a:rPr sz="3200" spc="-10" dirty="0">
                <a:latin typeface="Calibri"/>
                <a:cs typeface="Calibri"/>
              </a:rPr>
              <a:t>systems</a:t>
            </a:r>
            <a:endParaRPr sz="3200">
              <a:latin typeface="Calibri"/>
              <a:cs typeface="Calibri"/>
            </a:endParaRPr>
          </a:p>
          <a:p>
            <a:pPr marL="355600" marR="656590" indent="-342900">
              <a:spcBef>
                <a:spcPts val="770"/>
              </a:spcBef>
              <a:buFont typeface="Arial MT"/>
              <a:buChar char="•"/>
              <a:tabLst>
                <a:tab pos="355600" algn="l"/>
              </a:tabLst>
            </a:pPr>
            <a:r>
              <a:rPr sz="3200" dirty="0">
                <a:latin typeface="Calibri"/>
                <a:cs typeface="Calibri"/>
              </a:rPr>
              <a:t>Ex:</a:t>
            </a:r>
            <a:r>
              <a:rPr sz="3200" spc="-40" dirty="0">
                <a:latin typeface="Calibri"/>
                <a:cs typeface="Calibri"/>
              </a:rPr>
              <a:t> </a:t>
            </a:r>
            <a:r>
              <a:rPr sz="3200" dirty="0">
                <a:latin typeface="Calibri"/>
                <a:cs typeface="Calibri"/>
              </a:rPr>
              <a:t>Smart</a:t>
            </a:r>
            <a:r>
              <a:rPr sz="3200" spc="-45" dirty="0">
                <a:latin typeface="Calibri"/>
                <a:cs typeface="Calibri"/>
              </a:rPr>
              <a:t> </a:t>
            </a:r>
            <a:r>
              <a:rPr sz="3200" dirty="0">
                <a:latin typeface="Calibri"/>
                <a:cs typeface="Calibri"/>
              </a:rPr>
              <a:t>phone</a:t>
            </a:r>
            <a:r>
              <a:rPr sz="3200" spc="-30" dirty="0">
                <a:latin typeface="Calibri"/>
                <a:cs typeface="Calibri"/>
              </a:rPr>
              <a:t> </a:t>
            </a:r>
            <a:r>
              <a:rPr sz="3200" dirty="0">
                <a:latin typeface="Calibri"/>
                <a:cs typeface="Calibri"/>
              </a:rPr>
              <a:t>devices,</a:t>
            </a:r>
            <a:r>
              <a:rPr sz="3200" spc="-55" dirty="0">
                <a:latin typeface="Calibri"/>
                <a:cs typeface="Calibri"/>
              </a:rPr>
              <a:t> </a:t>
            </a:r>
            <a:r>
              <a:rPr sz="3200" dirty="0">
                <a:latin typeface="Calibri"/>
                <a:cs typeface="Calibri"/>
              </a:rPr>
              <a:t>mobile</a:t>
            </a:r>
            <a:r>
              <a:rPr sz="3200" spc="-35" dirty="0">
                <a:latin typeface="Calibri"/>
                <a:cs typeface="Calibri"/>
              </a:rPr>
              <a:t> </a:t>
            </a:r>
            <a:r>
              <a:rPr sz="3200" spc="-10" dirty="0">
                <a:latin typeface="Calibri"/>
                <a:cs typeface="Calibri"/>
              </a:rPr>
              <a:t>internet </a:t>
            </a:r>
            <a:r>
              <a:rPr sz="3200" dirty="0">
                <a:latin typeface="Calibri"/>
                <a:cs typeface="Calibri"/>
              </a:rPr>
              <a:t>devices(MIDs)</a:t>
            </a:r>
            <a:r>
              <a:rPr sz="3200" spc="-55" dirty="0">
                <a:latin typeface="Calibri"/>
                <a:cs typeface="Calibri"/>
              </a:rPr>
              <a:t> </a:t>
            </a:r>
            <a:r>
              <a:rPr sz="3200" dirty="0">
                <a:latin typeface="Calibri"/>
                <a:cs typeface="Calibri"/>
              </a:rPr>
              <a:t>etc</a:t>
            </a:r>
            <a:r>
              <a:rPr sz="3200" spc="-50" dirty="0">
                <a:latin typeface="Calibri"/>
                <a:cs typeface="Calibri"/>
              </a:rPr>
              <a:t> .</a:t>
            </a:r>
            <a:endParaRPr sz="320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2497" y="1200113"/>
            <a:ext cx="10515600" cy="1366400"/>
          </a:xfrm>
          <a:prstGeom prst="rect">
            <a:avLst/>
          </a:prstGeom>
        </p:spPr>
        <p:txBody>
          <a:bodyPr vert="horz" wrap="square" lIns="0" tIns="12065" rIns="0" bIns="0" rtlCol="0" anchor="ctr">
            <a:spAutoFit/>
          </a:bodyPr>
          <a:lstStyle/>
          <a:p>
            <a:pPr marL="2048510" marR="5080" indent="-2032000">
              <a:lnSpc>
                <a:spcPct val="100000"/>
              </a:lnSpc>
              <a:spcBef>
                <a:spcPts val="95"/>
              </a:spcBef>
            </a:pPr>
            <a:r>
              <a:rPr dirty="0"/>
              <a:t>2)</a:t>
            </a:r>
            <a:r>
              <a:rPr spc="-70" dirty="0"/>
              <a:t> </a:t>
            </a:r>
            <a:r>
              <a:rPr dirty="0"/>
              <a:t>Classification</a:t>
            </a:r>
            <a:r>
              <a:rPr spc="-75" dirty="0"/>
              <a:t> </a:t>
            </a:r>
            <a:r>
              <a:rPr dirty="0"/>
              <a:t>based</a:t>
            </a:r>
            <a:r>
              <a:rPr spc="-65" dirty="0"/>
              <a:t> </a:t>
            </a:r>
            <a:r>
              <a:rPr dirty="0"/>
              <a:t>on</a:t>
            </a:r>
            <a:r>
              <a:rPr spc="-65" dirty="0"/>
              <a:t> </a:t>
            </a:r>
            <a:r>
              <a:rPr spc="-10" dirty="0"/>
              <a:t>Complexity </a:t>
            </a:r>
            <a:r>
              <a:rPr dirty="0"/>
              <a:t>and</a:t>
            </a:r>
            <a:r>
              <a:rPr spc="-30" dirty="0"/>
              <a:t> </a:t>
            </a:r>
            <a:r>
              <a:rPr spc="-10" dirty="0"/>
              <a:t>performance</a:t>
            </a:r>
          </a:p>
        </p:txBody>
      </p:sp>
      <p:sp>
        <p:nvSpPr>
          <p:cNvPr id="3" name="object 3"/>
          <p:cNvSpPr txBox="1"/>
          <p:nvPr/>
        </p:nvSpPr>
        <p:spPr>
          <a:xfrm>
            <a:off x="2138598" y="3358406"/>
            <a:ext cx="6655434" cy="1782445"/>
          </a:xfrm>
          <a:prstGeom prst="rect">
            <a:avLst/>
          </a:prstGeom>
        </p:spPr>
        <p:txBody>
          <a:bodyPr vert="horz" wrap="square" lIns="0" tIns="110489" rIns="0" bIns="0" rtlCol="0">
            <a:spAutoFit/>
          </a:bodyPr>
          <a:lstStyle/>
          <a:p>
            <a:pPr marL="354965" indent="-342265">
              <a:spcBef>
                <a:spcPts val="869"/>
              </a:spcBef>
              <a:buFont typeface="Arial MT"/>
              <a:buChar char="•"/>
              <a:tabLst>
                <a:tab pos="354965" algn="l"/>
              </a:tabLst>
            </a:pPr>
            <a:r>
              <a:rPr sz="3200" dirty="0">
                <a:latin typeface="Calibri"/>
                <a:cs typeface="Calibri"/>
              </a:rPr>
              <a:t>i)</a:t>
            </a:r>
            <a:r>
              <a:rPr sz="3200" spc="-55" dirty="0">
                <a:latin typeface="Calibri"/>
                <a:cs typeface="Calibri"/>
              </a:rPr>
              <a:t> </a:t>
            </a:r>
            <a:r>
              <a:rPr sz="3200" dirty="0">
                <a:latin typeface="Calibri"/>
                <a:cs typeface="Calibri"/>
              </a:rPr>
              <a:t>Small</a:t>
            </a:r>
            <a:r>
              <a:rPr sz="3200" spc="-35" dirty="0">
                <a:latin typeface="Calibri"/>
                <a:cs typeface="Calibri"/>
              </a:rPr>
              <a:t> </a:t>
            </a:r>
            <a:r>
              <a:rPr sz="3200" dirty="0">
                <a:latin typeface="Calibri"/>
                <a:cs typeface="Calibri"/>
              </a:rPr>
              <a:t>–</a:t>
            </a:r>
            <a:r>
              <a:rPr sz="3200" spc="-50" dirty="0">
                <a:latin typeface="Calibri"/>
                <a:cs typeface="Calibri"/>
              </a:rPr>
              <a:t> </a:t>
            </a:r>
            <a:r>
              <a:rPr sz="3200" dirty="0">
                <a:latin typeface="Calibri"/>
                <a:cs typeface="Calibri"/>
              </a:rPr>
              <a:t>scale</a:t>
            </a:r>
            <a:r>
              <a:rPr sz="3200" spc="-60" dirty="0">
                <a:latin typeface="Calibri"/>
                <a:cs typeface="Calibri"/>
              </a:rPr>
              <a:t> </a:t>
            </a:r>
            <a:r>
              <a:rPr sz="3200" dirty="0">
                <a:latin typeface="Calibri"/>
                <a:cs typeface="Calibri"/>
              </a:rPr>
              <a:t>Embedded</a:t>
            </a:r>
            <a:r>
              <a:rPr sz="3200" spc="-45" dirty="0">
                <a:latin typeface="Calibri"/>
                <a:cs typeface="Calibri"/>
              </a:rPr>
              <a:t> </a:t>
            </a:r>
            <a:r>
              <a:rPr sz="3200" spc="-10" dirty="0">
                <a:latin typeface="Calibri"/>
                <a:cs typeface="Calibri"/>
              </a:rPr>
              <a:t>systems</a:t>
            </a:r>
            <a:endParaRPr sz="3200" dirty="0">
              <a:latin typeface="Calibri"/>
              <a:cs typeface="Calibri"/>
            </a:endParaRPr>
          </a:p>
          <a:p>
            <a:pPr marL="354965" indent="-342265">
              <a:spcBef>
                <a:spcPts val="770"/>
              </a:spcBef>
              <a:buFont typeface="Arial MT"/>
              <a:buChar char="•"/>
              <a:tabLst>
                <a:tab pos="354965" algn="l"/>
              </a:tabLst>
            </a:pPr>
            <a:r>
              <a:rPr sz="3200" dirty="0">
                <a:latin typeface="Calibri"/>
                <a:cs typeface="Calibri"/>
              </a:rPr>
              <a:t>Ii)</a:t>
            </a:r>
            <a:r>
              <a:rPr sz="3200" spc="-45" dirty="0">
                <a:latin typeface="Calibri"/>
                <a:cs typeface="Calibri"/>
              </a:rPr>
              <a:t> </a:t>
            </a:r>
            <a:r>
              <a:rPr sz="3200" dirty="0">
                <a:latin typeface="Calibri"/>
                <a:cs typeface="Calibri"/>
              </a:rPr>
              <a:t>Medium</a:t>
            </a:r>
            <a:r>
              <a:rPr sz="3200" spc="-60" dirty="0">
                <a:latin typeface="Calibri"/>
                <a:cs typeface="Calibri"/>
              </a:rPr>
              <a:t> </a:t>
            </a:r>
            <a:r>
              <a:rPr sz="3200" dirty="0">
                <a:latin typeface="Calibri"/>
                <a:cs typeface="Calibri"/>
              </a:rPr>
              <a:t>–</a:t>
            </a:r>
            <a:r>
              <a:rPr sz="3200" spc="-50" dirty="0">
                <a:latin typeface="Calibri"/>
                <a:cs typeface="Calibri"/>
              </a:rPr>
              <a:t> </a:t>
            </a:r>
            <a:r>
              <a:rPr sz="3200" dirty="0">
                <a:latin typeface="Calibri"/>
                <a:cs typeface="Calibri"/>
              </a:rPr>
              <a:t>scale</a:t>
            </a:r>
            <a:r>
              <a:rPr sz="3200" spc="-75" dirty="0">
                <a:latin typeface="Calibri"/>
                <a:cs typeface="Calibri"/>
              </a:rPr>
              <a:t> </a:t>
            </a:r>
            <a:r>
              <a:rPr sz="3200" dirty="0">
                <a:latin typeface="Calibri"/>
                <a:cs typeface="Calibri"/>
              </a:rPr>
              <a:t>Embedded</a:t>
            </a:r>
            <a:r>
              <a:rPr sz="3200" spc="-40" dirty="0">
                <a:latin typeface="Calibri"/>
                <a:cs typeface="Calibri"/>
              </a:rPr>
              <a:t> </a:t>
            </a:r>
            <a:r>
              <a:rPr sz="3200" spc="-10" dirty="0">
                <a:latin typeface="Calibri"/>
                <a:cs typeface="Calibri"/>
              </a:rPr>
              <a:t>systems</a:t>
            </a:r>
            <a:endParaRPr sz="3200" dirty="0">
              <a:latin typeface="Calibri"/>
              <a:cs typeface="Calibri"/>
            </a:endParaRPr>
          </a:p>
          <a:p>
            <a:pPr marL="354965" indent="-342265">
              <a:spcBef>
                <a:spcPts val="770"/>
              </a:spcBef>
              <a:buFont typeface="Arial MT"/>
              <a:buChar char="•"/>
              <a:tabLst>
                <a:tab pos="354965" algn="l"/>
              </a:tabLst>
            </a:pPr>
            <a:r>
              <a:rPr sz="3200" dirty="0">
                <a:latin typeface="Calibri"/>
                <a:cs typeface="Calibri"/>
              </a:rPr>
              <a:t>Iii)</a:t>
            </a:r>
            <a:r>
              <a:rPr sz="3200" spc="-65" dirty="0">
                <a:latin typeface="Calibri"/>
                <a:cs typeface="Calibri"/>
              </a:rPr>
              <a:t> </a:t>
            </a:r>
            <a:r>
              <a:rPr sz="3200" dirty="0">
                <a:latin typeface="Calibri"/>
                <a:cs typeface="Calibri"/>
              </a:rPr>
              <a:t>Large</a:t>
            </a:r>
            <a:r>
              <a:rPr sz="3200" spc="-90" dirty="0">
                <a:latin typeface="Calibri"/>
                <a:cs typeface="Calibri"/>
              </a:rPr>
              <a:t> </a:t>
            </a:r>
            <a:r>
              <a:rPr sz="3200" dirty="0">
                <a:latin typeface="Calibri"/>
                <a:cs typeface="Calibri"/>
              </a:rPr>
              <a:t>–</a:t>
            </a:r>
            <a:r>
              <a:rPr sz="3200" spc="-75" dirty="0">
                <a:latin typeface="Calibri"/>
                <a:cs typeface="Calibri"/>
              </a:rPr>
              <a:t> </a:t>
            </a:r>
            <a:r>
              <a:rPr sz="3200" dirty="0">
                <a:latin typeface="Calibri"/>
                <a:cs typeface="Calibri"/>
              </a:rPr>
              <a:t>scale</a:t>
            </a:r>
            <a:r>
              <a:rPr sz="3200" spc="-75" dirty="0">
                <a:latin typeface="Calibri"/>
                <a:cs typeface="Calibri"/>
              </a:rPr>
              <a:t> </a:t>
            </a:r>
            <a:r>
              <a:rPr sz="3200" dirty="0">
                <a:latin typeface="Calibri"/>
                <a:cs typeface="Calibri"/>
              </a:rPr>
              <a:t>Embedded</a:t>
            </a:r>
            <a:r>
              <a:rPr sz="3200" spc="-70" dirty="0">
                <a:latin typeface="Calibri"/>
                <a:cs typeface="Calibri"/>
              </a:rPr>
              <a:t> </a:t>
            </a:r>
            <a:r>
              <a:rPr sz="3200" spc="-10" dirty="0">
                <a:latin typeface="Calibri"/>
                <a:cs typeface="Calibri"/>
              </a:rPr>
              <a:t>systems</a:t>
            </a:r>
            <a:endParaRPr sz="3200" dirty="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60988" y="1097035"/>
            <a:ext cx="10515600" cy="962956"/>
          </a:xfrm>
          <a:prstGeom prst="rect">
            <a:avLst/>
          </a:prstGeom>
        </p:spPr>
        <p:txBody>
          <a:bodyPr vert="horz" wrap="square" lIns="0" tIns="283083" rIns="0" bIns="0" rtlCol="0" anchor="ctr">
            <a:spAutoFit/>
          </a:bodyPr>
          <a:lstStyle/>
          <a:p>
            <a:pPr marL="100965">
              <a:lnSpc>
                <a:spcPct val="100000"/>
              </a:lnSpc>
              <a:spcBef>
                <a:spcPts val="105"/>
              </a:spcBef>
            </a:pPr>
            <a:r>
              <a:rPr dirty="0"/>
              <a:t>i)</a:t>
            </a:r>
            <a:r>
              <a:rPr spc="-40" dirty="0"/>
              <a:t> </a:t>
            </a:r>
            <a:r>
              <a:rPr spc="-25" dirty="0"/>
              <a:t>Small-</a:t>
            </a:r>
            <a:r>
              <a:rPr dirty="0"/>
              <a:t>scale</a:t>
            </a:r>
            <a:r>
              <a:rPr spc="-30" dirty="0"/>
              <a:t> </a:t>
            </a:r>
            <a:r>
              <a:rPr dirty="0"/>
              <a:t>embedded</a:t>
            </a:r>
            <a:r>
              <a:rPr spc="-35" dirty="0"/>
              <a:t> </a:t>
            </a:r>
            <a:r>
              <a:rPr spc="-10" dirty="0"/>
              <a:t>systems</a:t>
            </a:r>
            <a:endParaRPr dirty="0"/>
          </a:p>
        </p:txBody>
      </p:sp>
      <p:sp>
        <p:nvSpPr>
          <p:cNvPr id="3" name="object 3"/>
          <p:cNvSpPr txBox="1"/>
          <p:nvPr/>
        </p:nvSpPr>
        <p:spPr>
          <a:xfrm>
            <a:off x="1676482" y="2522664"/>
            <a:ext cx="7823834" cy="2855595"/>
          </a:xfrm>
          <a:prstGeom prst="rect">
            <a:avLst/>
          </a:prstGeom>
        </p:spPr>
        <p:txBody>
          <a:bodyPr vert="horz" wrap="square" lIns="0" tIns="110489" rIns="0" bIns="0" rtlCol="0">
            <a:spAutoFit/>
          </a:bodyPr>
          <a:lstStyle/>
          <a:p>
            <a:pPr marL="354965" indent="-342265">
              <a:spcBef>
                <a:spcPts val="869"/>
              </a:spcBef>
              <a:buFont typeface="Arial MT"/>
              <a:buChar char="•"/>
              <a:tabLst>
                <a:tab pos="354965" algn="l"/>
              </a:tabLst>
            </a:pPr>
            <a:r>
              <a:rPr sz="3200" spc="-10" dirty="0">
                <a:latin typeface="Calibri"/>
                <a:cs typeface="Calibri"/>
              </a:rPr>
              <a:t>Simple</a:t>
            </a:r>
            <a:endParaRPr sz="3200" dirty="0">
              <a:latin typeface="Calibri"/>
              <a:cs typeface="Calibri"/>
            </a:endParaRPr>
          </a:p>
          <a:p>
            <a:pPr marL="355600" marR="93345" indent="-342900">
              <a:spcBef>
                <a:spcPts val="770"/>
              </a:spcBef>
              <a:buFont typeface="Arial MT"/>
              <a:buChar char="•"/>
              <a:tabLst>
                <a:tab pos="355600" algn="l"/>
              </a:tabLst>
            </a:pPr>
            <a:r>
              <a:rPr sz="3200" dirty="0">
                <a:latin typeface="Calibri"/>
                <a:cs typeface="Calibri"/>
              </a:rPr>
              <a:t>These</a:t>
            </a:r>
            <a:r>
              <a:rPr sz="3200" spc="-50" dirty="0">
                <a:latin typeface="Calibri"/>
                <a:cs typeface="Calibri"/>
              </a:rPr>
              <a:t> </a:t>
            </a:r>
            <a:r>
              <a:rPr sz="3200" dirty="0">
                <a:latin typeface="Calibri"/>
                <a:cs typeface="Calibri"/>
              </a:rPr>
              <a:t>are</a:t>
            </a:r>
            <a:r>
              <a:rPr sz="3200" spc="-60" dirty="0">
                <a:latin typeface="Calibri"/>
                <a:cs typeface="Calibri"/>
              </a:rPr>
              <a:t> </a:t>
            </a:r>
            <a:r>
              <a:rPr sz="3200" dirty="0">
                <a:latin typeface="Calibri"/>
                <a:cs typeface="Calibri"/>
              </a:rPr>
              <a:t>built</a:t>
            </a:r>
            <a:r>
              <a:rPr sz="3200" spc="-35" dirty="0">
                <a:latin typeface="Calibri"/>
                <a:cs typeface="Calibri"/>
              </a:rPr>
              <a:t> </a:t>
            </a:r>
            <a:r>
              <a:rPr sz="3200" dirty="0">
                <a:latin typeface="Calibri"/>
                <a:cs typeface="Calibri"/>
              </a:rPr>
              <a:t>around</a:t>
            </a:r>
            <a:r>
              <a:rPr sz="3200" spc="-25" dirty="0">
                <a:latin typeface="Calibri"/>
                <a:cs typeface="Calibri"/>
              </a:rPr>
              <a:t> </a:t>
            </a:r>
            <a:r>
              <a:rPr sz="3200" dirty="0">
                <a:latin typeface="Calibri"/>
                <a:cs typeface="Calibri"/>
              </a:rPr>
              <a:t>low</a:t>
            </a:r>
            <a:r>
              <a:rPr sz="3200" spc="-50" dirty="0">
                <a:latin typeface="Calibri"/>
                <a:cs typeface="Calibri"/>
              </a:rPr>
              <a:t> </a:t>
            </a:r>
            <a:r>
              <a:rPr sz="3200" dirty="0">
                <a:latin typeface="Calibri"/>
                <a:cs typeface="Calibri"/>
              </a:rPr>
              <a:t>performance</a:t>
            </a:r>
            <a:r>
              <a:rPr sz="3200" spc="-50" dirty="0">
                <a:latin typeface="Calibri"/>
                <a:cs typeface="Calibri"/>
              </a:rPr>
              <a:t> </a:t>
            </a:r>
            <a:r>
              <a:rPr sz="3200" spc="-25" dirty="0">
                <a:latin typeface="Calibri"/>
                <a:cs typeface="Calibri"/>
              </a:rPr>
              <a:t>and </a:t>
            </a:r>
            <a:r>
              <a:rPr sz="3200" dirty="0">
                <a:latin typeface="Calibri"/>
                <a:cs typeface="Calibri"/>
              </a:rPr>
              <a:t>low</a:t>
            </a:r>
            <a:r>
              <a:rPr sz="3200" spc="-10" dirty="0">
                <a:latin typeface="Calibri"/>
                <a:cs typeface="Calibri"/>
              </a:rPr>
              <a:t> </a:t>
            </a:r>
            <a:r>
              <a:rPr sz="3200" spc="-20" dirty="0">
                <a:latin typeface="Calibri"/>
                <a:cs typeface="Calibri"/>
              </a:rPr>
              <a:t>cost</a:t>
            </a:r>
            <a:endParaRPr sz="3200" dirty="0">
              <a:latin typeface="Calibri"/>
              <a:cs typeface="Calibri"/>
            </a:endParaRPr>
          </a:p>
          <a:p>
            <a:pPr marL="354965" indent="-342265">
              <a:spcBef>
                <a:spcPts val="770"/>
              </a:spcBef>
              <a:buFont typeface="Arial MT"/>
              <a:buChar char="•"/>
              <a:tabLst>
                <a:tab pos="354965" algn="l"/>
              </a:tabLst>
            </a:pPr>
            <a:r>
              <a:rPr sz="3200" dirty="0">
                <a:latin typeface="Calibri"/>
                <a:cs typeface="Calibri"/>
              </a:rPr>
              <a:t>8</a:t>
            </a:r>
            <a:r>
              <a:rPr sz="3200" spc="-50" dirty="0">
                <a:latin typeface="Calibri"/>
                <a:cs typeface="Calibri"/>
              </a:rPr>
              <a:t> </a:t>
            </a:r>
            <a:r>
              <a:rPr sz="3200" dirty="0">
                <a:latin typeface="Calibri"/>
                <a:cs typeface="Calibri"/>
              </a:rPr>
              <a:t>or</a:t>
            </a:r>
            <a:r>
              <a:rPr sz="3200" spc="-40" dirty="0">
                <a:latin typeface="Calibri"/>
                <a:cs typeface="Calibri"/>
              </a:rPr>
              <a:t> </a:t>
            </a:r>
            <a:r>
              <a:rPr sz="3200" dirty="0">
                <a:latin typeface="Calibri"/>
                <a:cs typeface="Calibri"/>
              </a:rPr>
              <a:t>16</a:t>
            </a:r>
            <a:r>
              <a:rPr sz="3200" spc="-35" dirty="0">
                <a:latin typeface="Calibri"/>
                <a:cs typeface="Calibri"/>
              </a:rPr>
              <a:t> </a:t>
            </a:r>
            <a:r>
              <a:rPr sz="3200" dirty="0">
                <a:latin typeface="Calibri"/>
                <a:cs typeface="Calibri"/>
              </a:rPr>
              <a:t>bit</a:t>
            </a:r>
            <a:r>
              <a:rPr sz="3200" spc="-30" dirty="0">
                <a:latin typeface="Calibri"/>
                <a:cs typeface="Calibri"/>
              </a:rPr>
              <a:t> </a:t>
            </a:r>
            <a:r>
              <a:rPr sz="3200" dirty="0">
                <a:latin typeface="Calibri"/>
                <a:cs typeface="Calibri"/>
              </a:rPr>
              <a:t>microprocessors/</a:t>
            </a:r>
            <a:r>
              <a:rPr sz="3200" spc="-55" dirty="0">
                <a:latin typeface="Calibri"/>
                <a:cs typeface="Calibri"/>
              </a:rPr>
              <a:t> </a:t>
            </a:r>
            <a:r>
              <a:rPr sz="3200" spc="-10" dirty="0">
                <a:latin typeface="Calibri"/>
                <a:cs typeface="Calibri"/>
              </a:rPr>
              <a:t>microcontrollers</a:t>
            </a:r>
            <a:endParaRPr sz="3200" dirty="0">
              <a:latin typeface="Calibri"/>
              <a:cs typeface="Calibri"/>
            </a:endParaRPr>
          </a:p>
          <a:p>
            <a:pPr marL="354965" indent="-342265">
              <a:spcBef>
                <a:spcPts val="770"/>
              </a:spcBef>
              <a:buFont typeface="Arial MT"/>
              <a:buChar char="•"/>
              <a:tabLst>
                <a:tab pos="354965" algn="l"/>
              </a:tabLst>
            </a:pPr>
            <a:r>
              <a:rPr sz="3200" dirty="0">
                <a:latin typeface="Calibri"/>
                <a:cs typeface="Calibri"/>
              </a:rPr>
              <a:t>May</a:t>
            </a:r>
            <a:r>
              <a:rPr sz="3200" spc="-70" dirty="0">
                <a:latin typeface="Calibri"/>
                <a:cs typeface="Calibri"/>
              </a:rPr>
              <a:t> </a:t>
            </a:r>
            <a:r>
              <a:rPr sz="3200" dirty="0">
                <a:latin typeface="Calibri"/>
                <a:cs typeface="Calibri"/>
              </a:rPr>
              <a:t>or</a:t>
            </a:r>
            <a:r>
              <a:rPr sz="3200" spc="-80" dirty="0">
                <a:latin typeface="Calibri"/>
                <a:cs typeface="Calibri"/>
              </a:rPr>
              <a:t> </a:t>
            </a:r>
            <a:r>
              <a:rPr sz="3200" dirty="0">
                <a:latin typeface="Calibri"/>
                <a:cs typeface="Calibri"/>
              </a:rPr>
              <a:t>may</a:t>
            </a:r>
            <a:r>
              <a:rPr sz="3200" spc="-70" dirty="0">
                <a:latin typeface="Calibri"/>
                <a:cs typeface="Calibri"/>
              </a:rPr>
              <a:t> </a:t>
            </a:r>
            <a:r>
              <a:rPr sz="3200" dirty="0">
                <a:latin typeface="Calibri"/>
                <a:cs typeface="Calibri"/>
              </a:rPr>
              <a:t>not</a:t>
            </a:r>
            <a:r>
              <a:rPr sz="3200" spc="-60" dirty="0">
                <a:latin typeface="Calibri"/>
                <a:cs typeface="Calibri"/>
              </a:rPr>
              <a:t> </a:t>
            </a:r>
            <a:r>
              <a:rPr sz="3200" spc="-10" dirty="0">
                <a:latin typeface="Calibri"/>
                <a:cs typeface="Calibri"/>
              </a:rPr>
              <a:t>contain</a:t>
            </a:r>
            <a:r>
              <a:rPr sz="3200" spc="-70" dirty="0">
                <a:latin typeface="Calibri"/>
                <a:cs typeface="Calibri"/>
              </a:rPr>
              <a:t> </a:t>
            </a:r>
            <a:r>
              <a:rPr sz="3200" dirty="0">
                <a:latin typeface="Calibri"/>
                <a:cs typeface="Calibri"/>
              </a:rPr>
              <a:t>an</a:t>
            </a:r>
            <a:r>
              <a:rPr sz="3200" spc="-75" dirty="0">
                <a:latin typeface="Calibri"/>
                <a:cs typeface="Calibri"/>
              </a:rPr>
              <a:t> </a:t>
            </a:r>
            <a:r>
              <a:rPr sz="3200" dirty="0">
                <a:latin typeface="Calibri"/>
                <a:cs typeface="Calibri"/>
              </a:rPr>
              <a:t>operating</a:t>
            </a:r>
            <a:r>
              <a:rPr sz="3200" spc="-80" dirty="0">
                <a:latin typeface="Calibri"/>
                <a:cs typeface="Calibri"/>
              </a:rPr>
              <a:t> </a:t>
            </a:r>
            <a:r>
              <a:rPr sz="3200" spc="-10" dirty="0">
                <a:latin typeface="Calibri"/>
                <a:cs typeface="Calibri"/>
              </a:rPr>
              <a:t>system</a:t>
            </a:r>
            <a:endParaRPr sz="3200" dirty="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29372"/>
            <a:ext cx="10515600" cy="997068"/>
          </a:xfrm>
          <a:prstGeom prst="rect">
            <a:avLst/>
          </a:prstGeom>
        </p:spPr>
        <p:txBody>
          <a:bodyPr vert="horz" wrap="square" lIns="0" tIns="316865" rIns="0" bIns="0" rtlCol="0" anchor="ctr">
            <a:spAutoFit/>
          </a:bodyPr>
          <a:lstStyle/>
          <a:p>
            <a:pPr marL="177165">
              <a:lnSpc>
                <a:spcPct val="100000"/>
              </a:lnSpc>
              <a:spcBef>
                <a:spcPts val="95"/>
              </a:spcBef>
            </a:pPr>
            <a:r>
              <a:rPr dirty="0"/>
              <a:t>ii)</a:t>
            </a:r>
            <a:r>
              <a:rPr spc="-65" dirty="0"/>
              <a:t> </a:t>
            </a:r>
            <a:r>
              <a:rPr spc="-30" dirty="0"/>
              <a:t>Medium-</a:t>
            </a:r>
            <a:r>
              <a:rPr dirty="0"/>
              <a:t>scale</a:t>
            </a:r>
            <a:r>
              <a:rPr spc="-60" dirty="0"/>
              <a:t> </a:t>
            </a:r>
            <a:r>
              <a:rPr dirty="0"/>
              <a:t>Embedded</a:t>
            </a:r>
            <a:r>
              <a:rPr spc="-65" dirty="0"/>
              <a:t> </a:t>
            </a:r>
            <a:r>
              <a:rPr spc="-10" dirty="0"/>
              <a:t>system</a:t>
            </a:r>
          </a:p>
        </p:txBody>
      </p:sp>
      <p:sp>
        <p:nvSpPr>
          <p:cNvPr id="3" name="object 3"/>
          <p:cNvSpPr txBox="1"/>
          <p:nvPr/>
        </p:nvSpPr>
        <p:spPr>
          <a:xfrm>
            <a:off x="2059940" y="1607261"/>
            <a:ext cx="7499984" cy="3246120"/>
          </a:xfrm>
          <a:prstGeom prst="rect">
            <a:avLst/>
          </a:prstGeom>
        </p:spPr>
        <p:txBody>
          <a:bodyPr vert="horz" wrap="square" lIns="0" tIns="13335" rIns="0" bIns="0" rtlCol="0">
            <a:spAutoFit/>
          </a:bodyPr>
          <a:lstStyle/>
          <a:p>
            <a:pPr marL="355600" marR="5080" indent="-342900">
              <a:spcBef>
                <a:spcPts val="105"/>
              </a:spcBef>
              <a:buFont typeface="Arial MT"/>
              <a:buChar char="•"/>
              <a:tabLst>
                <a:tab pos="355600" algn="l"/>
              </a:tabLst>
            </a:pPr>
            <a:r>
              <a:rPr sz="3200" dirty="0">
                <a:latin typeface="Calibri"/>
                <a:cs typeface="Calibri"/>
              </a:rPr>
              <a:t>These</a:t>
            </a:r>
            <a:r>
              <a:rPr sz="3200" spc="-70" dirty="0">
                <a:latin typeface="Calibri"/>
                <a:cs typeface="Calibri"/>
              </a:rPr>
              <a:t> </a:t>
            </a:r>
            <a:r>
              <a:rPr sz="3200" dirty="0">
                <a:latin typeface="Calibri"/>
                <a:cs typeface="Calibri"/>
              </a:rPr>
              <a:t>are</a:t>
            </a:r>
            <a:r>
              <a:rPr sz="3200" spc="-85" dirty="0">
                <a:latin typeface="Calibri"/>
                <a:cs typeface="Calibri"/>
              </a:rPr>
              <a:t> </a:t>
            </a:r>
            <a:r>
              <a:rPr sz="3200" dirty="0">
                <a:latin typeface="Calibri"/>
                <a:cs typeface="Calibri"/>
              </a:rPr>
              <a:t>slightly</a:t>
            </a:r>
            <a:r>
              <a:rPr sz="3200" spc="-45" dirty="0">
                <a:latin typeface="Calibri"/>
                <a:cs typeface="Calibri"/>
              </a:rPr>
              <a:t> </a:t>
            </a:r>
            <a:r>
              <a:rPr sz="3200" dirty="0">
                <a:latin typeface="Calibri"/>
                <a:cs typeface="Calibri"/>
              </a:rPr>
              <a:t>complex</a:t>
            </a:r>
            <a:r>
              <a:rPr sz="3200" spc="-70" dirty="0">
                <a:latin typeface="Calibri"/>
                <a:cs typeface="Calibri"/>
              </a:rPr>
              <a:t> </a:t>
            </a:r>
            <a:r>
              <a:rPr sz="3200" dirty="0">
                <a:latin typeface="Calibri"/>
                <a:cs typeface="Calibri"/>
              </a:rPr>
              <a:t>in</a:t>
            </a:r>
            <a:r>
              <a:rPr sz="3200" spc="-55" dirty="0">
                <a:latin typeface="Calibri"/>
                <a:cs typeface="Calibri"/>
              </a:rPr>
              <a:t> </a:t>
            </a:r>
            <a:r>
              <a:rPr sz="3200" dirty="0">
                <a:latin typeface="Calibri"/>
                <a:cs typeface="Calibri"/>
              </a:rPr>
              <a:t>hardware</a:t>
            </a:r>
            <a:r>
              <a:rPr sz="3200" spc="-70" dirty="0">
                <a:latin typeface="Calibri"/>
                <a:cs typeface="Calibri"/>
              </a:rPr>
              <a:t> </a:t>
            </a:r>
            <a:r>
              <a:rPr sz="3200" spc="-25" dirty="0">
                <a:latin typeface="Calibri"/>
                <a:cs typeface="Calibri"/>
              </a:rPr>
              <a:t>and </a:t>
            </a:r>
            <a:r>
              <a:rPr sz="3200" spc="-10" dirty="0">
                <a:latin typeface="Calibri"/>
                <a:cs typeface="Calibri"/>
              </a:rPr>
              <a:t>firmware</a:t>
            </a:r>
            <a:endParaRPr sz="3200">
              <a:latin typeface="Calibri"/>
              <a:cs typeface="Calibri"/>
            </a:endParaRPr>
          </a:p>
          <a:p>
            <a:pPr marL="354965" indent="-342265">
              <a:spcBef>
                <a:spcPts val="770"/>
              </a:spcBef>
              <a:buFont typeface="Arial MT"/>
              <a:buChar char="•"/>
              <a:tabLst>
                <a:tab pos="354965" algn="l"/>
              </a:tabLst>
            </a:pPr>
            <a:r>
              <a:rPr sz="3200" dirty="0">
                <a:latin typeface="Calibri"/>
                <a:cs typeface="Calibri"/>
              </a:rPr>
              <a:t>Medium</a:t>
            </a:r>
            <a:r>
              <a:rPr sz="3200" spc="-50" dirty="0">
                <a:latin typeface="Calibri"/>
                <a:cs typeface="Calibri"/>
              </a:rPr>
              <a:t> </a:t>
            </a:r>
            <a:r>
              <a:rPr sz="3200" dirty="0">
                <a:latin typeface="Calibri"/>
                <a:cs typeface="Calibri"/>
              </a:rPr>
              <a:t>performance,</a:t>
            </a:r>
            <a:r>
              <a:rPr sz="3200" spc="-65" dirty="0">
                <a:latin typeface="Calibri"/>
                <a:cs typeface="Calibri"/>
              </a:rPr>
              <a:t> </a:t>
            </a:r>
            <a:r>
              <a:rPr sz="3200" dirty="0">
                <a:latin typeface="Calibri"/>
                <a:cs typeface="Calibri"/>
              </a:rPr>
              <a:t>low</a:t>
            </a:r>
            <a:r>
              <a:rPr sz="3200" spc="-60" dirty="0">
                <a:latin typeface="Calibri"/>
                <a:cs typeface="Calibri"/>
              </a:rPr>
              <a:t> </a:t>
            </a:r>
            <a:r>
              <a:rPr sz="3200" spc="-20" dirty="0">
                <a:latin typeface="Calibri"/>
                <a:cs typeface="Calibri"/>
              </a:rPr>
              <a:t>cost</a:t>
            </a:r>
            <a:endParaRPr sz="3200">
              <a:latin typeface="Calibri"/>
              <a:cs typeface="Calibri"/>
            </a:endParaRPr>
          </a:p>
          <a:p>
            <a:pPr marL="355600" marR="290830" indent="-342900">
              <a:spcBef>
                <a:spcPts val="770"/>
              </a:spcBef>
              <a:buFont typeface="Arial MT"/>
              <a:buChar char="•"/>
              <a:tabLst>
                <a:tab pos="355600" algn="l"/>
              </a:tabLst>
            </a:pPr>
            <a:r>
              <a:rPr sz="3200" dirty="0">
                <a:latin typeface="Calibri"/>
                <a:cs typeface="Calibri"/>
              </a:rPr>
              <a:t>16/</a:t>
            </a:r>
            <a:r>
              <a:rPr sz="3200" spc="-5" dirty="0">
                <a:latin typeface="Calibri"/>
                <a:cs typeface="Calibri"/>
              </a:rPr>
              <a:t> </a:t>
            </a:r>
            <a:r>
              <a:rPr sz="3200" dirty="0">
                <a:latin typeface="Calibri"/>
                <a:cs typeface="Calibri"/>
              </a:rPr>
              <a:t>32</a:t>
            </a:r>
            <a:r>
              <a:rPr sz="3200" spc="10" dirty="0">
                <a:latin typeface="Calibri"/>
                <a:cs typeface="Calibri"/>
              </a:rPr>
              <a:t> </a:t>
            </a:r>
            <a:r>
              <a:rPr sz="3200" spc="-10" dirty="0">
                <a:latin typeface="Calibri"/>
                <a:cs typeface="Calibri"/>
              </a:rPr>
              <a:t>microprocessors/microcontrollers, </a:t>
            </a:r>
            <a:r>
              <a:rPr sz="3200" spc="-20" dirty="0">
                <a:latin typeface="Calibri"/>
                <a:cs typeface="Calibri"/>
              </a:rPr>
              <a:t>DSPs</a:t>
            </a:r>
            <a:endParaRPr sz="3200">
              <a:latin typeface="Calibri"/>
              <a:cs typeface="Calibri"/>
            </a:endParaRPr>
          </a:p>
          <a:p>
            <a:pPr marL="354965" indent="-342265">
              <a:spcBef>
                <a:spcPts val="770"/>
              </a:spcBef>
              <a:buFont typeface="Arial MT"/>
              <a:buChar char="•"/>
              <a:tabLst>
                <a:tab pos="354965" algn="l"/>
              </a:tabLst>
            </a:pPr>
            <a:r>
              <a:rPr sz="3200" dirty="0">
                <a:latin typeface="Calibri"/>
                <a:cs typeface="Calibri"/>
              </a:rPr>
              <a:t>Has</a:t>
            </a:r>
            <a:r>
              <a:rPr sz="3200" spc="-50" dirty="0">
                <a:latin typeface="Calibri"/>
                <a:cs typeface="Calibri"/>
              </a:rPr>
              <a:t> </a:t>
            </a:r>
            <a:r>
              <a:rPr sz="3200" dirty="0">
                <a:latin typeface="Calibri"/>
                <a:cs typeface="Calibri"/>
              </a:rPr>
              <a:t>OS</a:t>
            </a:r>
            <a:r>
              <a:rPr sz="3200" spc="-35" dirty="0">
                <a:latin typeface="Calibri"/>
                <a:cs typeface="Calibri"/>
              </a:rPr>
              <a:t> </a:t>
            </a:r>
            <a:r>
              <a:rPr sz="3200" dirty="0">
                <a:latin typeface="Calibri"/>
                <a:cs typeface="Calibri"/>
              </a:rPr>
              <a:t>that</a:t>
            </a:r>
            <a:r>
              <a:rPr sz="3200" spc="-40" dirty="0">
                <a:latin typeface="Calibri"/>
                <a:cs typeface="Calibri"/>
              </a:rPr>
              <a:t> </a:t>
            </a:r>
            <a:r>
              <a:rPr sz="3200" dirty="0">
                <a:latin typeface="Calibri"/>
                <a:cs typeface="Calibri"/>
              </a:rPr>
              <a:t>may</a:t>
            </a:r>
            <a:r>
              <a:rPr sz="3200" spc="-45" dirty="0">
                <a:latin typeface="Calibri"/>
                <a:cs typeface="Calibri"/>
              </a:rPr>
              <a:t> </a:t>
            </a:r>
            <a:r>
              <a:rPr sz="3200" dirty="0">
                <a:latin typeface="Calibri"/>
                <a:cs typeface="Calibri"/>
              </a:rPr>
              <a:t>be</a:t>
            </a:r>
            <a:r>
              <a:rPr sz="3200" spc="-50" dirty="0">
                <a:latin typeface="Calibri"/>
                <a:cs typeface="Calibri"/>
              </a:rPr>
              <a:t> </a:t>
            </a:r>
            <a:r>
              <a:rPr sz="3200" dirty="0">
                <a:latin typeface="Calibri"/>
                <a:cs typeface="Calibri"/>
              </a:rPr>
              <a:t>GPOS</a:t>
            </a:r>
            <a:r>
              <a:rPr sz="3200" spc="-35" dirty="0">
                <a:latin typeface="Calibri"/>
                <a:cs typeface="Calibri"/>
              </a:rPr>
              <a:t> </a:t>
            </a:r>
            <a:r>
              <a:rPr sz="3200" dirty="0">
                <a:latin typeface="Calibri"/>
                <a:cs typeface="Calibri"/>
              </a:rPr>
              <a:t>or</a:t>
            </a:r>
            <a:r>
              <a:rPr sz="3200" spc="-55" dirty="0">
                <a:latin typeface="Calibri"/>
                <a:cs typeface="Calibri"/>
              </a:rPr>
              <a:t> </a:t>
            </a:r>
            <a:r>
              <a:rPr sz="3200" spc="-20" dirty="0">
                <a:latin typeface="Calibri"/>
                <a:cs typeface="Calibri"/>
              </a:rPr>
              <a:t>RTOS</a:t>
            </a:r>
            <a:endParaRPr sz="320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344707"/>
            <a:ext cx="7912510" cy="1366400"/>
          </a:xfrm>
          <a:prstGeom prst="rect">
            <a:avLst/>
          </a:prstGeom>
        </p:spPr>
        <p:txBody>
          <a:bodyPr vert="horz" wrap="square" lIns="0" tIns="12065" rIns="0" bIns="0" rtlCol="0" anchor="ctr">
            <a:spAutoFit/>
          </a:bodyPr>
          <a:lstStyle/>
          <a:p>
            <a:pPr marL="1183005" marR="5080" indent="19685">
              <a:lnSpc>
                <a:spcPct val="100000"/>
              </a:lnSpc>
              <a:spcBef>
                <a:spcPts val="95"/>
              </a:spcBef>
            </a:pPr>
            <a:r>
              <a:rPr dirty="0"/>
              <a:t>iii)</a:t>
            </a:r>
            <a:r>
              <a:rPr spc="-20" dirty="0"/>
              <a:t> </a:t>
            </a:r>
            <a:r>
              <a:rPr spc="-35" dirty="0"/>
              <a:t>Large-</a:t>
            </a:r>
            <a:r>
              <a:rPr dirty="0"/>
              <a:t>scale</a:t>
            </a:r>
            <a:r>
              <a:rPr spc="-15" dirty="0"/>
              <a:t> </a:t>
            </a:r>
            <a:r>
              <a:rPr spc="-10" dirty="0"/>
              <a:t>embedded </a:t>
            </a:r>
            <a:r>
              <a:rPr spc="-35" dirty="0"/>
              <a:t>systems/complex</a:t>
            </a:r>
            <a:r>
              <a:rPr spc="-85" dirty="0"/>
              <a:t> </a:t>
            </a:r>
            <a:r>
              <a:rPr spc="-10" dirty="0"/>
              <a:t>systems</a:t>
            </a:r>
          </a:p>
        </p:txBody>
      </p:sp>
      <p:sp>
        <p:nvSpPr>
          <p:cNvPr id="3" name="object 3"/>
          <p:cNvSpPr txBox="1"/>
          <p:nvPr/>
        </p:nvSpPr>
        <p:spPr>
          <a:xfrm>
            <a:off x="1981281" y="1932728"/>
            <a:ext cx="8794873" cy="3374000"/>
          </a:xfrm>
          <a:prstGeom prst="rect">
            <a:avLst/>
          </a:prstGeom>
        </p:spPr>
        <p:txBody>
          <a:bodyPr vert="horz" wrap="square" lIns="0" tIns="110489" rIns="0" bIns="0" rtlCol="0">
            <a:spAutoFit/>
          </a:bodyPr>
          <a:lstStyle/>
          <a:p>
            <a:pPr marL="354965" indent="-342265">
              <a:spcBef>
                <a:spcPts val="869"/>
              </a:spcBef>
              <a:buFont typeface="Arial MT"/>
              <a:buChar char="•"/>
              <a:tabLst>
                <a:tab pos="354965" algn="l"/>
              </a:tabLst>
            </a:pPr>
            <a:r>
              <a:rPr sz="3200" dirty="0">
                <a:latin typeface="Calibri"/>
                <a:cs typeface="Calibri"/>
              </a:rPr>
              <a:t>Highly</a:t>
            </a:r>
            <a:r>
              <a:rPr sz="3200" spc="-70" dirty="0">
                <a:latin typeface="Calibri"/>
                <a:cs typeface="Calibri"/>
              </a:rPr>
              <a:t> </a:t>
            </a:r>
            <a:r>
              <a:rPr sz="3200" dirty="0">
                <a:latin typeface="Calibri"/>
                <a:cs typeface="Calibri"/>
              </a:rPr>
              <a:t>complex</a:t>
            </a:r>
            <a:r>
              <a:rPr sz="3200" spc="-85" dirty="0">
                <a:latin typeface="Calibri"/>
                <a:cs typeface="Calibri"/>
              </a:rPr>
              <a:t> </a:t>
            </a:r>
            <a:r>
              <a:rPr sz="3200" dirty="0">
                <a:latin typeface="Calibri"/>
                <a:cs typeface="Calibri"/>
              </a:rPr>
              <a:t>hardware</a:t>
            </a:r>
            <a:r>
              <a:rPr sz="3200" spc="-80" dirty="0">
                <a:latin typeface="Calibri"/>
                <a:cs typeface="Calibri"/>
              </a:rPr>
              <a:t> </a:t>
            </a:r>
            <a:r>
              <a:rPr sz="3200" dirty="0">
                <a:latin typeface="Calibri"/>
                <a:cs typeface="Calibri"/>
              </a:rPr>
              <a:t>and</a:t>
            </a:r>
            <a:r>
              <a:rPr sz="3200" spc="-70" dirty="0">
                <a:latin typeface="Calibri"/>
                <a:cs typeface="Calibri"/>
              </a:rPr>
              <a:t> </a:t>
            </a:r>
            <a:r>
              <a:rPr sz="3200" spc="-10" dirty="0">
                <a:latin typeface="Calibri"/>
                <a:cs typeface="Calibri"/>
              </a:rPr>
              <a:t>firmware</a:t>
            </a:r>
            <a:endParaRPr sz="3200" dirty="0">
              <a:latin typeface="Calibri"/>
              <a:cs typeface="Calibri"/>
            </a:endParaRPr>
          </a:p>
          <a:p>
            <a:pPr marL="354965" indent="-342265">
              <a:spcBef>
                <a:spcPts val="770"/>
              </a:spcBef>
              <a:buFont typeface="Arial MT"/>
              <a:buChar char="•"/>
              <a:tabLst>
                <a:tab pos="354965" algn="l"/>
              </a:tabLst>
            </a:pPr>
            <a:r>
              <a:rPr sz="3200" dirty="0">
                <a:latin typeface="Calibri"/>
                <a:cs typeface="Calibri"/>
              </a:rPr>
              <a:t>High</a:t>
            </a:r>
            <a:r>
              <a:rPr sz="3200" spc="-60" dirty="0">
                <a:latin typeface="Calibri"/>
                <a:cs typeface="Calibri"/>
              </a:rPr>
              <a:t> </a:t>
            </a:r>
            <a:r>
              <a:rPr sz="3200" spc="-10" dirty="0">
                <a:latin typeface="Calibri"/>
                <a:cs typeface="Calibri"/>
              </a:rPr>
              <a:t>performance</a:t>
            </a:r>
            <a:endParaRPr sz="3200" dirty="0">
              <a:latin typeface="Calibri"/>
              <a:cs typeface="Calibri"/>
            </a:endParaRPr>
          </a:p>
          <a:p>
            <a:pPr marL="355600" marR="5080" indent="-342900">
              <a:spcBef>
                <a:spcPts val="770"/>
              </a:spcBef>
              <a:buFont typeface="Arial MT"/>
              <a:buChar char="•"/>
              <a:tabLst>
                <a:tab pos="355600" algn="l"/>
                <a:tab pos="3119120" algn="l"/>
              </a:tabLst>
            </a:pPr>
            <a:r>
              <a:rPr sz="3200" dirty="0">
                <a:latin typeface="Calibri"/>
                <a:cs typeface="Calibri"/>
              </a:rPr>
              <a:t>32or</a:t>
            </a:r>
            <a:r>
              <a:rPr sz="3200" spc="-5" dirty="0">
                <a:latin typeface="Calibri"/>
                <a:cs typeface="Calibri"/>
              </a:rPr>
              <a:t> </a:t>
            </a:r>
            <a:r>
              <a:rPr sz="3200" dirty="0">
                <a:latin typeface="Calibri"/>
                <a:cs typeface="Calibri"/>
              </a:rPr>
              <a:t>64</a:t>
            </a:r>
            <a:r>
              <a:rPr sz="3200" spc="-15" dirty="0">
                <a:latin typeface="Calibri"/>
                <a:cs typeface="Calibri"/>
              </a:rPr>
              <a:t> </a:t>
            </a:r>
            <a:r>
              <a:rPr sz="3200" dirty="0">
                <a:latin typeface="Calibri"/>
                <a:cs typeface="Calibri"/>
              </a:rPr>
              <a:t>bit</a:t>
            </a:r>
            <a:r>
              <a:rPr sz="3200" spc="5" dirty="0">
                <a:latin typeface="Calibri"/>
                <a:cs typeface="Calibri"/>
              </a:rPr>
              <a:t> </a:t>
            </a:r>
            <a:r>
              <a:rPr sz="3200" dirty="0">
                <a:latin typeface="Calibri"/>
                <a:cs typeface="Calibri"/>
              </a:rPr>
              <a:t>RISC </a:t>
            </a:r>
            <a:r>
              <a:rPr sz="3200" spc="-20" dirty="0">
                <a:latin typeface="Calibri"/>
                <a:cs typeface="Calibri"/>
              </a:rPr>
              <a:t>processors/controllers</a:t>
            </a:r>
            <a:r>
              <a:rPr sz="3200" spc="-35" dirty="0">
                <a:latin typeface="Calibri"/>
                <a:cs typeface="Calibri"/>
              </a:rPr>
              <a:t> </a:t>
            </a:r>
            <a:r>
              <a:rPr sz="3200" spc="-25" dirty="0">
                <a:latin typeface="Calibri"/>
                <a:cs typeface="Calibri"/>
              </a:rPr>
              <a:t>or </a:t>
            </a:r>
            <a:r>
              <a:rPr sz="3200" dirty="0">
                <a:latin typeface="Calibri"/>
                <a:cs typeface="Calibri"/>
              </a:rPr>
              <a:t>Reconfigurable</a:t>
            </a:r>
            <a:r>
              <a:rPr sz="3200" spc="-105" dirty="0">
                <a:latin typeface="Calibri"/>
                <a:cs typeface="Calibri"/>
              </a:rPr>
              <a:t> </a:t>
            </a:r>
            <a:r>
              <a:rPr sz="3200" dirty="0">
                <a:latin typeface="Calibri"/>
                <a:cs typeface="Calibri"/>
              </a:rPr>
              <a:t>system</a:t>
            </a:r>
            <a:r>
              <a:rPr sz="3200" spc="-105" dirty="0">
                <a:latin typeface="Calibri"/>
                <a:cs typeface="Calibri"/>
              </a:rPr>
              <a:t> </a:t>
            </a:r>
            <a:r>
              <a:rPr sz="3200" dirty="0">
                <a:latin typeface="Calibri"/>
                <a:cs typeface="Calibri"/>
              </a:rPr>
              <a:t>on</a:t>
            </a:r>
            <a:r>
              <a:rPr sz="3200" spc="-105" dirty="0">
                <a:latin typeface="Calibri"/>
                <a:cs typeface="Calibri"/>
              </a:rPr>
              <a:t> </a:t>
            </a:r>
            <a:r>
              <a:rPr sz="3200" spc="-10" dirty="0">
                <a:latin typeface="Calibri"/>
                <a:cs typeface="Calibri"/>
              </a:rPr>
              <a:t>chip(RSoC)</a:t>
            </a:r>
            <a:r>
              <a:rPr sz="3200" spc="-90" dirty="0">
                <a:latin typeface="Calibri"/>
                <a:cs typeface="Calibri"/>
              </a:rPr>
              <a:t> </a:t>
            </a:r>
            <a:r>
              <a:rPr sz="3200" dirty="0">
                <a:latin typeface="Calibri"/>
                <a:cs typeface="Calibri"/>
              </a:rPr>
              <a:t>or</a:t>
            </a:r>
            <a:r>
              <a:rPr sz="3200" spc="-110" dirty="0">
                <a:latin typeface="Calibri"/>
                <a:cs typeface="Calibri"/>
              </a:rPr>
              <a:t> </a:t>
            </a:r>
            <a:r>
              <a:rPr sz="3200" spc="-10" dirty="0">
                <a:latin typeface="Calibri"/>
                <a:cs typeface="Calibri"/>
              </a:rPr>
              <a:t>multi- </a:t>
            </a:r>
            <a:r>
              <a:rPr sz="3200" dirty="0">
                <a:latin typeface="Calibri"/>
                <a:cs typeface="Calibri"/>
              </a:rPr>
              <a:t>core</a:t>
            </a:r>
            <a:r>
              <a:rPr sz="3200" spc="-80" dirty="0">
                <a:latin typeface="Calibri"/>
                <a:cs typeface="Calibri"/>
              </a:rPr>
              <a:t> </a:t>
            </a:r>
            <a:r>
              <a:rPr sz="3200" spc="-10" dirty="0">
                <a:latin typeface="Calibri"/>
                <a:cs typeface="Calibri"/>
              </a:rPr>
              <a:t>processors</a:t>
            </a:r>
            <a:r>
              <a:rPr lang="en-IN" sz="3200" spc="-10" dirty="0">
                <a:latin typeface="Calibri"/>
                <a:cs typeface="Calibri"/>
              </a:rPr>
              <a:t> </a:t>
            </a:r>
            <a:r>
              <a:rPr sz="3200" dirty="0">
                <a:latin typeface="Calibri"/>
                <a:cs typeface="Calibri"/>
              </a:rPr>
              <a:t>and</a:t>
            </a:r>
            <a:r>
              <a:rPr sz="3200" spc="-80" dirty="0">
                <a:latin typeface="Calibri"/>
                <a:cs typeface="Calibri"/>
              </a:rPr>
              <a:t> </a:t>
            </a:r>
            <a:r>
              <a:rPr sz="3200" spc="-10" dirty="0">
                <a:latin typeface="Calibri"/>
                <a:cs typeface="Calibri"/>
              </a:rPr>
              <a:t>programmable</a:t>
            </a:r>
            <a:r>
              <a:rPr sz="3200" spc="-90" dirty="0">
                <a:latin typeface="Calibri"/>
                <a:cs typeface="Calibri"/>
              </a:rPr>
              <a:t> </a:t>
            </a:r>
            <a:r>
              <a:rPr sz="3200" spc="-10" dirty="0">
                <a:latin typeface="Calibri"/>
                <a:cs typeface="Calibri"/>
              </a:rPr>
              <a:t>logic devices</a:t>
            </a:r>
            <a:endParaRPr sz="3200" dirty="0">
              <a:latin typeface="Calibri"/>
              <a:cs typeface="Calibri"/>
            </a:endParaRPr>
          </a:p>
          <a:p>
            <a:pPr marL="354965" indent="-342265">
              <a:spcBef>
                <a:spcPts val="770"/>
              </a:spcBef>
              <a:buFont typeface="Arial MT"/>
              <a:buChar char="•"/>
              <a:tabLst>
                <a:tab pos="354965" algn="l"/>
              </a:tabLst>
            </a:pPr>
            <a:r>
              <a:rPr sz="3200" dirty="0">
                <a:latin typeface="Calibri"/>
                <a:cs typeface="Calibri"/>
              </a:rPr>
              <a:t>High</a:t>
            </a:r>
            <a:r>
              <a:rPr sz="3200" spc="-75" dirty="0">
                <a:latin typeface="Calibri"/>
                <a:cs typeface="Calibri"/>
              </a:rPr>
              <a:t> </a:t>
            </a:r>
            <a:r>
              <a:rPr sz="3200" dirty="0">
                <a:latin typeface="Calibri"/>
                <a:cs typeface="Calibri"/>
              </a:rPr>
              <a:t>performance</a:t>
            </a:r>
            <a:r>
              <a:rPr sz="3200" spc="-80" dirty="0">
                <a:latin typeface="Calibri"/>
                <a:cs typeface="Calibri"/>
              </a:rPr>
              <a:t> </a:t>
            </a:r>
            <a:r>
              <a:rPr sz="3200" spc="-20" dirty="0">
                <a:latin typeface="Calibri"/>
                <a:cs typeface="Calibri"/>
              </a:rPr>
              <a:t>RTOS</a:t>
            </a:r>
            <a:endParaRPr sz="3200" dirty="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p:nvPr/>
        </p:nvSpPr>
        <p:spPr>
          <a:xfrm>
            <a:off x="1106129" y="2619882"/>
            <a:ext cx="9979742" cy="3160481"/>
          </a:xfrm>
          <a:prstGeom prst="rect">
            <a:avLst/>
          </a:prstGeom>
        </p:spPr>
        <p:txBody>
          <a:bodyPr vert="horz" wrap="square" lIns="0" tIns="13335" rIns="0" bIns="0" rtlCol="0">
            <a:spAutoFit/>
          </a:bodyPr>
          <a:lstStyle/>
          <a:p>
            <a:pPr marL="355600" marR="5080" indent="-342900" algn="just">
              <a:spcBef>
                <a:spcPts val="105"/>
              </a:spcBef>
              <a:buFont typeface="Wingdings"/>
              <a:buChar char=""/>
              <a:tabLst>
                <a:tab pos="355600" algn="l"/>
              </a:tabLst>
            </a:pPr>
            <a:r>
              <a:rPr sz="3200" dirty="0">
                <a:latin typeface="Calibri"/>
                <a:cs typeface="Calibri"/>
              </a:rPr>
              <a:t>The</a:t>
            </a:r>
            <a:r>
              <a:rPr sz="3200" spc="620" dirty="0">
                <a:latin typeface="Calibri"/>
                <a:cs typeface="Calibri"/>
              </a:rPr>
              <a:t>  </a:t>
            </a:r>
            <a:r>
              <a:rPr sz="3200" dirty="0">
                <a:latin typeface="Calibri"/>
                <a:cs typeface="Calibri"/>
              </a:rPr>
              <a:t>classification</a:t>
            </a:r>
            <a:r>
              <a:rPr sz="3200" spc="625" dirty="0">
                <a:latin typeface="Calibri"/>
                <a:cs typeface="Calibri"/>
              </a:rPr>
              <a:t>  </a:t>
            </a:r>
            <a:r>
              <a:rPr sz="3200" dirty="0">
                <a:solidFill>
                  <a:srgbClr val="FF0000"/>
                </a:solidFill>
                <a:latin typeface="Calibri"/>
                <a:cs typeface="Calibri"/>
              </a:rPr>
              <a:t>based</a:t>
            </a:r>
            <a:r>
              <a:rPr sz="3200" spc="625" dirty="0">
                <a:solidFill>
                  <a:srgbClr val="FF0000"/>
                </a:solidFill>
                <a:latin typeface="Calibri"/>
                <a:cs typeface="Calibri"/>
              </a:rPr>
              <a:t>  </a:t>
            </a:r>
            <a:r>
              <a:rPr sz="3200" dirty="0">
                <a:solidFill>
                  <a:srgbClr val="FF0000"/>
                </a:solidFill>
                <a:latin typeface="Calibri"/>
                <a:cs typeface="Calibri"/>
              </a:rPr>
              <a:t>on</a:t>
            </a:r>
            <a:r>
              <a:rPr sz="3200" spc="620" dirty="0">
                <a:solidFill>
                  <a:srgbClr val="FF0000"/>
                </a:solidFill>
                <a:latin typeface="Calibri"/>
                <a:cs typeface="Calibri"/>
              </a:rPr>
              <a:t>  </a:t>
            </a:r>
            <a:r>
              <a:rPr sz="3200" spc="-10" dirty="0">
                <a:solidFill>
                  <a:srgbClr val="FF0000"/>
                </a:solidFill>
                <a:latin typeface="Calibri"/>
                <a:cs typeface="Calibri"/>
              </a:rPr>
              <a:t>deterministic </a:t>
            </a:r>
            <a:r>
              <a:rPr sz="3200" dirty="0">
                <a:solidFill>
                  <a:srgbClr val="FF0000"/>
                </a:solidFill>
                <a:latin typeface="Calibri"/>
                <a:cs typeface="Calibri"/>
              </a:rPr>
              <a:t>system</a:t>
            </a:r>
            <a:r>
              <a:rPr sz="3200" spc="434" dirty="0">
                <a:solidFill>
                  <a:srgbClr val="FF0000"/>
                </a:solidFill>
                <a:latin typeface="Calibri"/>
                <a:cs typeface="Calibri"/>
              </a:rPr>
              <a:t> </a:t>
            </a:r>
            <a:r>
              <a:rPr sz="3200" dirty="0">
                <a:solidFill>
                  <a:srgbClr val="FF0000"/>
                </a:solidFill>
                <a:latin typeface="Calibri"/>
                <a:cs typeface="Calibri"/>
              </a:rPr>
              <a:t>behavior</a:t>
            </a:r>
            <a:r>
              <a:rPr sz="3200" spc="450" dirty="0">
                <a:solidFill>
                  <a:srgbClr val="FF0000"/>
                </a:solidFill>
                <a:latin typeface="Calibri"/>
                <a:cs typeface="Calibri"/>
              </a:rPr>
              <a:t> </a:t>
            </a:r>
            <a:r>
              <a:rPr sz="3200" dirty="0">
                <a:latin typeface="Calibri"/>
                <a:cs typeface="Calibri"/>
              </a:rPr>
              <a:t>is</a:t>
            </a:r>
            <a:r>
              <a:rPr sz="3200" spc="445" dirty="0">
                <a:latin typeface="Calibri"/>
                <a:cs typeface="Calibri"/>
              </a:rPr>
              <a:t> </a:t>
            </a:r>
            <a:r>
              <a:rPr sz="3200" dirty="0">
                <a:latin typeface="Calibri"/>
                <a:cs typeface="Calibri"/>
              </a:rPr>
              <a:t>applicable</a:t>
            </a:r>
            <a:r>
              <a:rPr sz="3200" spc="450" dirty="0">
                <a:latin typeface="Calibri"/>
                <a:cs typeface="Calibri"/>
              </a:rPr>
              <a:t> </a:t>
            </a:r>
            <a:r>
              <a:rPr sz="3200" dirty="0">
                <a:latin typeface="Calibri"/>
                <a:cs typeface="Calibri"/>
              </a:rPr>
              <a:t>for</a:t>
            </a:r>
            <a:r>
              <a:rPr sz="3200" spc="450" dirty="0">
                <a:latin typeface="Calibri"/>
                <a:cs typeface="Calibri"/>
              </a:rPr>
              <a:t> </a:t>
            </a:r>
            <a:r>
              <a:rPr sz="3200" dirty="0">
                <a:solidFill>
                  <a:srgbClr val="77923B"/>
                </a:solidFill>
                <a:latin typeface="Calibri"/>
                <a:cs typeface="Calibri"/>
              </a:rPr>
              <a:t>‘Real</a:t>
            </a:r>
            <a:r>
              <a:rPr sz="3200" spc="450" dirty="0">
                <a:solidFill>
                  <a:srgbClr val="77923B"/>
                </a:solidFill>
                <a:latin typeface="Calibri"/>
                <a:cs typeface="Calibri"/>
              </a:rPr>
              <a:t> </a:t>
            </a:r>
            <a:r>
              <a:rPr sz="3200" spc="-10" dirty="0">
                <a:solidFill>
                  <a:srgbClr val="77923B"/>
                </a:solidFill>
                <a:latin typeface="Calibri"/>
                <a:cs typeface="Calibri"/>
              </a:rPr>
              <a:t>Time’ </a:t>
            </a:r>
            <a:r>
              <a:rPr sz="3200" spc="-10" dirty="0">
                <a:latin typeface="Calibri"/>
                <a:cs typeface="Calibri"/>
              </a:rPr>
              <a:t>systems.</a:t>
            </a:r>
            <a:endParaRPr sz="3200" dirty="0">
              <a:latin typeface="Calibri"/>
              <a:cs typeface="Calibri"/>
            </a:endParaRPr>
          </a:p>
          <a:p>
            <a:pPr>
              <a:spcBef>
                <a:spcPts val="1470"/>
              </a:spcBef>
              <a:buFont typeface="Wingdings"/>
              <a:buChar char=""/>
            </a:pPr>
            <a:endParaRPr sz="3200" dirty="0">
              <a:latin typeface="Calibri"/>
              <a:cs typeface="Calibri"/>
            </a:endParaRPr>
          </a:p>
          <a:p>
            <a:pPr marL="355600" marR="5080" indent="-342900" algn="just">
              <a:buFont typeface="Wingdings"/>
              <a:buChar char=""/>
              <a:tabLst>
                <a:tab pos="355600" algn="l"/>
              </a:tabLst>
            </a:pPr>
            <a:r>
              <a:rPr sz="3200" dirty="0">
                <a:latin typeface="Calibri"/>
                <a:cs typeface="Calibri"/>
              </a:rPr>
              <a:t>Embedded</a:t>
            </a:r>
            <a:r>
              <a:rPr sz="3200" spc="229" dirty="0">
                <a:latin typeface="Calibri"/>
                <a:cs typeface="Calibri"/>
              </a:rPr>
              <a:t> </a:t>
            </a:r>
            <a:r>
              <a:rPr sz="3200" dirty="0">
                <a:latin typeface="Calibri"/>
                <a:cs typeface="Calibri"/>
              </a:rPr>
              <a:t>systems</a:t>
            </a:r>
            <a:r>
              <a:rPr sz="3200" spc="235" dirty="0">
                <a:latin typeface="Calibri"/>
                <a:cs typeface="Calibri"/>
              </a:rPr>
              <a:t> </a:t>
            </a:r>
            <a:r>
              <a:rPr sz="3200" dirty="0">
                <a:latin typeface="Calibri"/>
                <a:cs typeface="Calibri"/>
              </a:rPr>
              <a:t>which</a:t>
            </a:r>
            <a:r>
              <a:rPr sz="3200" spc="245" dirty="0">
                <a:latin typeface="Calibri"/>
                <a:cs typeface="Calibri"/>
              </a:rPr>
              <a:t> </a:t>
            </a:r>
            <a:r>
              <a:rPr sz="3200" dirty="0">
                <a:latin typeface="Calibri"/>
                <a:cs typeface="Calibri"/>
              </a:rPr>
              <a:t>are</a:t>
            </a:r>
            <a:r>
              <a:rPr sz="3200" spc="235" dirty="0">
                <a:latin typeface="Calibri"/>
                <a:cs typeface="Calibri"/>
              </a:rPr>
              <a:t> </a:t>
            </a:r>
            <a:r>
              <a:rPr sz="3200" dirty="0">
                <a:solidFill>
                  <a:srgbClr val="30859C"/>
                </a:solidFill>
                <a:latin typeface="Calibri"/>
                <a:cs typeface="Calibri"/>
              </a:rPr>
              <a:t>‘Reactive’</a:t>
            </a:r>
            <a:r>
              <a:rPr sz="3200" spc="250" dirty="0">
                <a:solidFill>
                  <a:srgbClr val="30859C"/>
                </a:solidFill>
                <a:latin typeface="Calibri"/>
                <a:cs typeface="Calibri"/>
              </a:rPr>
              <a:t> </a:t>
            </a:r>
            <a:r>
              <a:rPr sz="3200" dirty="0">
                <a:latin typeface="Calibri"/>
                <a:cs typeface="Calibri"/>
              </a:rPr>
              <a:t>(</a:t>
            </a:r>
            <a:r>
              <a:rPr sz="3200" spc="245" dirty="0">
                <a:latin typeface="Calibri"/>
                <a:cs typeface="Calibri"/>
              </a:rPr>
              <a:t> </a:t>
            </a:r>
            <a:r>
              <a:rPr sz="3200" spc="-20" dirty="0">
                <a:latin typeface="Calibri"/>
                <a:cs typeface="Calibri"/>
              </a:rPr>
              <a:t>like </a:t>
            </a:r>
            <a:r>
              <a:rPr sz="3200" dirty="0">
                <a:latin typeface="Calibri"/>
                <a:cs typeface="Calibri"/>
              </a:rPr>
              <a:t>process</a:t>
            </a:r>
            <a:r>
              <a:rPr sz="3200" spc="605" dirty="0">
                <a:latin typeface="Calibri"/>
                <a:cs typeface="Calibri"/>
              </a:rPr>
              <a:t> </a:t>
            </a:r>
            <a:r>
              <a:rPr sz="3200" dirty="0">
                <a:latin typeface="Calibri"/>
                <a:cs typeface="Calibri"/>
              </a:rPr>
              <a:t>control</a:t>
            </a:r>
            <a:r>
              <a:rPr sz="3200" spc="605" dirty="0">
                <a:latin typeface="Calibri"/>
                <a:cs typeface="Calibri"/>
              </a:rPr>
              <a:t> </a:t>
            </a:r>
            <a:r>
              <a:rPr sz="3200" dirty="0">
                <a:latin typeface="Calibri"/>
                <a:cs typeface="Calibri"/>
              </a:rPr>
              <a:t>systems</a:t>
            </a:r>
            <a:r>
              <a:rPr sz="3200" spc="625" dirty="0">
                <a:latin typeface="Calibri"/>
                <a:cs typeface="Calibri"/>
              </a:rPr>
              <a:t> </a:t>
            </a:r>
            <a:r>
              <a:rPr sz="3200" dirty="0">
                <a:latin typeface="Calibri"/>
                <a:cs typeface="Calibri"/>
              </a:rPr>
              <a:t>in</a:t>
            </a:r>
            <a:r>
              <a:rPr sz="3200" spc="635" dirty="0">
                <a:latin typeface="Calibri"/>
                <a:cs typeface="Calibri"/>
              </a:rPr>
              <a:t> </a:t>
            </a:r>
            <a:r>
              <a:rPr sz="3200" dirty="0">
                <a:latin typeface="Calibri"/>
                <a:cs typeface="Calibri"/>
              </a:rPr>
              <a:t>industrial</a:t>
            </a:r>
            <a:r>
              <a:rPr sz="3200" spc="630" dirty="0">
                <a:latin typeface="Calibri"/>
                <a:cs typeface="Calibri"/>
              </a:rPr>
              <a:t> </a:t>
            </a:r>
            <a:r>
              <a:rPr sz="3200" spc="-10" dirty="0">
                <a:latin typeface="Calibri"/>
                <a:cs typeface="Calibri"/>
              </a:rPr>
              <a:t>control </a:t>
            </a:r>
            <a:r>
              <a:rPr sz="3200" dirty="0">
                <a:latin typeface="Calibri"/>
                <a:cs typeface="Calibri"/>
              </a:rPr>
              <a:t>applications)</a:t>
            </a:r>
            <a:r>
              <a:rPr sz="3200" spc="105" dirty="0">
                <a:latin typeface="Calibri"/>
                <a:cs typeface="Calibri"/>
              </a:rPr>
              <a:t> </a:t>
            </a:r>
            <a:r>
              <a:rPr sz="3200" dirty="0">
                <a:latin typeface="Calibri"/>
                <a:cs typeface="Calibri"/>
              </a:rPr>
              <a:t>in</a:t>
            </a:r>
            <a:r>
              <a:rPr sz="3200" spc="125" dirty="0">
                <a:latin typeface="Calibri"/>
                <a:cs typeface="Calibri"/>
              </a:rPr>
              <a:t> </a:t>
            </a:r>
            <a:r>
              <a:rPr sz="3200" dirty="0">
                <a:latin typeface="Calibri"/>
                <a:cs typeface="Calibri"/>
              </a:rPr>
              <a:t>nature</a:t>
            </a:r>
            <a:r>
              <a:rPr sz="3200" spc="120" dirty="0">
                <a:latin typeface="Calibri"/>
                <a:cs typeface="Calibri"/>
              </a:rPr>
              <a:t> </a:t>
            </a:r>
            <a:r>
              <a:rPr sz="3200" dirty="0">
                <a:latin typeface="Calibri"/>
                <a:cs typeface="Calibri"/>
              </a:rPr>
              <a:t>can</a:t>
            </a:r>
            <a:r>
              <a:rPr sz="3200" spc="114" dirty="0">
                <a:latin typeface="Calibri"/>
                <a:cs typeface="Calibri"/>
              </a:rPr>
              <a:t> </a:t>
            </a:r>
            <a:r>
              <a:rPr sz="3200" dirty="0">
                <a:latin typeface="Calibri"/>
                <a:cs typeface="Calibri"/>
              </a:rPr>
              <a:t>be</a:t>
            </a:r>
            <a:r>
              <a:rPr sz="3200" spc="114" dirty="0">
                <a:latin typeface="Calibri"/>
                <a:cs typeface="Calibri"/>
              </a:rPr>
              <a:t> </a:t>
            </a:r>
            <a:r>
              <a:rPr sz="3200" dirty="0">
                <a:latin typeface="Calibri"/>
                <a:cs typeface="Calibri"/>
              </a:rPr>
              <a:t>classified</a:t>
            </a:r>
            <a:r>
              <a:rPr sz="3200" spc="130" dirty="0">
                <a:latin typeface="Calibri"/>
                <a:cs typeface="Calibri"/>
              </a:rPr>
              <a:t> </a:t>
            </a:r>
            <a:r>
              <a:rPr sz="3200" spc="-10" dirty="0">
                <a:latin typeface="Calibri"/>
                <a:cs typeface="Calibri"/>
              </a:rPr>
              <a:t>based </a:t>
            </a:r>
            <a:r>
              <a:rPr sz="3200" dirty="0">
                <a:latin typeface="Calibri"/>
                <a:cs typeface="Calibri"/>
              </a:rPr>
              <a:t>on</a:t>
            </a:r>
            <a:r>
              <a:rPr sz="3200" spc="-15" dirty="0">
                <a:latin typeface="Calibri"/>
                <a:cs typeface="Calibri"/>
              </a:rPr>
              <a:t> </a:t>
            </a:r>
            <a:r>
              <a:rPr sz="3200" dirty="0">
                <a:latin typeface="Calibri"/>
                <a:cs typeface="Calibri"/>
              </a:rPr>
              <a:t>the</a:t>
            </a:r>
            <a:r>
              <a:rPr sz="3200" spc="-20" dirty="0">
                <a:latin typeface="Calibri"/>
                <a:cs typeface="Calibri"/>
              </a:rPr>
              <a:t> </a:t>
            </a:r>
            <a:r>
              <a:rPr sz="3200" spc="-10" dirty="0">
                <a:solidFill>
                  <a:srgbClr val="77923B"/>
                </a:solidFill>
                <a:latin typeface="Calibri"/>
                <a:cs typeface="Calibri"/>
              </a:rPr>
              <a:t>trigger</a:t>
            </a:r>
            <a:r>
              <a:rPr sz="3200" spc="-10" dirty="0">
                <a:latin typeface="Calibri"/>
                <a:cs typeface="Calibri"/>
              </a:rPr>
              <a:t>.</a:t>
            </a:r>
            <a:endParaRPr sz="3200" dirty="0">
              <a:latin typeface="Calibri"/>
              <a:cs typeface="Calibri"/>
            </a:endParaRPr>
          </a:p>
        </p:txBody>
      </p:sp>
      <p:sp>
        <p:nvSpPr>
          <p:cNvPr id="9" name="object 3">
            <a:extLst>
              <a:ext uri="{FF2B5EF4-FFF2-40B4-BE49-F238E27FC236}">
                <a16:creationId xmlns:a16="http://schemas.microsoft.com/office/drawing/2014/main" id="{1344FB33-4038-5E43-5DA0-28DA72053694}"/>
              </a:ext>
            </a:extLst>
          </p:cNvPr>
          <p:cNvSpPr txBox="1">
            <a:spLocks/>
          </p:cNvSpPr>
          <p:nvPr/>
        </p:nvSpPr>
        <p:spPr>
          <a:xfrm>
            <a:off x="1393723" y="728835"/>
            <a:ext cx="9148916" cy="1590820"/>
          </a:xfrm>
          <a:prstGeom prst="rect">
            <a:avLst/>
          </a:prstGeom>
          <a:ln w="9144">
            <a:solidFill>
              <a:srgbClr val="00AF50"/>
            </a:solidFill>
          </a:ln>
        </p:spPr>
        <p:txBody>
          <a:bodyPr vert="horz" wrap="square" lIns="0" tIns="234315"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40029">
              <a:lnSpc>
                <a:spcPct val="100000"/>
              </a:lnSpc>
              <a:spcBef>
                <a:spcPts val="1845"/>
              </a:spcBef>
              <a:tabLst>
                <a:tab pos="5666105" algn="l"/>
              </a:tabLst>
            </a:pPr>
            <a:r>
              <a:rPr lang="en-US" dirty="0">
                <a:solidFill>
                  <a:srgbClr val="E36C09"/>
                </a:solidFill>
              </a:rPr>
              <a:t>3)</a:t>
            </a:r>
            <a:r>
              <a:rPr lang="en-US" spc="-80" dirty="0">
                <a:solidFill>
                  <a:srgbClr val="E36C09"/>
                </a:solidFill>
              </a:rPr>
              <a:t> </a:t>
            </a:r>
            <a:r>
              <a:rPr lang="en-US" dirty="0">
                <a:solidFill>
                  <a:srgbClr val="E36C09"/>
                </a:solidFill>
              </a:rPr>
              <a:t>Classification</a:t>
            </a:r>
            <a:r>
              <a:rPr lang="en-US" spc="-85" dirty="0">
                <a:solidFill>
                  <a:srgbClr val="E36C09"/>
                </a:solidFill>
              </a:rPr>
              <a:t> </a:t>
            </a:r>
            <a:r>
              <a:rPr lang="en-US" dirty="0">
                <a:solidFill>
                  <a:srgbClr val="E36C09"/>
                </a:solidFill>
              </a:rPr>
              <a:t>based</a:t>
            </a:r>
            <a:r>
              <a:rPr lang="en-US" spc="-95" dirty="0">
                <a:solidFill>
                  <a:srgbClr val="E36C09"/>
                </a:solidFill>
              </a:rPr>
              <a:t> </a:t>
            </a:r>
            <a:r>
              <a:rPr lang="en-US" spc="-25" dirty="0">
                <a:solidFill>
                  <a:srgbClr val="E36C09"/>
                </a:solidFill>
              </a:rPr>
              <a:t>on </a:t>
            </a:r>
            <a:r>
              <a:rPr lang="en-US" spc="-10" dirty="0">
                <a:solidFill>
                  <a:srgbClr val="E36C09"/>
                </a:solidFill>
              </a:rPr>
              <a:t>deterministic behavior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36B89-E1A4-4652-EAEB-D3AF40ED7A42}"/>
            </a:ext>
          </a:extLst>
        </p:cNvPr>
        <p:cNvGrpSpPr/>
        <p:nvPr/>
      </p:nvGrpSpPr>
      <p:grpSpPr>
        <a:xfrm>
          <a:off x="0" y="0"/>
          <a:ext cx="0" cy="0"/>
          <a:chOff x="0" y="0"/>
          <a:chExt cx="0" cy="0"/>
        </a:xfrm>
      </p:grpSpPr>
      <p:sp>
        <p:nvSpPr>
          <p:cNvPr id="8" name="object 8">
            <a:extLst>
              <a:ext uri="{FF2B5EF4-FFF2-40B4-BE49-F238E27FC236}">
                <a16:creationId xmlns:a16="http://schemas.microsoft.com/office/drawing/2014/main" id="{C487D4BC-05A2-A173-3AE0-3E210CA4C7A0}"/>
              </a:ext>
            </a:extLst>
          </p:cNvPr>
          <p:cNvSpPr txBox="1"/>
          <p:nvPr/>
        </p:nvSpPr>
        <p:spPr>
          <a:xfrm>
            <a:off x="1106129" y="2226592"/>
            <a:ext cx="9979742" cy="3978653"/>
          </a:xfrm>
          <a:prstGeom prst="rect">
            <a:avLst/>
          </a:prstGeom>
        </p:spPr>
        <p:txBody>
          <a:bodyPr vert="horz" wrap="square" lIns="0" tIns="13335" rIns="0" bIns="0" rtlCol="0">
            <a:spAutoFit/>
          </a:bodyPr>
          <a:lstStyle/>
          <a:p>
            <a:pPr marL="12700" marR="5080" algn="just">
              <a:spcBef>
                <a:spcPts val="105"/>
              </a:spcBef>
              <a:tabLst>
                <a:tab pos="355600" algn="l"/>
              </a:tabLst>
            </a:pPr>
            <a:r>
              <a:rPr lang="en-US" sz="3200" dirty="0">
                <a:latin typeface="Calibri"/>
                <a:cs typeface="Calibri"/>
              </a:rPr>
              <a:t>These are classified into two types</a:t>
            </a:r>
          </a:p>
          <a:p>
            <a:pPr marL="355600" marR="5080" indent="-342900" algn="just">
              <a:spcBef>
                <a:spcPts val="105"/>
              </a:spcBef>
              <a:buFont typeface="Wingdings"/>
              <a:buChar char=""/>
              <a:tabLst>
                <a:tab pos="355600" algn="l"/>
              </a:tabLst>
            </a:pPr>
            <a:r>
              <a:rPr lang="en-US" sz="3200" b="1" dirty="0">
                <a:latin typeface="Calibri"/>
                <a:cs typeface="Calibri"/>
              </a:rPr>
              <a:t>Event Triggered</a:t>
            </a:r>
            <a:r>
              <a:rPr lang="en-US" sz="3200" dirty="0">
                <a:latin typeface="Calibri"/>
                <a:cs typeface="Calibri"/>
              </a:rPr>
              <a:t>: Activities within the system (e.g., task run-times) are dynamic and depend upon occurrence of different events.</a:t>
            </a:r>
          </a:p>
          <a:p>
            <a:pPr marL="355600" marR="5080" indent="-342900" algn="just">
              <a:spcBef>
                <a:spcPts val="105"/>
              </a:spcBef>
              <a:buFont typeface="Wingdings"/>
              <a:buChar char=""/>
              <a:tabLst>
                <a:tab pos="355600" algn="l"/>
              </a:tabLst>
            </a:pPr>
            <a:r>
              <a:rPr lang="en-US" sz="3200" b="1" dirty="0">
                <a:latin typeface="Calibri"/>
                <a:cs typeface="Calibri"/>
              </a:rPr>
              <a:t>Time triggered</a:t>
            </a:r>
            <a:r>
              <a:rPr lang="en-US" sz="3200" dirty="0">
                <a:latin typeface="Calibri"/>
                <a:cs typeface="Calibri"/>
              </a:rPr>
              <a:t>: Activities within the system follow a statically computed schedule (i.e., they are allocated time slots during which they can take place) and thus by nature are predictable</a:t>
            </a:r>
          </a:p>
        </p:txBody>
      </p:sp>
      <p:sp>
        <p:nvSpPr>
          <p:cNvPr id="9" name="object 3">
            <a:extLst>
              <a:ext uri="{FF2B5EF4-FFF2-40B4-BE49-F238E27FC236}">
                <a16:creationId xmlns:a16="http://schemas.microsoft.com/office/drawing/2014/main" id="{24A4759F-01E3-EDFF-2D2A-5909CEC61756}"/>
              </a:ext>
            </a:extLst>
          </p:cNvPr>
          <p:cNvSpPr txBox="1">
            <a:spLocks/>
          </p:cNvSpPr>
          <p:nvPr/>
        </p:nvSpPr>
        <p:spPr>
          <a:xfrm>
            <a:off x="1393723" y="939570"/>
            <a:ext cx="9148916" cy="913712"/>
          </a:xfrm>
          <a:prstGeom prst="rect">
            <a:avLst/>
          </a:prstGeom>
          <a:ln w="9144">
            <a:solidFill>
              <a:srgbClr val="00AF50"/>
            </a:solidFill>
          </a:ln>
        </p:spPr>
        <p:txBody>
          <a:bodyPr vert="horz" wrap="square" lIns="0" tIns="234315"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40029">
              <a:lnSpc>
                <a:spcPct val="100000"/>
              </a:lnSpc>
              <a:spcBef>
                <a:spcPts val="1845"/>
              </a:spcBef>
              <a:tabLst>
                <a:tab pos="5666105" algn="l"/>
              </a:tabLst>
            </a:pPr>
            <a:r>
              <a:rPr lang="en-US" dirty="0">
                <a:solidFill>
                  <a:srgbClr val="E36C09"/>
                </a:solidFill>
              </a:rPr>
              <a:t>3)</a:t>
            </a:r>
            <a:r>
              <a:rPr lang="en-US" spc="-80" dirty="0">
                <a:solidFill>
                  <a:srgbClr val="E36C09"/>
                </a:solidFill>
              </a:rPr>
              <a:t> </a:t>
            </a:r>
            <a:r>
              <a:rPr lang="en-US" dirty="0">
                <a:solidFill>
                  <a:srgbClr val="E36C09"/>
                </a:solidFill>
              </a:rPr>
              <a:t>Classification</a:t>
            </a:r>
            <a:r>
              <a:rPr lang="en-US" spc="-85" dirty="0">
                <a:solidFill>
                  <a:srgbClr val="E36C09"/>
                </a:solidFill>
              </a:rPr>
              <a:t> </a:t>
            </a:r>
            <a:r>
              <a:rPr lang="en-US" dirty="0">
                <a:solidFill>
                  <a:srgbClr val="E36C09"/>
                </a:solidFill>
              </a:rPr>
              <a:t>based</a:t>
            </a:r>
            <a:r>
              <a:rPr lang="en-US" spc="-95" dirty="0">
                <a:solidFill>
                  <a:srgbClr val="E36C09"/>
                </a:solidFill>
              </a:rPr>
              <a:t> </a:t>
            </a:r>
            <a:r>
              <a:rPr lang="en-US" spc="-25" dirty="0">
                <a:solidFill>
                  <a:srgbClr val="E36C09"/>
                </a:solidFill>
              </a:rPr>
              <a:t>on triggering</a:t>
            </a:r>
            <a:endParaRPr lang="en-US" spc="-10" dirty="0">
              <a:solidFill>
                <a:srgbClr val="E36C09"/>
              </a:solidFill>
            </a:endParaRPr>
          </a:p>
        </p:txBody>
      </p:sp>
    </p:spTree>
    <p:extLst>
      <p:ext uri="{BB962C8B-B14F-4D97-AF65-F5344CB8AC3E}">
        <p14:creationId xmlns:p14="http://schemas.microsoft.com/office/powerpoint/2010/main" val="1025166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2497" y="1007727"/>
            <a:ext cx="10515600" cy="689291"/>
          </a:xfrm>
          <a:prstGeom prst="rect">
            <a:avLst/>
          </a:prstGeom>
        </p:spPr>
        <p:txBody>
          <a:bodyPr vert="horz" wrap="square" lIns="0" tIns="12065" rIns="0" bIns="0" rtlCol="0" anchor="ctr">
            <a:spAutoFit/>
          </a:bodyPr>
          <a:lstStyle/>
          <a:p>
            <a:pPr marL="2897505" marR="5080" indent="-2145030">
              <a:lnSpc>
                <a:spcPct val="100000"/>
              </a:lnSpc>
              <a:spcBef>
                <a:spcPts val="95"/>
              </a:spcBef>
            </a:pPr>
            <a:r>
              <a:rPr spc="-35" dirty="0"/>
              <a:t>APPLICATIONS</a:t>
            </a:r>
            <a:r>
              <a:rPr spc="-80" dirty="0"/>
              <a:t> </a:t>
            </a:r>
            <a:r>
              <a:rPr dirty="0"/>
              <a:t>OF</a:t>
            </a:r>
            <a:r>
              <a:rPr spc="-100" dirty="0"/>
              <a:t> </a:t>
            </a:r>
            <a:r>
              <a:rPr spc="-10" dirty="0"/>
              <a:t>EMBEDDED SYSTEMS</a:t>
            </a:r>
          </a:p>
        </p:txBody>
      </p:sp>
      <p:sp>
        <p:nvSpPr>
          <p:cNvPr id="3" name="object 3"/>
          <p:cNvSpPr txBox="1">
            <a:spLocks noGrp="1"/>
          </p:cNvSpPr>
          <p:nvPr>
            <p:ph type="body" idx="1"/>
          </p:nvPr>
        </p:nvSpPr>
        <p:spPr>
          <a:xfrm>
            <a:off x="926691" y="1992775"/>
            <a:ext cx="10515600" cy="4560351"/>
          </a:xfrm>
          <a:prstGeom prst="rect">
            <a:avLst/>
          </a:prstGeom>
        </p:spPr>
        <p:txBody>
          <a:bodyPr vert="horz" wrap="square" lIns="0" tIns="13335" rIns="0" bIns="0" rtlCol="0">
            <a:spAutoFit/>
          </a:bodyPr>
          <a:lstStyle/>
          <a:p>
            <a:pPr marL="381000" marR="784860" indent="-342900">
              <a:lnSpc>
                <a:spcPct val="100000"/>
              </a:lnSpc>
              <a:spcBef>
                <a:spcPts val="105"/>
              </a:spcBef>
              <a:buFont typeface="Arial MT"/>
              <a:buChar char="•"/>
              <a:tabLst>
                <a:tab pos="381000" algn="l"/>
              </a:tabLst>
            </a:pPr>
            <a:r>
              <a:rPr dirty="0"/>
              <a:t>1.CONSUMER</a:t>
            </a:r>
            <a:r>
              <a:rPr spc="-165" dirty="0"/>
              <a:t> </a:t>
            </a:r>
            <a:r>
              <a:rPr dirty="0"/>
              <a:t>ELECTRONICS:</a:t>
            </a:r>
            <a:r>
              <a:rPr spc="-135" dirty="0"/>
              <a:t> </a:t>
            </a:r>
            <a:r>
              <a:rPr spc="-10" dirty="0"/>
              <a:t>camcorders, </a:t>
            </a:r>
            <a:r>
              <a:rPr dirty="0"/>
              <a:t>cameras,</a:t>
            </a:r>
            <a:r>
              <a:rPr spc="-125" dirty="0"/>
              <a:t> </a:t>
            </a:r>
            <a:r>
              <a:rPr spc="-25" dirty="0"/>
              <a:t>etc</a:t>
            </a:r>
          </a:p>
          <a:p>
            <a:pPr marL="380365" indent="-342265">
              <a:lnSpc>
                <a:spcPct val="100000"/>
              </a:lnSpc>
              <a:spcBef>
                <a:spcPts val="770"/>
              </a:spcBef>
              <a:buFont typeface="Arial MT"/>
              <a:buChar char="•"/>
              <a:tabLst>
                <a:tab pos="380365" algn="l"/>
              </a:tabLst>
            </a:pPr>
            <a:r>
              <a:rPr dirty="0"/>
              <a:t>2.</a:t>
            </a:r>
            <a:r>
              <a:rPr spc="-110" dirty="0"/>
              <a:t> </a:t>
            </a:r>
            <a:r>
              <a:rPr dirty="0"/>
              <a:t>HOUSEHOLD</a:t>
            </a:r>
            <a:r>
              <a:rPr spc="-90" dirty="0"/>
              <a:t> </a:t>
            </a:r>
            <a:r>
              <a:rPr dirty="0"/>
              <a:t>APPLIANCES:</a:t>
            </a:r>
            <a:r>
              <a:rPr spc="-105" dirty="0"/>
              <a:t> </a:t>
            </a:r>
            <a:r>
              <a:rPr spc="-35" dirty="0"/>
              <a:t>TV,DVD</a:t>
            </a:r>
            <a:r>
              <a:rPr spc="-105" dirty="0"/>
              <a:t> </a:t>
            </a:r>
            <a:r>
              <a:rPr spc="-10" dirty="0"/>
              <a:t>players,</a:t>
            </a:r>
            <a:r>
              <a:rPr lang="en-IN" spc="-10" dirty="0"/>
              <a:t> </a:t>
            </a:r>
            <a:r>
              <a:rPr dirty="0"/>
              <a:t>washing</a:t>
            </a:r>
            <a:r>
              <a:rPr spc="-50" dirty="0"/>
              <a:t> </a:t>
            </a:r>
            <a:r>
              <a:rPr dirty="0"/>
              <a:t>machine,</a:t>
            </a:r>
            <a:r>
              <a:rPr spc="-45" dirty="0"/>
              <a:t> </a:t>
            </a:r>
            <a:r>
              <a:rPr dirty="0"/>
              <a:t>Fridge,</a:t>
            </a:r>
            <a:r>
              <a:rPr spc="-60" dirty="0"/>
              <a:t> </a:t>
            </a:r>
            <a:r>
              <a:rPr spc="-20" dirty="0"/>
              <a:t>Microwave</a:t>
            </a:r>
            <a:r>
              <a:rPr spc="-150" dirty="0"/>
              <a:t> </a:t>
            </a:r>
            <a:r>
              <a:rPr spc="-10" dirty="0"/>
              <a:t>oven,etc</a:t>
            </a:r>
          </a:p>
          <a:p>
            <a:pPr marL="380365" indent="-342265">
              <a:lnSpc>
                <a:spcPct val="100000"/>
              </a:lnSpc>
              <a:spcBef>
                <a:spcPts val="770"/>
              </a:spcBef>
              <a:buFont typeface="Arial MT"/>
              <a:buChar char="•"/>
              <a:tabLst>
                <a:tab pos="380365" algn="l"/>
              </a:tabLst>
            </a:pPr>
            <a:r>
              <a:rPr dirty="0"/>
              <a:t>3.HOME</a:t>
            </a:r>
            <a:r>
              <a:rPr spc="-85" dirty="0"/>
              <a:t> </a:t>
            </a:r>
            <a:r>
              <a:rPr spc="-40" dirty="0"/>
              <a:t>AUTOMATION</a:t>
            </a:r>
            <a:r>
              <a:rPr spc="-85" dirty="0"/>
              <a:t> </a:t>
            </a:r>
            <a:r>
              <a:rPr dirty="0"/>
              <a:t>and</a:t>
            </a:r>
            <a:r>
              <a:rPr spc="-85" dirty="0"/>
              <a:t> </a:t>
            </a:r>
            <a:r>
              <a:rPr spc="-10" dirty="0"/>
              <a:t>SECURITY</a:t>
            </a:r>
            <a:r>
              <a:rPr lang="en-IN" spc="-10" dirty="0"/>
              <a:t> </a:t>
            </a:r>
            <a:r>
              <a:rPr spc="-10" dirty="0"/>
              <a:t>SYSTEMS:</a:t>
            </a:r>
            <a:r>
              <a:rPr spc="-50" dirty="0"/>
              <a:t> </a:t>
            </a:r>
            <a:r>
              <a:rPr dirty="0"/>
              <a:t>ACs</a:t>
            </a:r>
            <a:r>
              <a:rPr spc="-50" dirty="0"/>
              <a:t> </a:t>
            </a:r>
            <a:r>
              <a:rPr dirty="0"/>
              <a:t>,</a:t>
            </a:r>
            <a:r>
              <a:rPr spc="-60" dirty="0"/>
              <a:t> </a:t>
            </a:r>
            <a:r>
              <a:rPr dirty="0"/>
              <a:t>sprinklers,</a:t>
            </a:r>
            <a:r>
              <a:rPr spc="-55" dirty="0"/>
              <a:t> </a:t>
            </a:r>
            <a:r>
              <a:rPr dirty="0"/>
              <a:t>intruder</a:t>
            </a:r>
            <a:r>
              <a:rPr spc="-45" dirty="0"/>
              <a:t> </a:t>
            </a:r>
            <a:r>
              <a:rPr spc="-10" dirty="0"/>
              <a:t>detection </a:t>
            </a:r>
            <a:r>
              <a:rPr dirty="0"/>
              <a:t>alarms,</a:t>
            </a:r>
            <a:r>
              <a:rPr spc="-40" dirty="0"/>
              <a:t> </a:t>
            </a:r>
            <a:r>
              <a:rPr dirty="0"/>
              <a:t>closed</a:t>
            </a:r>
            <a:r>
              <a:rPr spc="-25" dirty="0"/>
              <a:t> </a:t>
            </a:r>
            <a:r>
              <a:rPr dirty="0"/>
              <a:t>circuit</a:t>
            </a:r>
            <a:r>
              <a:rPr spc="-20" dirty="0"/>
              <a:t> </a:t>
            </a:r>
            <a:r>
              <a:rPr dirty="0"/>
              <a:t>TV</a:t>
            </a:r>
            <a:r>
              <a:rPr spc="-30" dirty="0"/>
              <a:t> </a:t>
            </a:r>
            <a:r>
              <a:rPr dirty="0"/>
              <a:t>cameras,</a:t>
            </a:r>
            <a:r>
              <a:rPr spc="-35" dirty="0"/>
              <a:t> </a:t>
            </a:r>
            <a:r>
              <a:rPr dirty="0"/>
              <a:t>fine</a:t>
            </a:r>
            <a:r>
              <a:rPr spc="-25" dirty="0"/>
              <a:t> </a:t>
            </a:r>
            <a:r>
              <a:rPr spc="-10" dirty="0"/>
              <a:t>alarms, </a:t>
            </a:r>
            <a:r>
              <a:rPr spc="-25" dirty="0" err="1"/>
              <a:t>etc</a:t>
            </a:r>
            <a:r>
              <a:rPr lang="en-IN" spc="-25" dirty="0"/>
              <a:t>.</a:t>
            </a:r>
          </a:p>
          <a:p>
            <a:pPr marL="355600" marR="400685" indent="-342900">
              <a:spcBef>
                <a:spcPts val="100"/>
              </a:spcBef>
            </a:pPr>
            <a:r>
              <a:rPr lang="en-IN" sz="2800" dirty="0">
                <a:latin typeface="Calibri"/>
                <a:cs typeface="Calibri"/>
              </a:rPr>
              <a:t>4.</a:t>
            </a:r>
            <a:r>
              <a:rPr lang="en-IN" sz="2800" spc="-55" dirty="0">
                <a:latin typeface="Calibri"/>
                <a:cs typeface="Calibri"/>
              </a:rPr>
              <a:t> </a:t>
            </a:r>
            <a:r>
              <a:rPr lang="en-IN" sz="2800" spc="-35" dirty="0">
                <a:latin typeface="Calibri"/>
                <a:cs typeface="Calibri"/>
              </a:rPr>
              <a:t>AUTOMATIVE</a:t>
            </a:r>
            <a:r>
              <a:rPr lang="en-IN" sz="2800" spc="-65" dirty="0">
                <a:latin typeface="Calibri"/>
                <a:cs typeface="Calibri"/>
              </a:rPr>
              <a:t> </a:t>
            </a:r>
            <a:r>
              <a:rPr lang="en-IN" sz="2800" spc="-25" dirty="0">
                <a:latin typeface="Calibri"/>
                <a:cs typeface="Calibri"/>
              </a:rPr>
              <a:t>INDUSTRY:</a:t>
            </a:r>
            <a:r>
              <a:rPr lang="en-IN" sz="2800" spc="-45" dirty="0">
                <a:latin typeface="Calibri"/>
                <a:cs typeface="Calibri"/>
              </a:rPr>
              <a:t> </a:t>
            </a:r>
            <a:r>
              <a:rPr lang="en-IN" sz="2800" spc="-10" dirty="0">
                <a:latin typeface="Calibri"/>
                <a:cs typeface="Calibri"/>
              </a:rPr>
              <a:t>Anti-</a:t>
            </a:r>
            <a:r>
              <a:rPr lang="en-IN" sz="2800" dirty="0">
                <a:latin typeface="Calibri"/>
                <a:cs typeface="Calibri"/>
              </a:rPr>
              <a:t>lock</a:t>
            </a:r>
            <a:r>
              <a:rPr lang="en-IN" sz="2800" spc="-75" dirty="0">
                <a:latin typeface="Calibri"/>
                <a:cs typeface="Calibri"/>
              </a:rPr>
              <a:t> </a:t>
            </a:r>
            <a:r>
              <a:rPr lang="en-IN" sz="2800" spc="-10" dirty="0">
                <a:latin typeface="Calibri"/>
                <a:cs typeface="Calibri"/>
              </a:rPr>
              <a:t>breaking </a:t>
            </a:r>
            <a:r>
              <a:rPr lang="en-IN" sz="2800" spc="-20" dirty="0">
                <a:latin typeface="Calibri"/>
                <a:cs typeface="Calibri"/>
              </a:rPr>
              <a:t>system(ABS),</a:t>
            </a:r>
            <a:r>
              <a:rPr lang="en-IN" sz="2800" spc="-60" dirty="0">
                <a:latin typeface="Calibri"/>
                <a:cs typeface="Calibri"/>
              </a:rPr>
              <a:t> </a:t>
            </a:r>
            <a:r>
              <a:rPr lang="en-IN" sz="2800" dirty="0">
                <a:latin typeface="Calibri"/>
                <a:cs typeface="Calibri"/>
              </a:rPr>
              <a:t>engine</a:t>
            </a:r>
            <a:r>
              <a:rPr lang="en-IN" sz="2800" spc="-60" dirty="0">
                <a:latin typeface="Calibri"/>
                <a:cs typeface="Calibri"/>
              </a:rPr>
              <a:t> </a:t>
            </a:r>
            <a:r>
              <a:rPr lang="en-IN" sz="2800" dirty="0">
                <a:latin typeface="Calibri"/>
                <a:cs typeface="Calibri"/>
              </a:rPr>
              <a:t>control,</a:t>
            </a:r>
            <a:r>
              <a:rPr lang="en-IN" sz="2800" spc="-60" dirty="0">
                <a:latin typeface="Calibri"/>
                <a:cs typeface="Calibri"/>
              </a:rPr>
              <a:t> </a:t>
            </a:r>
            <a:r>
              <a:rPr lang="en-IN" sz="2800" dirty="0">
                <a:latin typeface="Calibri"/>
                <a:cs typeface="Calibri"/>
              </a:rPr>
              <a:t>ignition</a:t>
            </a:r>
            <a:r>
              <a:rPr lang="en-IN" sz="2800" spc="-65" dirty="0">
                <a:latin typeface="Calibri"/>
                <a:cs typeface="Calibri"/>
              </a:rPr>
              <a:t> </a:t>
            </a:r>
            <a:r>
              <a:rPr lang="en-IN" sz="2800" spc="-10" dirty="0">
                <a:latin typeface="Calibri"/>
                <a:cs typeface="Calibri"/>
              </a:rPr>
              <a:t>systems, </a:t>
            </a:r>
            <a:r>
              <a:rPr lang="en-IN" sz="2800" dirty="0">
                <a:latin typeface="Calibri"/>
                <a:cs typeface="Calibri"/>
              </a:rPr>
              <a:t>automatic</a:t>
            </a:r>
            <a:r>
              <a:rPr lang="en-IN" sz="2800" spc="-130" dirty="0">
                <a:latin typeface="Calibri"/>
                <a:cs typeface="Calibri"/>
              </a:rPr>
              <a:t> </a:t>
            </a:r>
            <a:r>
              <a:rPr lang="en-IN" sz="2800" dirty="0">
                <a:latin typeface="Calibri"/>
                <a:cs typeface="Calibri"/>
              </a:rPr>
              <a:t>navigation</a:t>
            </a:r>
            <a:r>
              <a:rPr lang="en-IN" sz="2800" spc="-114" dirty="0">
                <a:latin typeface="Calibri"/>
                <a:cs typeface="Calibri"/>
              </a:rPr>
              <a:t> </a:t>
            </a:r>
            <a:r>
              <a:rPr lang="en-IN" sz="2800" spc="-20" dirty="0">
                <a:latin typeface="Calibri"/>
                <a:cs typeface="Calibri"/>
              </a:rPr>
              <a:t>systems,</a:t>
            </a:r>
            <a:r>
              <a:rPr lang="en-IN" sz="2800" spc="-105" dirty="0">
                <a:latin typeface="Calibri"/>
                <a:cs typeface="Calibri"/>
              </a:rPr>
              <a:t> </a:t>
            </a:r>
            <a:r>
              <a:rPr lang="en-IN" sz="2800" spc="-20" dirty="0">
                <a:latin typeface="Calibri"/>
                <a:cs typeface="Calibri"/>
              </a:rPr>
              <a:t>etc.</a:t>
            </a:r>
            <a:endParaRPr lang="en-IN" sz="2800" dirty="0">
              <a:latin typeface="Calibri"/>
              <a:cs typeface="Calibri"/>
            </a:endParaRPr>
          </a:p>
          <a:p>
            <a:pPr marL="527685" marR="373380" indent="-515620">
              <a:spcBef>
                <a:spcPts val="725"/>
              </a:spcBef>
              <a:tabLst>
                <a:tab pos="527685" algn="l"/>
              </a:tabLst>
            </a:pPr>
            <a:r>
              <a:rPr lang="en-IN" sz="2800" spc="-25" dirty="0">
                <a:latin typeface="Calibri"/>
                <a:cs typeface="Calibri"/>
              </a:rPr>
              <a:t>5.TELECOM:</a:t>
            </a:r>
            <a:r>
              <a:rPr lang="en-IN" sz="2800" spc="-95" dirty="0">
                <a:latin typeface="Calibri"/>
                <a:cs typeface="Calibri"/>
              </a:rPr>
              <a:t> </a:t>
            </a:r>
            <a:r>
              <a:rPr lang="en-IN" sz="2800" dirty="0">
                <a:latin typeface="Calibri"/>
                <a:cs typeface="Calibri"/>
              </a:rPr>
              <a:t>cellular</a:t>
            </a:r>
            <a:r>
              <a:rPr lang="en-IN" sz="2800" spc="-90" dirty="0">
                <a:latin typeface="Calibri"/>
                <a:cs typeface="Calibri"/>
              </a:rPr>
              <a:t> </a:t>
            </a:r>
            <a:r>
              <a:rPr lang="en-IN" sz="2800" dirty="0">
                <a:latin typeface="Calibri"/>
                <a:cs typeface="Calibri"/>
              </a:rPr>
              <a:t>telephones,</a:t>
            </a:r>
            <a:r>
              <a:rPr lang="en-IN" sz="2800" spc="-90" dirty="0">
                <a:latin typeface="Calibri"/>
                <a:cs typeface="Calibri"/>
              </a:rPr>
              <a:t> </a:t>
            </a:r>
            <a:r>
              <a:rPr lang="en-IN" sz="2800" spc="-10" dirty="0">
                <a:latin typeface="Calibri"/>
                <a:cs typeface="Calibri"/>
              </a:rPr>
              <a:t>telephone </a:t>
            </a:r>
            <a:r>
              <a:rPr lang="en-IN" sz="2800" dirty="0">
                <a:latin typeface="Calibri"/>
                <a:cs typeface="Calibri"/>
              </a:rPr>
              <a:t>switches,</a:t>
            </a:r>
            <a:r>
              <a:rPr lang="en-IN" sz="2800" spc="-60" dirty="0">
                <a:latin typeface="Calibri"/>
                <a:cs typeface="Calibri"/>
              </a:rPr>
              <a:t> </a:t>
            </a:r>
            <a:r>
              <a:rPr lang="en-IN" sz="2800" dirty="0">
                <a:latin typeface="Calibri"/>
                <a:cs typeface="Calibri"/>
              </a:rPr>
              <a:t>handset</a:t>
            </a:r>
            <a:r>
              <a:rPr lang="en-IN" sz="2800" spc="-60" dirty="0">
                <a:latin typeface="Calibri"/>
                <a:cs typeface="Calibri"/>
              </a:rPr>
              <a:t> </a:t>
            </a:r>
            <a:r>
              <a:rPr lang="en-IN" sz="2800" dirty="0">
                <a:latin typeface="Calibri"/>
                <a:cs typeface="Calibri"/>
              </a:rPr>
              <a:t>multimedia</a:t>
            </a:r>
            <a:r>
              <a:rPr lang="en-IN" sz="2800" spc="-35" dirty="0">
                <a:latin typeface="Calibri"/>
                <a:cs typeface="Calibri"/>
              </a:rPr>
              <a:t> </a:t>
            </a:r>
            <a:r>
              <a:rPr lang="en-IN" sz="2800" spc="-10" dirty="0">
                <a:latin typeface="Calibri"/>
                <a:cs typeface="Calibri"/>
              </a:rPr>
              <a:t>applications</a:t>
            </a:r>
            <a:r>
              <a:rPr lang="en-IN" sz="2800" spc="-55" dirty="0">
                <a:latin typeface="Calibri"/>
                <a:cs typeface="Calibri"/>
              </a:rPr>
              <a:t> </a:t>
            </a:r>
            <a:r>
              <a:rPr lang="en-IN" sz="2800" spc="-20" dirty="0">
                <a:latin typeface="Calibri"/>
                <a:cs typeface="Calibri"/>
              </a:rPr>
              <a:t>etc.</a:t>
            </a:r>
            <a:endParaRPr lang="en-IN" spc="-25" dirty="0"/>
          </a:p>
          <a:p>
            <a:pPr marL="380365" indent="-342265">
              <a:lnSpc>
                <a:spcPct val="100000"/>
              </a:lnSpc>
              <a:spcBef>
                <a:spcPts val="770"/>
              </a:spcBef>
              <a:buFont typeface="Arial MT"/>
              <a:buChar char="•"/>
              <a:tabLst>
                <a:tab pos="380365" algn="l"/>
              </a:tabLst>
            </a:pPr>
            <a:endParaRPr spc="-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55406" y="1077843"/>
            <a:ext cx="10815484" cy="5398914"/>
          </a:xfrm>
          <a:prstGeom prst="rect">
            <a:avLst/>
          </a:prstGeom>
        </p:spPr>
        <p:txBody>
          <a:bodyPr vert="horz" wrap="square" lIns="0" tIns="12700" rIns="0" bIns="0" rtlCol="0">
            <a:spAutoFit/>
          </a:bodyPr>
          <a:lstStyle/>
          <a:p>
            <a:pPr marL="469900" marR="400685" indent="-457200">
              <a:spcBef>
                <a:spcPts val="100"/>
              </a:spcBef>
              <a:buFont typeface="Arial" panose="020B0604020202020204" pitchFamily="34" charset="0"/>
              <a:buChar char="•"/>
            </a:pPr>
            <a:r>
              <a:rPr lang="en-IN" sz="3000" dirty="0">
                <a:latin typeface="Calibri"/>
                <a:cs typeface="Calibri"/>
              </a:rPr>
              <a:t>6</a:t>
            </a:r>
            <a:r>
              <a:rPr sz="3000" dirty="0">
                <a:latin typeface="Calibri"/>
                <a:cs typeface="Calibri"/>
              </a:rPr>
              <a:t>.</a:t>
            </a:r>
            <a:r>
              <a:rPr sz="3000" spc="-70" dirty="0">
                <a:latin typeface="Calibri"/>
                <a:cs typeface="Calibri"/>
              </a:rPr>
              <a:t> </a:t>
            </a:r>
            <a:r>
              <a:rPr sz="3000" dirty="0">
                <a:latin typeface="Calibri"/>
                <a:cs typeface="Calibri"/>
              </a:rPr>
              <a:t>COMPUTER</a:t>
            </a:r>
            <a:r>
              <a:rPr sz="3000" spc="-90" dirty="0">
                <a:latin typeface="Calibri"/>
                <a:cs typeface="Calibri"/>
              </a:rPr>
              <a:t> </a:t>
            </a:r>
            <a:r>
              <a:rPr sz="3000" dirty="0">
                <a:latin typeface="Calibri"/>
                <a:cs typeface="Calibri"/>
              </a:rPr>
              <a:t>PEROPHERALS:</a:t>
            </a:r>
            <a:r>
              <a:rPr sz="3000" spc="-85" dirty="0">
                <a:latin typeface="Calibri"/>
                <a:cs typeface="Calibri"/>
              </a:rPr>
              <a:t> </a:t>
            </a:r>
            <a:r>
              <a:rPr sz="3000" spc="-10" dirty="0">
                <a:latin typeface="Calibri"/>
                <a:cs typeface="Calibri"/>
              </a:rPr>
              <a:t>printers,</a:t>
            </a:r>
            <a:r>
              <a:rPr sz="3000" spc="-65" dirty="0">
                <a:latin typeface="Calibri"/>
                <a:cs typeface="Calibri"/>
              </a:rPr>
              <a:t> </a:t>
            </a:r>
            <a:r>
              <a:rPr sz="3000" spc="-10" dirty="0">
                <a:latin typeface="Calibri"/>
                <a:cs typeface="Calibri"/>
              </a:rPr>
              <a:t>scanners, </a:t>
            </a:r>
            <a:r>
              <a:rPr sz="3000" dirty="0">
                <a:latin typeface="Calibri"/>
                <a:cs typeface="Calibri"/>
              </a:rPr>
              <a:t>fax</a:t>
            </a:r>
            <a:r>
              <a:rPr lang="en-IN" sz="3000" dirty="0">
                <a:latin typeface="Calibri"/>
                <a:cs typeface="Calibri"/>
              </a:rPr>
              <a:t> </a:t>
            </a:r>
            <a:r>
              <a:rPr sz="3000" dirty="0">
                <a:latin typeface="Calibri"/>
                <a:cs typeface="Calibri"/>
              </a:rPr>
              <a:t>machines,</a:t>
            </a:r>
            <a:r>
              <a:rPr sz="3000" spc="-80" dirty="0">
                <a:latin typeface="Calibri"/>
                <a:cs typeface="Calibri"/>
              </a:rPr>
              <a:t> </a:t>
            </a:r>
            <a:r>
              <a:rPr sz="3000" spc="-25" dirty="0" err="1">
                <a:latin typeface="Calibri"/>
                <a:cs typeface="Calibri"/>
              </a:rPr>
              <a:t>etc</a:t>
            </a:r>
            <a:r>
              <a:rPr lang="en-IN" sz="3000" spc="-25" dirty="0">
                <a:latin typeface="Calibri"/>
                <a:cs typeface="Calibri"/>
              </a:rPr>
              <a:t>.</a:t>
            </a:r>
          </a:p>
          <a:p>
            <a:pPr marL="469900" marR="400685" indent="-457200">
              <a:spcBef>
                <a:spcPts val="100"/>
              </a:spcBef>
              <a:buFont typeface="Arial" panose="020B0604020202020204" pitchFamily="34" charset="0"/>
              <a:buChar char="•"/>
            </a:pPr>
            <a:r>
              <a:rPr lang="en-IN" sz="3000" spc="-25" dirty="0">
                <a:latin typeface="Calibri"/>
                <a:cs typeface="Calibri"/>
              </a:rPr>
              <a:t>7. </a:t>
            </a:r>
            <a:r>
              <a:rPr sz="3000" dirty="0">
                <a:latin typeface="Calibri"/>
                <a:cs typeface="Calibri"/>
              </a:rPr>
              <a:t>COMPUTER</a:t>
            </a:r>
            <a:r>
              <a:rPr sz="3000" spc="-114" dirty="0">
                <a:latin typeface="Calibri"/>
                <a:cs typeface="Calibri"/>
              </a:rPr>
              <a:t> </a:t>
            </a:r>
            <a:r>
              <a:rPr sz="3000" dirty="0">
                <a:latin typeface="Calibri"/>
                <a:cs typeface="Calibri"/>
              </a:rPr>
              <a:t>NETWORKING</a:t>
            </a:r>
            <a:r>
              <a:rPr sz="3000" spc="-85" dirty="0">
                <a:latin typeface="Calibri"/>
                <a:cs typeface="Calibri"/>
              </a:rPr>
              <a:t> </a:t>
            </a:r>
            <a:r>
              <a:rPr sz="3000" dirty="0">
                <a:latin typeface="Calibri"/>
                <a:cs typeface="Calibri"/>
              </a:rPr>
              <a:t>SYSTEMS:</a:t>
            </a:r>
            <a:r>
              <a:rPr sz="3000" spc="-130" dirty="0">
                <a:latin typeface="Calibri"/>
                <a:cs typeface="Calibri"/>
              </a:rPr>
              <a:t> </a:t>
            </a:r>
            <a:r>
              <a:rPr sz="3000" spc="-10" dirty="0">
                <a:latin typeface="Calibri"/>
                <a:cs typeface="Calibri"/>
              </a:rPr>
              <a:t>Network</a:t>
            </a:r>
            <a:r>
              <a:rPr lang="en-IN" sz="3000" spc="-10" dirty="0">
                <a:latin typeface="Calibri"/>
                <a:cs typeface="Calibri"/>
              </a:rPr>
              <a:t> </a:t>
            </a:r>
            <a:r>
              <a:rPr sz="3000" spc="-10" dirty="0">
                <a:latin typeface="Calibri"/>
                <a:cs typeface="Calibri"/>
              </a:rPr>
              <a:t>routers,</a:t>
            </a:r>
            <a:r>
              <a:rPr sz="3000" spc="-100" dirty="0">
                <a:latin typeface="Calibri"/>
                <a:cs typeface="Calibri"/>
              </a:rPr>
              <a:t> </a:t>
            </a:r>
            <a:r>
              <a:rPr sz="3000" dirty="0">
                <a:latin typeface="Calibri"/>
                <a:cs typeface="Calibri"/>
              </a:rPr>
              <a:t>switches,</a:t>
            </a:r>
            <a:r>
              <a:rPr sz="3000" spc="-105" dirty="0">
                <a:latin typeface="Calibri"/>
                <a:cs typeface="Calibri"/>
              </a:rPr>
              <a:t> </a:t>
            </a:r>
            <a:r>
              <a:rPr sz="3000" dirty="0">
                <a:latin typeface="Calibri"/>
                <a:cs typeface="Calibri"/>
              </a:rPr>
              <a:t>hubs,</a:t>
            </a:r>
            <a:r>
              <a:rPr sz="3000" spc="-100" dirty="0">
                <a:latin typeface="Calibri"/>
                <a:cs typeface="Calibri"/>
              </a:rPr>
              <a:t> </a:t>
            </a:r>
            <a:r>
              <a:rPr sz="3000" dirty="0">
                <a:latin typeface="Calibri"/>
                <a:cs typeface="Calibri"/>
              </a:rPr>
              <a:t>firewalls,</a:t>
            </a:r>
            <a:r>
              <a:rPr sz="3000" spc="-85" dirty="0">
                <a:latin typeface="Calibri"/>
                <a:cs typeface="Calibri"/>
              </a:rPr>
              <a:t> </a:t>
            </a:r>
            <a:r>
              <a:rPr sz="3000" spc="-20" dirty="0">
                <a:latin typeface="Calibri"/>
                <a:cs typeface="Calibri"/>
              </a:rPr>
              <a:t>etc.</a:t>
            </a:r>
            <a:endParaRPr lang="en-IN" sz="3000" spc="-20" dirty="0">
              <a:latin typeface="Calibri"/>
              <a:cs typeface="Calibri"/>
            </a:endParaRPr>
          </a:p>
          <a:p>
            <a:pPr marL="355600" marR="67945" indent="-342900">
              <a:spcBef>
                <a:spcPts val="100"/>
              </a:spcBef>
              <a:buFont typeface="Arial MT"/>
              <a:buChar char="•"/>
              <a:tabLst>
                <a:tab pos="355600" algn="l"/>
              </a:tabLst>
            </a:pPr>
            <a:r>
              <a:rPr lang="en-IN" sz="3000" dirty="0">
                <a:latin typeface="Calibri"/>
                <a:cs typeface="Calibri"/>
              </a:rPr>
              <a:t>8.</a:t>
            </a:r>
            <a:r>
              <a:rPr lang="en-IN" sz="3000" spc="-55" dirty="0">
                <a:latin typeface="Calibri"/>
                <a:cs typeface="Calibri"/>
              </a:rPr>
              <a:t> </a:t>
            </a:r>
            <a:r>
              <a:rPr lang="en-IN" sz="3000" spc="-25" dirty="0">
                <a:latin typeface="Calibri"/>
                <a:cs typeface="Calibri"/>
              </a:rPr>
              <a:t>HEALTHCARE:</a:t>
            </a:r>
            <a:r>
              <a:rPr lang="en-IN" sz="3000" spc="-60" dirty="0">
                <a:latin typeface="Calibri"/>
                <a:cs typeface="Calibri"/>
              </a:rPr>
              <a:t> </a:t>
            </a:r>
            <a:r>
              <a:rPr lang="en-IN" sz="3000" spc="-10" dirty="0">
                <a:latin typeface="Calibri"/>
                <a:cs typeface="Calibri"/>
              </a:rPr>
              <a:t>Different</a:t>
            </a:r>
            <a:r>
              <a:rPr lang="en-IN" sz="3000" spc="-70" dirty="0">
                <a:latin typeface="Calibri"/>
                <a:cs typeface="Calibri"/>
              </a:rPr>
              <a:t> </a:t>
            </a:r>
            <a:r>
              <a:rPr lang="en-IN" sz="3000" dirty="0">
                <a:latin typeface="Calibri"/>
                <a:cs typeface="Calibri"/>
              </a:rPr>
              <a:t>kinds</a:t>
            </a:r>
            <a:r>
              <a:rPr lang="en-IN" sz="3000" spc="-60" dirty="0">
                <a:latin typeface="Calibri"/>
                <a:cs typeface="Calibri"/>
              </a:rPr>
              <a:t> </a:t>
            </a:r>
            <a:r>
              <a:rPr lang="en-IN" sz="3000" dirty="0">
                <a:latin typeface="Calibri"/>
                <a:cs typeface="Calibri"/>
              </a:rPr>
              <a:t>of</a:t>
            </a:r>
            <a:r>
              <a:rPr lang="en-IN" sz="3000" spc="-65" dirty="0">
                <a:latin typeface="Calibri"/>
                <a:cs typeface="Calibri"/>
              </a:rPr>
              <a:t> </a:t>
            </a:r>
            <a:r>
              <a:rPr lang="en-IN" sz="3000" dirty="0">
                <a:latin typeface="Calibri"/>
                <a:cs typeface="Calibri"/>
              </a:rPr>
              <a:t>scanners,</a:t>
            </a:r>
            <a:r>
              <a:rPr lang="en-IN" sz="3000" spc="-60" dirty="0">
                <a:latin typeface="Calibri"/>
                <a:cs typeface="Calibri"/>
              </a:rPr>
              <a:t> </a:t>
            </a:r>
            <a:r>
              <a:rPr lang="en-IN" sz="3000" spc="-20" dirty="0">
                <a:latin typeface="Calibri"/>
                <a:cs typeface="Calibri"/>
              </a:rPr>
              <a:t>EEG, </a:t>
            </a:r>
            <a:r>
              <a:rPr lang="en-IN" sz="3000" dirty="0">
                <a:latin typeface="Calibri"/>
                <a:cs typeface="Calibri"/>
              </a:rPr>
              <a:t>ECG</a:t>
            </a:r>
            <a:r>
              <a:rPr lang="en-IN" sz="3000" spc="-70" dirty="0">
                <a:latin typeface="Calibri"/>
                <a:cs typeface="Calibri"/>
              </a:rPr>
              <a:t> </a:t>
            </a:r>
            <a:r>
              <a:rPr lang="en-IN" sz="3000" dirty="0">
                <a:latin typeface="Calibri"/>
                <a:cs typeface="Calibri"/>
              </a:rPr>
              <a:t>machines</a:t>
            </a:r>
            <a:r>
              <a:rPr lang="en-IN" sz="3000" spc="-70" dirty="0">
                <a:latin typeface="Calibri"/>
                <a:cs typeface="Calibri"/>
              </a:rPr>
              <a:t> </a:t>
            </a:r>
            <a:r>
              <a:rPr lang="en-IN" sz="3000" spc="-25" dirty="0">
                <a:latin typeface="Calibri"/>
                <a:cs typeface="Calibri"/>
              </a:rPr>
              <a:t>etc</a:t>
            </a:r>
            <a:endParaRPr lang="en-IN" sz="3000" dirty="0">
              <a:latin typeface="Calibri"/>
              <a:cs typeface="Calibri"/>
            </a:endParaRPr>
          </a:p>
          <a:p>
            <a:pPr marL="354965" indent="-342265">
              <a:spcBef>
                <a:spcPts val="725"/>
              </a:spcBef>
              <a:buFont typeface="Arial MT"/>
              <a:buChar char="•"/>
              <a:tabLst>
                <a:tab pos="354965" algn="l"/>
              </a:tabLst>
            </a:pPr>
            <a:r>
              <a:rPr lang="en-IN" sz="3000" dirty="0">
                <a:latin typeface="Calibri"/>
                <a:cs typeface="Calibri"/>
              </a:rPr>
              <a:t>9.MEASUREMENT</a:t>
            </a:r>
            <a:r>
              <a:rPr lang="en-IN" sz="3000" spc="-55" dirty="0">
                <a:latin typeface="Calibri"/>
                <a:cs typeface="Calibri"/>
              </a:rPr>
              <a:t> </a:t>
            </a:r>
            <a:r>
              <a:rPr lang="en-IN" sz="3000" dirty="0">
                <a:latin typeface="Calibri"/>
                <a:cs typeface="Calibri"/>
              </a:rPr>
              <a:t>&amp;</a:t>
            </a:r>
            <a:r>
              <a:rPr lang="en-IN" sz="3000" spc="-25" dirty="0">
                <a:latin typeface="Calibri"/>
                <a:cs typeface="Calibri"/>
              </a:rPr>
              <a:t> </a:t>
            </a:r>
            <a:r>
              <a:rPr lang="en-IN" sz="3000" spc="-35" dirty="0">
                <a:latin typeface="Calibri"/>
                <a:cs typeface="Calibri"/>
              </a:rPr>
              <a:t>INSTRUMENTATION:</a:t>
            </a:r>
            <a:r>
              <a:rPr lang="en-IN" sz="3000" spc="-60" dirty="0">
                <a:latin typeface="Calibri"/>
                <a:cs typeface="Calibri"/>
              </a:rPr>
              <a:t> </a:t>
            </a:r>
            <a:r>
              <a:rPr lang="en-IN" sz="3000" spc="-10" dirty="0">
                <a:latin typeface="Calibri"/>
                <a:cs typeface="Calibri"/>
              </a:rPr>
              <a:t>Digital</a:t>
            </a:r>
            <a:endParaRPr lang="en-IN" sz="3000" dirty="0">
              <a:latin typeface="Calibri"/>
              <a:cs typeface="Calibri"/>
            </a:endParaRPr>
          </a:p>
          <a:p>
            <a:pPr marL="355600" marR="687070"/>
            <a:r>
              <a:rPr lang="en-IN" sz="3000" dirty="0" err="1">
                <a:latin typeface="Calibri"/>
                <a:cs typeface="Calibri"/>
              </a:rPr>
              <a:t>multimeters</a:t>
            </a:r>
            <a:r>
              <a:rPr lang="en-IN" sz="3000" dirty="0">
                <a:latin typeface="Calibri"/>
                <a:cs typeface="Calibri"/>
              </a:rPr>
              <a:t>,</a:t>
            </a:r>
            <a:r>
              <a:rPr lang="en-IN" sz="3000" spc="-95" dirty="0">
                <a:latin typeface="Calibri"/>
                <a:cs typeface="Calibri"/>
              </a:rPr>
              <a:t> </a:t>
            </a:r>
            <a:r>
              <a:rPr lang="en-IN" sz="3000" dirty="0">
                <a:latin typeface="Calibri"/>
                <a:cs typeface="Calibri"/>
              </a:rPr>
              <a:t>digital</a:t>
            </a:r>
            <a:r>
              <a:rPr lang="en-IN" sz="3000" spc="-95" dirty="0">
                <a:latin typeface="Calibri"/>
                <a:cs typeface="Calibri"/>
              </a:rPr>
              <a:t> </a:t>
            </a:r>
            <a:r>
              <a:rPr lang="en-IN" sz="3000" dirty="0">
                <a:latin typeface="Calibri"/>
                <a:cs typeface="Calibri"/>
              </a:rPr>
              <a:t>CROs,</a:t>
            </a:r>
            <a:r>
              <a:rPr lang="en-IN" sz="3000" spc="-80" dirty="0">
                <a:latin typeface="Calibri"/>
                <a:cs typeface="Calibri"/>
              </a:rPr>
              <a:t> </a:t>
            </a:r>
            <a:r>
              <a:rPr lang="en-IN" sz="3000" dirty="0">
                <a:latin typeface="Calibri"/>
                <a:cs typeface="Calibri"/>
              </a:rPr>
              <a:t>logic</a:t>
            </a:r>
            <a:r>
              <a:rPr lang="en-IN" sz="3000" spc="-80" dirty="0">
                <a:latin typeface="Calibri"/>
                <a:cs typeface="Calibri"/>
              </a:rPr>
              <a:t> </a:t>
            </a:r>
            <a:r>
              <a:rPr lang="en-IN" sz="3000" spc="-10" dirty="0" err="1">
                <a:latin typeface="Calibri"/>
                <a:cs typeface="Calibri"/>
              </a:rPr>
              <a:t>analyzers</a:t>
            </a:r>
            <a:r>
              <a:rPr lang="en-IN" sz="3000" spc="-80" dirty="0">
                <a:latin typeface="Calibri"/>
                <a:cs typeface="Calibri"/>
              </a:rPr>
              <a:t> </a:t>
            </a:r>
            <a:r>
              <a:rPr lang="en-IN" sz="3000" spc="-25" dirty="0">
                <a:latin typeface="Calibri"/>
                <a:cs typeface="Calibri"/>
              </a:rPr>
              <a:t>PLC </a:t>
            </a:r>
            <a:r>
              <a:rPr lang="en-IN" sz="3000" spc="-10" dirty="0">
                <a:latin typeface="Calibri"/>
                <a:cs typeface="Calibri"/>
              </a:rPr>
              <a:t>systems,</a:t>
            </a:r>
            <a:r>
              <a:rPr lang="en-IN" sz="3000" spc="-155" dirty="0">
                <a:latin typeface="Calibri"/>
                <a:cs typeface="Calibri"/>
              </a:rPr>
              <a:t> </a:t>
            </a:r>
            <a:r>
              <a:rPr lang="en-IN" sz="3000" spc="-20" dirty="0">
                <a:latin typeface="Calibri"/>
                <a:cs typeface="Calibri"/>
              </a:rPr>
              <a:t>etc.</a:t>
            </a:r>
            <a:endParaRPr lang="en-IN" sz="3000" dirty="0">
              <a:latin typeface="Calibri"/>
              <a:cs typeface="Calibri"/>
            </a:endParaRPr>
          </a:p>
          <a:p>
            <a:pPr marL="355600" marR="5080" indent="-342900">
              <a:spcBef>
                <a:spcPts val="720"/>
              </a:spcBef>
              <a:buFont typeface="Arial MT"/>
              <a:buChar char="•"/>
              <a:tabLst>
                <a:tab pos="355600" algn="l"/>
              </a:tabLst>
            </a:pPr>
            <a:r>
              <a:rPr lang="en-IN" sz="3000" dirty="0">
                <a:latin typeface="Calibri"/>
                <a:cs typeface="Calibri"/>
              </a:rPr>
              <a:t>10.BANKING</a:t>
            </a:r>
            <a:r>
              <a:rPr lang="en-IN" sz="3000" spc="-55" dirty="0">
                <a:latin typeface="Calibri"/>
                <a:cs typeface="Calibri"/>
              </a:rPr>
              <a:t> </a:t>
            </a:r>
            <a:r>
              <a:rPr lang="en-IN" sz="3000" dirty="0">
                <a:latin typeface="Calibri"/>
                <a:cs typeface="Calibri"/>
              </a:rPr>
              <a:t>&amp;</a:t>
            </a:r>
            <a:r>
              <a:rPr lang="en-IN" sz="3000" spc="-70" dirty="0">
                <a:latin typeface="Calibri"/>
                <a:cs typeface="Calibri"/>
              </a:rPr>
              <a:t> </a:t>
            </a:r>
            <a:r>
              <a:rPr lang="en-IN" sz="3000" spc="-25" dirty="0">
                <a:latin typeface="Calibri"/>
                <a:cs typeface="Calibri"/>
              </a:rPr>
              <a:t>RETAIL:</a:t>
            </a:r>
            <a:r>
              <a:rPr lang="en-IN" sz="3000" spc="-75" dirty="0">
                <a:latin typeface="Calibri"/>
                <a:cs typeface="Calibri"/>
              </a:rPr>
              <a:t> </a:t>
            </a:r>
            <a:r>
              <a:rPr lang="en-IN" sz="3000" dirty="0">
                <a:latin typeface="Calibri"/>
                <a:cs typeface="Calibri"/>
              </a:rPr>
              <a:t>Automatic</a:t>
            </a:r>
            <a:r>
              <a:rPr lang="en-IN" sz="3000" spc="-90" dirty="0">
                <a:latin typeface="Calibri"/>
                <a:cs typeface="Calibri"/>
              </a:rPr>
              <a:t> </a:t>
            </a:r>
            <a:r>
              <a:rPr lang="en-IN" sz="3000" dirty="0">
                <a:latin typeface="Calibri"/>
                <a:cs typeface="Calibri"/>
              </a:rPr>
              <a:t>teller</a:t>
            </a:r>
            <a:r>
              <a:rPr lang="en-IN" sz="3000" spc="-65" dirty="0">
                <a:latin typeface="Calibri"/>
                <a:cs typeface="Calibri"/>
              </a:rPr>
              <a:t> </a:t>
            </a:r>
            <a:r>
              <a:rPr lang="en-IN" sz="3000" spc="-10" dirty="0">
                <a:latin typeface="Calibri"/>
                <a:cs typeface="Calibri"/>
              </a:rPr>
              <a:t>machines </a:t>
            </a:r>
            <a:r>
              <a:rPr lang="en-IN" sz="3000" spc="-30" dirty="0">
                <a:latin typeface="Calibri"/>
                <a:cs typeface="Calibri"/>
              </a:rPr>
              <a:t>(ATM)</a:t>
            </a:r>
            <a:r>
              <a:rPr lang="en-IN" sz="3000" spc="-85" dirty="0">
                <a:latin typeface="Calibri"/>
                <a:cs typeface="Calibri"/>
              </a:rPr>
              <a:t> </a:t>
            </a:r>
            <a:r>
              <a:rPr lang="en-IN" sz="3000" dirty="0">
                <a:latin typeface="Calibri"/>
                <a:cs typeface="Calibri"/>
              </a:rPr>
              <a:t>and</a:t>
            </a:r>
            <a:r>
              <a:rPr lang="en-IN" sz="3000" spc="-70" dirty="0">
                <a:latin typeface="Calibri"/>
                <a:cs typeface="Calibri"/>
              </a:rPr>
              <a:t> </a:t>
            </a:r>
            <a:r>
              <a:rPr lang="en-IN" sz="3000" dirty="0">
                <a:latin typeface="Calibri"/>
                <a:cs typeface="Calibri"/>
              </a:rPr>
              <a:t>currency</a:t>
            </a:r>
            <a:r>
              <a:rPr lang="en-IN" sz="3000" spc="-75" dirty="0">
                <a:latin typeface="Calibri"/>
                <a:cs typeface="Calibri"/>
              </a:rPr>
              <a:t> </a:t>
            </a:r>
            <a:r>
              <a:rPr lang="en-IN" sz="3000" spc="-10" dirty="0">
                <a:latin typeface="Calibri"/>
                <a:cs typeface="Calibri"/>
              </a:rPr>
              <a:t>counters,</a:t>
            </a:r>
            <a:r>
              <a:rPr lang="en-IN" sz="3000" spc="-80" dirty="0">
                <a:latin typeface="Calibri"/>
                <a:cs typeface="Calibri"/>
              </a:rPr>
              <a:t> </a:t>
            </a:r>
            <a:r>
              <a:rPr lang="en-IN" sz="3000" dirty="0">
                <a:latin typeface="Calibri"/>
                <a:cs typeface="Calibri"/>
              </a:rPr>
              <a:t>point</a:t>
            </a:r>
            <a:r>
              <a:rPr lang="en-IN" sz="3000" spc="-80" dirty="0">
                <a:latin typeface="Calibri"/>
                <a:cs typeface="Calibri"/>
              </a:rPr>
              <a:t> </a:t>
            </a:r>
            <a:r>
              <a:rPr lang="en-IN" sz="3000" dirty="0">
                <a:latin typeface="Calibri"/>
                <a:cs typeface="Calibri"/>
              </a:rPr>
              <a:t>of</a:t>
            </a:r>
            <a:r>
              <a:rPr lang="en-IN" sz="3000" spc="-70" dirty="0">
                <a:latin typeface="Calibri"/>
                <a:cs typeface="Calibri"/>
              </a:rPr>
              <a:t> </a:t>
            </a:r>
            <a:r>
              <a:rPr lang="en-IN" sz="3000" spc="-10" dirty="0">
                <a:latin typeface="Calibri"/>
                <a:cs typeface="Calibri"/>
              </a:rPr>
              <a:t>sales(POS)</a:t>
            </a:r>
            <a:endParaRPr lang="en-IN" sz="3000" dirty="0">
              <a:latin typeface="Calibri"/>
              <a:cs typeface="Calibri"/>
            </a:endParaRPr>
          </a:p>
          <a:p>
            <a:pPr marL="355600" marR="81280" indent="-342900">
              <a:spcBef>
                <a:spcPts val="725"/>
              </a:spcBef>
              <a:buFont typeface="Arial MT"/>
              <a:buChar char="•"/>
              <a:tabLst>
                <a:tab pos="355600" algn="l"/>
              </a:tabLst>
            </a:pPr>
            <a:r>
              <a:rPr lang="en-IN" sz="3000" dirty="0">
                <a:latin typeface="Calibri"/>
                <a:cs typeface="Calibri"/>
              </a:rPr>
              <a:t>11.</a:t>
            </a:r>
            <a:r>
              <a:rPr lang="en-IN" sz="3000" spc="-70" dirty="0">
                <a:latin typeface="Calibri"/>
                <a:cs typeface="Calibri"/>
              </a:rPr>
              <a:t> </a:t>
            </a:r>
            <a:r>
              <a:rPr lang="en-IN" sz="3000" dirty="0">
                <a:latin typeface="Calibri"/>
                <a:cs typeface="Calibri"/>
              </a:rPr>
              <a:t>CARD</a:t>
            </a:r>
            <a:r>
              <a:rPr lang="en-IN" sz="3000" spc="-75" dirty="0">
                <a:latin typeface="Calibri"/>
                <a:cs typeface="Calibri"/>
              </a:rPr>
              <a:t> </a:t>
            </a:r>
            <a:r>
              <a:rPr lang="en-IN" sz="3000" dirty="0">
                <a:latin typeface="Calibri"/>
                <a:cs typeface="Calibri"/>
              </a:rPr>
              <a:t>READERS:</a:t>
            </a:r>
            <a:r>
              <a:rPr lang="en-IN" sz="3000" spc="-90" dirty="0">
                <a:latin typeface="Calibri"/>
                <a:cs typeface="Calibri"/>
              </a:rPr>
              <a:t> </a:t>
            </a:r>
            <a:r>
              <a:rPr lang="en-IN" sz="3000" dirty="0">
                <a:latin typeface="Calibri"/>
                <a:cs typeface="Calibri"/>
              </a:rPr>
              <a:t>Barcode,</a:t>
            </a:r>
            <a:r>
              <a:rPr lang="en-IN" sz="3000" spc="-70" dirty="0">
                <a:latin typeface="Calibri"/>
                <a:cs typeface="Calibri"/>
              </a:rPr>
              <a:t> </a:t>
            </a:r>
            <a:r>
              <a:rPr lang="en-IN" sz="3000" dirty="0">
                <a:latin typeface="Calibri"/>
                <a:cs typeface="Calibri"/>
              </a:rPr>
              <a:t>smart</a:t>
            </a:r>
            <a:r>
              <a:rPr lang="en-IN" sz="3000" spc="-75" dirty="0">
                <a:latin typeface="Calibri"/>
                <a:cs typeface="Calibri"/>
              </a:rPr>
              <a:t> </a:t>
            </a:r>
            <a:r>
              <a:rPr lang="en-IN" sz="3000" dirty="0">
                <a:latin typeface="Calibri"/>
                <a:cs typeface="Calibri"/>
              </a:rPr>
              <a:t>card</a:t>
            </a:r>
            <a:r>
              <a:rPr lang="en-IN" sz="3000" spc="-75" dirty="0">
                <a:latin typeface="Calibri"/>
                <a:cs typeface="Calibri"/>
              </a:rPr>
              <a:t> </a:t>
            </a:r>
            <a:r>
              <a:rPr lang="en-IN" sz="3000" spc="-10" dirty="0">
                <a:latin typeface="Calibri"/>
                <a:cs typeface="Calibri"/>
              </a:rPr>
              <a:t>readers, </a:t>
            </a:r>
            <a:r>
              <a:rPr lang="en-IN" sz="3000" dirty="0">
                <a:latin typeface="Calibri"/>
                <a:cs typeface="Calibri"/>
              </a:rPr>
              <a:t>handheld</a:t>
            </a:r>
            <a:r>
              <a:rPr lang="en-IN" sz="3000" spc="-25" dirty="0">
                <a:latin typeface="Calibri"/>
                <a:cs typeface="Calibri"/>
              </a:rPr>
              <a:t> </a:t>
            </a:r>
            <a:r>
              <a:rPr lang="en-IN" sz="3000" spc="-10" dirty="0">
                <a:latin typeface="Calibri"/>
                <a:cs typeface="Calibri"/>
              </a:rPr>
              <a:t>devices.</a:t>
            </a:r>
            <a:endParaRPr lang="en-IN" sz="3000" spc="-20" dirty="0">
              <a:latin typeface="Calibri"/>
              <a:cs typeface="Calibri"/>
            </a:endParaRPr>
          </a:p>
          <a:p>
            <a:pPr marL="355600" marR="400685" indent="-342900">
              <a:spcBef>
                <a:spcPts val="100"/>
              </a:spcBef>
            </a:pPr>
            <a:endParaRPr sz="3000" dirty="0">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12457" y="1032171"/>
            <a:ext cx="7863840" cy="696595"/>
          </a:xfrm>
          <a:prstGeom prst="rect">
            <a:avLst/>
          </a:prstGeom>
        </p:spPr>
        <p:txBody>
          <a:bodyPr vert="horz" wrap="square" lIns="0" tIns="13335" rIns="0" bIns="0" rtlCol="0" anchor="ctr">
            <a:spAutoFit/>
          </a:bodyPr>
          <a:lstStyle/>
          <a:p>
            <a:pPr marL="12700">
              <a:lnSpc>
                <a:spcPct val="100000"/>
              </a:lnSpc>
              <a:spcBef>
                <a:spcPts val="105"/>
              </a:spcBef>
            </a:pPr>
            <a:r>
              <a:rPr dirty="0"/>
              <a:t>PURPOSE</a:t>
            </a:r>
            <a:r>
              <a:rPr spc="-40" dirty="0"/>
              <a:t> </a:t>
            </a:r>
            <a:r>
              <a:rPr dirty="0"/>
              <a:t>OF</a:t>
            </a:r>
            <a:r>
              <a:rPr spc="-25" dirty="0"/>
              <a:t> </a:t>
            </a:r>
            <a:r>
              <a:rPr dirty="0"/>
              <a:t>EMBEDDED</a:t>
            </a:r>
            <a:r>
              <a:rPr spc="-35" dirty="0"/>
              <a:t> </a:t>
            </a:r>
            <a:r>
              <a:rPr spc="-10" dirty="0"/>
              <a:t>SYSTEMS</a:t>
            </a:r>
            <a:endParaRPr dirty="0"/>
          </a:p>
        </p:txBody>
      </p:sp>
      <p:sp>
        <p:nvSpPr>
          <p:cNvPr id="3" name="object 3"/>
          <p:cNvSpPr txBox="1"/>
          <p:nvPr/>
        </p:nvSpPr>
        <p:spPr>
          <a:xfrm>
            <a:off x="1912457" y="2011386"/>
            <a:ext cx="7113905" cy="3579184"/>
          </a:xfrm>
          <a:prstGeom prst="rect">
            <a:avLst/>
          </a:prstGeom>
        </p:spPr>
        <p:txBody>
          <a:bodyPr vert="horz" wrap="square" lIns="0" tIns="110489" rIns="0" bIns="0" rtlCol="0">
            <a:spAutoFit/>
          </a:bodyPr>
          <a:lstStyle/>
          <a:p>
            <a:pPr marL="354965" indent="-342265">
              <a:spcBef>
                <a:spcPts val="869"/>
              </a:spcBef>
              <a:buFont typeface="Arial MT"/>
              <a:buChar char="•"/>
              <a:tabLst>
                <a:tab pos="354965" algn="l"/>
              </a:tabLst>
            </a:pPr>
            <a:r>
              <a:rPr sz="3200" dirty="0">
                <a:latin typeface="Calibri"/>
                <a:cs typeface="Calibri"/>
              </a:rPr>
              <a:t>Data</a:t>
            </a:r>
            <a:r>
              <a:rPr sz="3200" spc="-114" dirty="0">
                <a:latin typeface="Calibri"/>
                <a:cs typeface="Calibri"/>
              </a:rPr>
              <a:t> </a:t>
            </a:r>
            <a:r>
              <a:rPr sz="3200" dirty="0">
                <a:latin typeface="Calibri"/>
                <a:cs typeface="Calibri"/>
              </a:rPr>
              <a:t>collection/</a:t>
            </a:r>
            <a:r>
              <a:rPr sz="3200" spc="-120" dirty="0">
                <a:latin typeface="Calibri"/>
                <a:cs typeface="Calibri"/>
              </a:rPr>
              <a:t> </a:t>
            </a:r>
            <a:r>
              <a:rPr sz="3200" dirty="0">
                <a:latin typeface="Calibri"/>
                <a:cs typeface="Calibri"/>
              </a:rPr>
              <a:t>Storage/</a:t>
            </a:r>
            <a:r>
              <a:rPr sz="3200" spc="-135" dirty="0">
                <a:latin typeface="Calibri"/>
                <a:cs typeface="Calibri"/>
              </a:rPr>
              <a:t> </a:t>
            </a:r>
            <a:r>
              <a:rPr sz="3200" spc="-10" dirty="0">
                <a:latin typeface="Calibri"/>
                <a:cs typeface="Calibri"/>
              </a:rPr>
              <a:t>Representation</a:t>
            </a:r>
            <a:endParaRPr sz="3200" dirty="0">
              <a:latin typeface="Calibri"/>
              <a:cs typeface="Calibri"/>
            </a:endParaRPr>
          </a:p>
          <a:p>
            <a:pPr marL="354965" indent="-342265">
              <a:spcBef>
                <a:spcPts val="770"/>
              </a:spcBef>
              <a:buFont typeface="Arial MT"/>
              <a:buChar char="•"/>
              <a:tabLst>
                <a:tab pos="354965" algn="l"/>
              </a:tabLst>
            </a:pPr>
            <a:r>
              <a:rPr sz="3200" dirty="0">
                <a:latin typeface="Calibri"/>
                <a:cs typeface="Calibri"/>
              </a:rPr>
              <a:t>Data</a:t>
            </a:r>
            <a:r>
              <a:rPr sz="3200" spc="-114" dirty="0">
                <a:latin typeface="Calibri"/>
                <a:cs typeface="Calibri"/>
              </a:rPr>
              <a:t> </a:t>
            </a:r>
            <a:r>
              <a:rPr sz="3200" spc="-10" dirty="0">
                <a:latin typeface="Calibri"/>
                <a:cs typeface="Calibri"/>
              </a:rPr>
              <a:t>communication</a:t>
            </a:r>
            <a:endParaRPr sz="3200" dirty="0">
              <a:latin typeface="Calibri"/>
              <a:cs typeface="Calibri"/>
            </a:endParaRPr>
          </a:p>
          <a:p>
            <a:pPr marL="354965" indent="-342265">
              <a:spcBef>
                <a:spcPts val="770"/>
              </a:spcBef>
              <a:buFont typeface="Arial MT"/>
              <a:buChar char="•"/>
              <a:tabLst>
                <a:tab pos="354965" algn="l"/>
              </a:tabLst>
            </a:pPr>
            <a:r>
              <a:rPr sz="3200" spc="-10" dirty="0">
                <a:latin typeface="Calibri"/>
                <a:cs typeface="Calibri"/>
              </a:rPr>
              <a:t>Data(Signal)</a:t>
            </a:r>
            <a:r>
              <a:rPr sz="3200" spc="-90" dirty="0">
                <a:latin typeface="Calibri"/>
                <a:cs typeface="Calibri"/>
              </a:rPr>
              <a:t> </a:t>
            </a:r>
            <a:r>
              <a:rPr sz="3200" spc="-10" dirty="0">
                <a:latin typeface="Calibri"/>
                <a:cs typeface="Calibri"/>
              </a:rPr>
              <a:t>Processing</a:t>
            </a:r>
            <a:endParaRPr sz="3200" dirty="0">
              <a:latin typeface="Calibri"/>
              <a:cs typeface="Calibri"/>
            </a:endParaRPr>
          </a:p>
          <a:p>
            <a:pPr marL="354965" indent="-342265">
              <a:spcBef>
                <a:spcPts val="770"/>
              </a:spcBef>
              <a:buFont typeface="Arial MT"/>
              <a:buChar char="•"/>
              <a:tabLst>
                <a:tab pos="354965" algn="l"/>
              </a:tabLst>
            </a:pPr>
            <a:r>
              <a:rPr sz="3200" spc="-10" dirty="0">
                <a:latin typeface="Calibri"/>
                <a:cs typeface="Calibri"/>
              </a:rPr>
              <a:t>Monitoring</a:t>
            </a:r>
            <a:endParaRPr sz="3200" dirty="0">
              <a:latin typeface="Calibri"/>
              <a:cs typeface="Calibri"/>
            </a:endParaRPr>
          </a:p>
          <a:p>
            <a:pPr marL="354965" indent="-342265">
              <a:spcBef>
                <a:spcPts val="770"/>
              </a:spcBef>
              <a:buFont typeface="Arial MT"/>
              <a:buChar char="•"/>
              <a:tabLst>
                <a:tab pos="354965" algn="l"/>
              </a:tabLst>
            </a:pPr>
            <a:r>
              <a:rPr sz="3200" spc="-10" dirty="0">
                <a:latin typeface="Calibri"/>
                <a:cs typeface="Calibri"/>
              </a:rPr>
              <a:t>Control</a:t>
            </a:r>
            <a:endParaRPr sz="3200" dirty="0">
              <a:latin typeface="Calibri"/>
              <a:cs typeface="Calibri"/>
            </a:endParaRPr>
          </a:p>
          <a:p>
            <a:pPr marL="354965" indent="-342265">
              <a:spcBef>
                <a:spcPts val="765"/>
              </a:spcBef>
              <a:buFont typeface="Arial MT"/>
              <a:buChar char="•"/>
              <a:tabLst>
                <a:tab pos="354965" algn="l"/>
              </a:tabLst>
            </a:pPr>
            <a:r>
              <a:rPr sz="3200" spc="-10" dirty="0">
                <a:latin typeface="Calibri"/>
                <a:cs typeface="Calibri"/>
              </a:rPr>
              <a:t>Application </a:t>
            </a:r>
            <a:r>
              <a:rPr sz="3200" dirty="0">
                <a:latin typeface="Calibri"/>
                <a:cs typeface="Calibri"/>
              </a:rPr>
              <a:t>specific</a:t>
            </a:r>
            <a:r>
              <a:rPr sz="3200" spc="-40" dirty="0">
                <a:latin typeface="Calibri"/>
                <a:cs typeface="Calibri"/>
              </a:rPr>
              <a:t> </a:t>
            </a:r>
            <a:r>
              <a:rPr sz="3200" dirty="0">
                <a:latin typeface="Calibri"/>
                <a:cs typeface="Calibri"/>
              </a:rPr>
              <a:t>user</a:t>
            </a:r>
            <a:r>
              <a:rPr sz="3200" spc="-35" dirty="0">
                <a:latin typeface="Calibri"/>
                <a:cs typeface="Calibri"/>
              </a:rPr>
              <a:t> </a:t>
            </a:r>
            <a:r>
              <a:rPr sz="3200" spc="-10" dirty="0">
                <a:latin typeface="Calibri"/>
                <a:cs typeface="Calibri"/>
              </a:rPr>
              <a:t>interface.</a:t>
            </a:r>
            <a:endParaRPr sz="3200" dirty="0">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1FE0E-5E4B-B2BD-BF50-F2894BC8A8DD}"/>
              </a:ext>
            </a:extLst>
          </p:cNvPr>
          <p:cNvSpPr>
            <a:spLocks noGrp="1"/>
          </p:cNvSpPr>
          <p:nvPr>
            <p:ph type="title"/>
          </p:nvPr>
        </p:nvSpPr>
        <p:spPr/>
        <p:txBody>
          <a:bodyPr/>
          <a:lstStyle/>
          <a:p>
            <a:r>
              <a:rPr lang="en-IN" dirty="0"/>
              <a:t>1.	Data Collection/Storage/Representation</a:t>
            </a:r>
          </a:p>
        </p:txBody>
      </p:sp>
      <p:sp>
        <p:nvSpPr>
          <p:cNvPr id="3" name="Content Placeholder 2">
            <a:extLst>
              <a:ext uri="{FF2B5EF4-FFF2-40B4-BE49-F238E27FC236}">
                <a16:creationId xmlns:a16="http://schemas.microsoft.com/office/drawing/2014/main" id="{BE4342D9-A534-A6FB-515C-16B64D2F16CB}"/>
              </a:ext>
            </a:extLst>
          </p:cNvPr>
          <p:cNvSpPr>
            <a:spLocks noGrp="1"/>
          </p:cNvSpPr>
          <p:nvPr>
            <p:ph idx="1"/>
          </p:nvPr>
        </p:nvSpPr>
        <p:spPr/>
        <p:txBody>
          <a:bodyPr/>
          <a:lstStyle/>
          <a:p>
            <a:r>
              <a:rPr lang="en-US" dirty="0"/>
              <a:t>Performs acquisition of data from the external world.</a:t>
            </a:r>
          </a:p>
          <a:p>
            <a:r>
              <a:rPr lang="en-US" dirty="0"/>
              <a:t>The collected data can be either analog or digital</a:t>
            </a:r>
          </a:p>
          <a:p>
            <a:r>
              <a:rPr lang="en-US" dirty="0"/>
              <a:t>Data collection is usually done for storage, analysis, manipulation and transmission</a:t>
            </a:r>
          </a:p>
          <a:p>
            <a:r>
              <a:rPr lang="en-US" dirty="0"/>
              <a:t>The collected data may be stored directly in the system or may be transmitted to some other systems or it may be processed by the system or it may be deleted instantly after giving a meaningful representation</a:t>
            </a:r>
            <a:endParaRPr lang="en-IN" dirty="0"/>
          </a:p>
        </p:txBody>
      </p:sp>
    </p:spTree>
    <p:extLst>
      <p:ext uri="{BB962C8B-B14F-4D97-AF65-F5344CB8AC3E}">
        <p14:creationId xmlns:p14="http://schemas.microsoft.com/office/powerpoint/2010/main" val="1307940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3CFDE-6A59-D4ED-F6FF-E167163E44DC}"/>
              </a:ext>
            </a:extLst>
          </p:cNvPr>
          <p:cNvSpPr>
            <a:spLocks noGrp="1"/>
          </p:cNvSpPr>
          <p:nvPr>
            <p:ph type="title"/>
          </p:nvPr>
        </p:nvSpPr>
        <p:spPr/>
        <p:txBody>
          <a:bodyPr/>
          <a:lstStyle/>
          <a:p>
            <a:r>
              <a:rPr lang="en-IN" dirty="0"/>
              <a:t>2.	Data Communication</a:t>
            </a:r>
          </a:p>
        </p:txBody>
      </p:sp>
      <p:sp>
        <p:nvSpPr>
          <p:cNvPr id="3" name="Content Placeholder 2">
            <a:extLst>
              <a:ext uri="{FF2B5EF4-FFF2-40B4-BE49-F238E27FC236}">
                <a16:creationId xmlns:a16="http://schemas.microsoft.com/office/drawing/2014/main" id="{5F65720C-71C9-43FC-B81F-F470295DA739}"/>
              </a:ext>
            </a:extLst>
          </p:cNvPr>
          <p:cNvSpPr>
            <a:spLocks noGrp="1"/>
          </p:cNvSpPr>
          <p:nvPr>
            <p:ph idx="1"/>
          </p:nvPr>
        </p:nvSpPr>
        <p:spPr/>
        <p:txBody>
          <a:bodyPr/>
          <a:lstStyle/>
          <a:p>
            <a:r>
              <a:rPr lang="en-IN" dirty="0"/>
              <a:t>Embedded Data communication systems are deployed in applications ranging from complex satellite communication systems to simple home networking systems</a:t>
            </a:r>
          </a:p>
          <a:p>
            <a:r>
              <a:rPr lang="en-IN" dirty="0"/>
              <a:t>Embedded Data communication systems are dedicated for data communication</a:t>
            </a:r>
          </a:p>
          <a:p>
            <a:r>
              <a:rPr lang="en-IN" dirty="0"/>
              <a:t>The data communication can happen through a wired interface (like Ethernet, RS- 232C/USB/IEEE1394 etc) or wireless interface (like Wi-Fi, GSM,/GPRS, Bluetooth, ZigBee etc)</a:t>
            </a:r>
          </a:p>
          <a:p>
            <a:r>
              <a:rPr lang="en-IN" dirty="0"/>
              <a:t>Network hubs, Routers, switches, Modems etc are typical examples for dedicated data transmission embedded systems</a:t>
            </a:r>
          </a:p>
          <a:p>
            <a:endParaRPr lang="en-IN" dirty="0"/>
          </a:p>
        </p:txBody>
      </p:sp>
    </p:spTree>
    <p:extLst>
      <p:ext uri="{BB962C8B-B14F-4D97-AF65-F5344CB8AC3E}">
        <p14:creationId xmlns:p14="http://schemas.microsoft.com/office/powerpoint/2010/main" val="5159889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C6012-5678-CDA7-3AA4-76F74CF6C041}"/>
              </a:ext>
            </a:extLst>
          </p:cNvPr>
          <p:cNvSpPr>
            <a:spLocks noGrp="1"/>
          </p:cNvSpPr>
          <p:nvPr>
            <p:ph type="title"/>
          </p:nvPr>
        </p:nvSpPr>
        <p:spPr/>
        <p:txBody>
          <a:bodyPr/>
          <a:lstStyle/>
          <a:p>
            <a:r>
              <a:rPr lang="en-IN" dirty="0"/>
              <a:t>3.	Data (Signal) Processing</a:t>
            </a:r>
          </a:p>
        </p:txBody>
      </p:sp>
      <p:sp>
        <p:nvSpPr>
          <p:cNvPr id="3" name="Content Placeholder 2">
            <a:extLst>
              <a:ext uri="{FF2B5EF4-FFF2-40B4-BE49-F238E27FC236}">
                <a16:creationId xmlns:a16="http://schemas.microsoft.com/office/drawing/2014/main" id="{A3CB2D29-BF8C-6E74-6A43-03C5009E910E}"/>
              </a:ext>
            </a:extLst>
          </p:cNvPr>
          <p:cNvSpPr>
            <a:spLocks noGrp="1"/>
          </p:cNvSpPr>
          <p:nvPr>
            <p:ph idx="1"/>
          </p:nvPr>
        </p:nvSpPr>
        <p:spPr/>
        <p:txBody>
          <a:bodyPr/>
          <a:lstStyle/>
          <a:p>
            <a:r>
              <a:rPr lang="en-IN" dirty="0"/>
              <a:t>Embedded systems with Signal processing functionalities are employed in applications demanding signal processing like Speech coding, synthesis, audio video codec, transmission applications etc</a:t>
            </a:r>
          </a:p>
          <a:p>
            <a:r>
              <a:rPr lang="en-IN" dirty="0"/>
              <a:t>Computational intensive systems</a:t>
            </a:r>
          </a:p>
          <a:p>
            <a:r>
              <a:rPr lang="en-IN" dirty="0"/>
              <a:t>Employs Digital Signal Processors (DSPs)</a:t>
            </a:r>
          </a:p>
          <a:p>
            <a:endParaRPr lang="en-IN" dirty="0"/>
          </a:p>
        </p:txBody>
      </p:sp>
    </p:spTree>
    <p:extLst>
      <p:ext uri="{BB962C8B-B14F-4D97-AF65-F5344CB8AC3E}">
        <p14:creationId xmlns:p14="http://schemas.microsoft.com/office/powerpoint/2010/main" val="39514984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01A58-838B-47BE-874A-7879EEAB6593}"/>
              </a:ext>
            </a:extLst>
          </p:cNvPr>
          <p:cNvSpPr>
            <a:spLocks noGrp="1"/>
          </p:cNvSpPr>
          <p:nvPr>
            <p:ph type="title"/>
          </p:nvPr>
        </p:nvSpPr>
        <p:spPr>
          <a:xfrm>
            <a:off x="838200" y="610932"/>
            <a:ext cx="10515600" cy="834410"/>
          </a:xfrm>
        </p:spPr>
        <p:txBody>
          <a:bodyPr/>
          <a:lstStyle/>
          <a:p>
            <a:r>
              <a:rPr lang="en-IN" dirty="0"/>
              <a:t>4.	Monitoring</a:t>
            </a:r>
          </a:p>
        </p:txBody>
      </p:sp>
      <p:sp>
        <p:nvSpPr>
          <p:cNvPr id="3" name="Content Placeholder 2">
            <a:extLst>
              <a:ext uri="{FF2B5EF4-FFF2-40B4-BE49-F238E27FC236}">
                <a16:creationId xmlns:a16="http://schemas.microsoft.com/office/drawing/2014/main" id="{7EFB5055-3D9A-349F-0FEE-62BFB767FC4F}"/>
              </a:ext>
            </a:extLst>
          </p:cNvPr>
          <p:cNvSpPr>
            <a:spLocks noGrp="1"/>
          </p:cNvSpPr>
          <p:nvPr>
            <p:ph idx="1"/>
          </p:nvPr>
        </p:nvSpPr>
        <p:spPr>
          <a:xfrm>
            <a:off x="838200" y="1551882"/>
            <a:ext cx="10515600" cy="4940992"/>
          </a:xfrm>
        </p:spPr>
        <p:txBody>
          <a:bodyPr>
            <a:normAutofit fontScale="92500" lnSpcReduction="10000"/>
          </a:bodyPr>
          <a:lstStyle/>
          <a:p>
            <a:r>
              <a:rPr lang="en-US" dirty="0"/>
              <a:t>Embedded systems coming under this category are specifically designed for monitoring purpose</a:t>
            </a:r>
          </a:p>
          <a:p>
            <a:r>
              <a:rPr lang="en-US" dirty="0"/>
              <a:t>They are used for determining the state of some variables using input sensors</a:t>
            </a:r>
          </a:p>
          <a:p>
            <a:r>
              <a:rPr lang="en-US" dirty="0"/>
              <a:t>They cannot impose control over variables.</a:t>
            </a:r>
          </a:p>
          <a:p>
            <a:r>
              <a:rPr lang="en-US" dirty="0"/>
              <a:t>Electro Cardiogram (ECG) machine for monitoring the heart beat of a patient is a typical example for this</a:t>
            </a:r>
          </a:p>
          <a:p>
            <a:r>
              <a:rPr lang="en-US" dirty="0"/>
              <a:t>The sensors used in ECG are the different Electrodes connected to the patient’s body</a:t>
            </a:r>
          </a:p>
          <a:p>
            <a:r>
              <a:rPr lang="en-US" dirty="0"/>
              <a:t>Measuring instruments like Digital CRO, Digital Multi meter, Logic Analyzer etc. used in Control &amp; Instrumentation applications are also examples of embedded systems for monitoring purpose</a:t>
            </a:r>
          </a:p>
          <a:p>
            <a:endParaRPr lang="en-IN" dirty="0"/>
          </a:p>
        </p:txBody>
      </p:sp>
    </p:spTree>
    <p:extLst>
      <p:ext uri="{BB962C8B-B14F-4D97-AF65-F5344CB8AC3E}">
        <p14:creationId xmlns:p14="http://schemas.microsoft.com/office/powerpoint/2010/main" val="2471429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FBF22-6387-31B4-630B-4725157FF086}"/>
              </a:ext>
            </a:extLst>
          </p:cNvPr>
          <p:cNvSpPr>
            <a:spLocks noGrp="1"/>
          </p:cNvSpPr>
          <p:nvPr>
            <p:ph type="title"/>
          </p:nvPr>
        </p:nvSpPr>
        <p:spPr/>
        <p:txBody>
          <a:bodyPr/>
          <a:lstStyle/>
          <a:p>
            <a:r>
              <a:rPr lang="en-IN" dirty="0"/>
              <a:t>5.	Control</a:t>
            </a:r>
          </a:p>
        </p:txBody>
      </p:sp>
      <p:sp>
        <p:nvSpPr>
          <p:cNvPr id="3" name="Content Placeholder 2">
            <a:extLst>
              <a:ext uri="{FF2B5EF4-FFF2-40B4-BE49-F238E27FC236}">
                <a16:creationId xmlns:a16="http://schemas.microsoft.com/office/drawing/2014/main" id="{ED1A0FFF-0459-4AF3-8E68-1487B8537B41}"/>
              </a:ext>
            </a:extLst>
          </p:cNvPr>
          <p:cNvSpPr>
            <a:spLocks noGrp="1"/>
          </p:cNvSpPr>
          <p:nvPr>
            <p:ph idx="1"/>
          </p:nvPr>
        </p:nvSpPr>
        <p:spPr/>
        <p:txBody>
          <a:bodyPr>
            <a:normAutofit/>
          </a:bodyPr>
          <a:lstStyle/>
          <a:p>
            <a:r>
              <a:rPr lang="en-US" dirty="0"/>
              <a:t>Embedded systems with control functionalities are used for imposing control over some variables according to the changes in input variables</a:t>
            </a:r>
          </a:p>
          <a:p>
            <a:r>
              <a:rPr lang="en-US" dirty="0"/>
              <a:t>Embedded system with control functionality contains both sensors and actuators</a:t>
            </a:r>
          </a:p>
          <a:p>
            <a:r>
              <a:rPr lang="en-US" dirty="0"/>
              <a:t>Sensors are connected to the input port for capturing the changes in environmental variable or measuring variable</a:t>
            </a:r>
          </a:p>
          <a:p>
            <a:r>
              <a:rPr lang="en-US" dirty="0"/>
              <a:t>The actuators connected to the output port are controlled according to the changes in input variable to put an impact on the controlling variable to bring the controlled variable to the specified range</a:t>
            </a:r>
          </a:p>
          <a:p>
            <a:endParaRPr lang="en-IN" dirty="0"/>
          </a:p>
        </p:txBody>
      </p:sp>
    </p:spTree>
    <p:extLst>
      <p:ext uri="{BB962C8B-B14F-4D97-AF65-F5344CB8AC3E}">
        <p14:creationId xmlns:p14="http://schemas.microsoft.com/office/powerpoint/2010/main" val="617690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25670-8E40-1861-3A58-38C3566FE1D2}"/>
              </a:ext>
            </a:extLst>
          </p:cNvPr>
          <p:cNvSpPr>
            <a:spLocks noGrp="1"/>
          </p:cNvSpPr>
          <p:nvPr>
            <p:ph type="title"/>
          </p:nvPr>
        </p:nvSpPr>
        <p:spPr/>
        <p:txBody>
          <a:bodyPr/>
          <a:lstStyle/>
          <a:p>
            <a:r>
              <a:rPr lang="en-IN" dirty="0" err="1"/>
              <a:t>Contd</a:t>
            </a:r>
            <a:r>
              <a:rPr lang="en-IN" dirty="0"/>
              <a:t>…</a:t>
            </a:r>
          </a:p>
        </p:txBody>
      </p:sp>
      <p:sp>
        <p:nvSpPr>
          <p:cNvPr id="3" name="Content Placeholder 2">
            <a:extLst>
              <a:ext uri="{FF2B5EF4-FFF2-40B4-BE49-F238E27FC236}">
                <a16:creationId xmlns:a16="http://schemas.microsoft.com/office/drawing/2014/main" id="{48AFF004-D95A-03C0-BED2-39B0411365E8}"/>
              </a:ext>
            </a:extLst>
          </p:cNvPr>
          <p:cNvSpPr>
            <a:spLocks noGrp="1"/>
          </p:cNvSpPr>
          <p:nvPr>
            <p:ph idx="1"/>
          </p:nvPr>
        </p:nvSpPr>
        <p:spPr/>
        <p:txBody>
          <a:bodyPr/>
          <a:lstStyle/>
          <a:p>
            <a:r>
              <a:rPr lang="en-US" dirty="0"/>
              <a:t>Air conditioner for controlling room temperature is a typical example for embedded system with Control functionality</a:t>
            </a:r>
          </a:p>
          <a:p>
            <a:r>
              <a:rPr lang="en-US" dirty="0"/>
              <a:t>Air conditioner contains a room temperature sensing element (sensor) which may be a thermistor and a handheld unit for setting up (feeding) the desired temperature</a:t>
            </a:r>
          </a:p>
          <a:p>
            <a:r>
              <a:rPr lang="en-US" dirty="0"/>
              <a:t>The air compressor unit acts as the actuator. The compressor is controlled according to the current room temperature and the desired temperature set by the end user.</a:t>
            </a:r>
          </a:p>
          <a:p>
            <a:endParaRPr lang="en-IN" dirty="0"/>
          </a:p>
        </p:txBody>
      </p:sp>
    </p:spTree>
    <p:extLst>
      <p:ext uri="{BB962C8B-B14F-4D97-AF65-F5344CB8AC3E}">
        <p14:creationId xmlns:p14="http://schemas.microsoft.com/office/powerpoint/2010/main" val="6193384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DA372-07A4-F27B-9ACB-B387D052D695}"/>
              </a:ext>
            </a:extLst>
          </p:cNvPr>
          <p:cNvSpPr>
            <a:spLocks noGrp="1"/>
          </p:cNvSpPr>
          <p:nvPr>
            <p:ph type="title"/>
          </p:nvPr>
        </p:nvSpPr>
        <p:spPr/>
        <p:txBody>
          <a:bodyPr/>
          <a:lstStyle/>
          <a:p>
            <a:r>
              <a:rPr lang="en-IN" dirty="0"/>
              <a:t>6.	Application Specific User Interface</a:t>
            </a:r>
          </a:p>
        </p:txBody>
      </p:sp>
      <p:sp>
        <p:nvSpPr>
          <p:cNvPr id="3" name="Content Placeholder 2">
            <a:extLst>
              <a:ext uri="{FF2B5EF4-FFF2-40B4-BE49-F238E27FC236}">
                <a16:creationId xmlns:a16="http://schemas.microsoft.com/office/drawing/2014/main" id="{85845EDF-7FBD-20EB-5CAB-48A786931B8C}"/>
              </a:ext>
            </a:extLst>
          </p:cNvPr>
          <p:cNvSpPr>
            <a:spLocks noGrp="1"/>
          </p:cNvSpPr>
          <p:nvPr>
            <p:ph idx="1"/>
          </p:nvPr>
        </p:nvSpPr>
        <p:spPr/>
        <p:txBody>
          <a:bodyPr/>
          <a:lstStyle/>
          <a:p>
            <a:r>
              <a:rPr lang="en-US" dirty="0"/>
              <a:t>Embedded systems which are designed for a specific application</a:t>
            </a:r>
          </a:p>
          <a:p>
            <a:r>
              <a:rPr lang="en-US" dirty="0"/>
              <a:t>Contains Application Specific User interface (rather than general standard UI) like key board, Display units </a:t>
            </a:r>
            <a:r>
              <a:rPr lang="en-US" dirty="0" err="1"/>
              <a:t>etc</a:t>
            </a:r>
            <a:endParaRPr lang="en-US" dirty="0"/>
          </a:p>
          <a:p>
            <a:r>
              <a:rPr lang="en-US" dirty="0"/>
              <a:t>Aimed at a specific target group of users</a:t>
            </a:r>
          </a:p>
          <a:p>
            <a:r>
              <a:rPr lang="en-US" dirty="0"/>
              <a:t>Mobile handsets, Control units in industrial applications </a:t>
            </a:r>
            <a:r>
              <a:rPr lang="en-US" dirty="0" err="1"/>
              <a:t>etc</a:t>
            </a:r>
            <a:r>
              <a:rPr lang="en-US" dirty="0"/>
              <a:t> are examples</a:t>
            </a:r>
          </a:p>
          <a:p>
            <a:endParaRPr lang="en-IN" dirty="0"/>
          </a:p>
        </p:txBody>
      </p:sp>
    </p:spTree>
    <p:extLst>
      <p:ext uri="{BB962C8B-B14F-4D97-AF65-F5344CB8AC3E}">
        <p14:creationId xmlns:p14="http://schemas.microsoft.com/office/powerpoint/2010/main" val="30310825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B508488-F0D9-E6D3-5B6A-CBCA010934AD}"/>
              </a:ext>
            </a:extLst>
          </p:cNvPr>
          <p:cNvSpPr>
            <a:spLocks noGrp="1"/>
          </p:cNvSpPr>
          <p:nvPr>
            <p:ph type="title"/>
          </p:nvPr>
        </p:nvSpPr>
        <p:spPr/>
        <p:txBody>
          <a:bodyPr/>
          <a:lstStyle/>
          <a:p>
            <a:r>
              <a:rPr lang="en-IN" dirty="0">
                <a:hlinkClick r:id="rId2"/>
              </a:rPr>
              <a:t>Smart Running Shoes</a:t>
            </a:r>
            <a:endParaRPr lang="en-IN" dirty="0"/>
          </a:p>
        </p:txBody>
      </p:sp>
      <p:sp>
        <p:nvSpPr>
          <p:cNvPr id="6" name="Text Placeholder 5">
            <a:extLst>
              <a:ext uri="{FF2B5EF4-FFF2-40B4-BE49-F238E27FC236}">
                <a16:creationId xmlns:a16="http://schemas.microsoft.com/office/drawing/2014/main" id="{E0A776AD-0F23-0020-E306-2153D58D7772}"/>
              </a:ext>
            </a:extLst>
          </p:cNvPr>
          <p:cNvSpPr>
            <a:spLocks noGrp="1"/>
          </p:cNvSpPr>
          <p:nvPr>
            <p:ph type="body" idx="1"/>
          </p:nvPr>
        </p:nvSpPr>
        <p:spPr/>
        <p:txBody>
          <a:bodyPr/>
          <a:lstStyle/>
          <a:p>
            <a:r>
              <a:rPr lang="en-IN" dirty="0"/>
              <a:t>CASE STUDY</a:t>
            </a:r>
          </a:p>
        </p:txBody>
      </p:sp>
    </p:spTree>
    <p:extLst>
      <p:ext uri="{BB962C8B-B14F-4D97-AF65-F5344CB8AC3E}">
        <p14:creationId xmlns:p14="http://schemas.microsoft.com/office/powerpoint/2010/main" val="23569805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97B91-5680-BE01-CFBE-09018EC7D8B8}"/>
              </a:ext>
            </a:extLst>
          </p:cNvPr>
          <p:cNvSpPr>
            <a:spLocks noGrp="1"/>
          </p:cNvSpPr>
          <p:nvPr>
            <p:ph type="title"/>
          </p:nvPr>
        </p:nvSpPr>
        <p:spPr/>
        <p:txBody>
          <a:bodyPr/>
          <a:lstStyle/>
          <a:p>
            <a:pPr marL="0" lvl="0" indent="0" rtl="0">
              <a:spcBef>
                <a:spcPts val="0"/>
              </a:spcBef>
              <a:spcAft>
                <a:spcPts val="0"/>
              </a:spcAft>
            </a:pPr>
            <a:r>
              <a:rPr lang="en-US" dirty="0"/>
              <a:t>Characteristics and </a:t>
            </a:r>
            <a:br>
              <a:rPr lang="en-US" dirty="0"/>
            </a:br>
            <a:r>
              <a:rPr lang="en-US" dirty="0"/>
              <a:t>Quality Attributes of </a:t>
            </a:r>
            <a:br>
              <a:rPr lang="en-US" dirty="0"/>
            </a:br>
            <a:r>
              <a:rPr lang="en-US" dirty="0"/>
              <a:t>Embedded Systems</a:t>
            </a:r>
            <a:endParaRPr lang="en-IN" dirty="0"/>
          </a:p>
        </p:txBody>
      </p:sp>
    </p:spTree>
    <p:extLst>
      <p:ext uri="{BB962C8B-B14F-4D97-AF65-F5344CB8AC3E}">
        <p14:creationId xmlns:p14="http://schemas.microsoft.com/office/powerpoint/2010/main" val="26548771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31"/>
        <p:cNvGrpSpPr/>
        <p:nvPr/>
      </p:nvGrpSpPr>
      <p:grpSpPr>
        <a:xfrm>
          <a:off x="0" y="0"/>
          <a:ext cx="0" cy="0"/>
          <a:chOff x="0" y="0"/>
          <a:chExt cx="0" cy="0"/>
        </a:xfrm>
      </p:grpSpPr>
      <p:sp>
        <p:nvSpPr>
          <p:cNvPr id="2732" name="Google Shape;2732;p14"/>
          <p:cNvSpPr txBox="1">
            <a:spLocks noGrp="1"/>
          </p:cNvSpPr>
          <p:nvPr>
            <p:ph type="title"/>
          </p:nvPr>
        </p:nvSpPr>
        <p:spPr>
          <a:xfrm>
            <a:off x="415600" y="937496"/>
            <a:ext cx="11360800" cy="763600"/>
          </a:xfrm>
          <a:prstGeom prst="rect">
            <a:avLst/>
          </a:prstGeom>
        </p:spPr>
        <p:txBody>
          <a:bodyPr spcFirstLastPara="1" vert="horz" wrap="square" lIns="121900" tIns="121900" rIns="121900" bIns="121900" rtlCol="0" anchor="t" anchorCtr="0">
            <a:normAutofit fontScale="90000"/>
          </a:bodyPr>
          <a:lstStyle/>
          <a:p>
            <a:r>
              <a:rPr lang="en-IN" dirty="0"/>
              <a:t>CHARACTERISTICS OF AN EMBEDDED SYSTEM</a:t>
            </a:r>
            <a:endParaRPr dirty="0"/>
          </a:p>
        </p:txBody>
      </p:sp>
      <p:sp>
        <p:nvSpPr>
          <p:cNvPr id="2733" name="Google Shape;2733;p14"/>
          <p:cNvSpPr txBox="1">
            <a:spLocks noGrp="1"/>
          </p:cNvSpPr>
          <p:nvPr>
            <p:ph type="body" idx="1"/>
          </p:nvPr>
        </p:nvSpPr>
        <p:spPr>
          <a:xfrm>
            <a:off x="415600" y="1939756"/>
            <a:ext cx="11360800" cy="4555200"/>
          </a:xfrm>
          <a:prstGeom prst="rect">
            <a:avLst/>
          </a:prstGeom>
        </p:spPr>
        <p:txBody>
          <a:bodyPr spcFirstLastPara="1" vert="horz" wrap="square" lIns="121900" tIns="121900" rIns="121900" bIns="121900" rtlCol="0" anchor="t" anchorCtr="0">
            <a:normAutofit/>
          </a:bodyPr>
          <a:lstStyle/>
          <a:p>
            <a:pPr marL="0" indent="0">
              <a:buNone/>
            </a:pPr>
            <a:r>
              <a:rPr lang="en-IN" dirty="0"/>
              <a:t>(1) Application and domain specific</a:t>
            </a:r>
            <a:endParaRPr dirty="0"/>
          </a:p>
          <a:p>
            <a:pPr marL="0" indent="0">
              <a:spcBef>
                <a:spcPts val="1600"/>
              </a:spcBef>
              <a:buNone/>
            </a:pPr>
            <a:r>
              <a:rPr lang="en-IN" dirty="0"/>
              <a:t>(2) Reactive and Real Time</a:t>
            </a:r>
            <a:endParaRPr dirty="0"/>
          </a:p>
          <a:p>
            <a:pPr marL="0" indent="0">
              <a:spcBef>
                <a:spcPts val="1600"/>
              </a:spcBef>
              <a:buNone/>
            </a:pPr>
            <a:r>
              <a:rPr lang="en-IN" dirty="0"/>
              <a:t>(3) Operates in harsh environments</a:t>
            </a:r>
            <a:endParaRPr dirty="0"/>
          </a:p>
          <a:p>
            <a:pPr marL="0" indent="0">
              <a:spcBef>
                <a:spcPts val="1600"/>
              </a:spcBef>
              <a:buNone/>
            </a:pPr>
            <a:r>
              <a:rPr lang="en-IN" dirty="0"/>
              <a:t>(4) Distributed</a:t>
            </a:r>
            <a:endParaRPr dirty="0"/>
          </a:p>
          <a:p>
            <a:pPr marL="0" indent="0">
              <a:spcBef>
                <a:spcPts val="1600"/>
              </a:spcBef>
              <a:buNone/>
            </a:pPr>
            <a:r>
              <a:rPr lang="en-IN" dirty="0"/>
              <a:t>(5) Small size and weight</a:t>
            </a:r>
            <a:endParaRPr dirty="0"/>
          </a:p>
          <a:p>
            <a:pPr marL="0" indent="0">
              <a:spcBef>
                <a:spcPts val="1600"/>
              </a:spcBef>
              <a:spcAft>
                <a:spcPts val="1600"/>
              </a:spcAft>
              <a:buNone/>
            </a:pPr>
            <a:r>
              <a:rPr lang="en-IN" dirty="0"/>
              <a:t>(6) Power concerns</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37"/>
        <p:cNvGrpSpPr/>
        <p:nvPr/>
      </p:nvGrpSpPr>
      <p:grpSpPr>
        <a:xfrm>
          <a:off x="0" y="0"/>
          <a:ext cx="0" cy="0"/>
          <a:chOff x="0" y="0"/>
          <a:chExt cx="0" cy="0"/>
        </a:xfrm>
      </p:grpSpPr>
      <p:sp>
        <p:nvSpPr>
          <p:cNvPr id="2738" name="Google Shape;2738;p15"/>
          <p:cNvSpPr txBox="1">
            <a:spLocks noGrp="1"/>
          </p:cNvSpPr>
          <p:nvPr>
            <p:ph type="title"/>
          </p:nvPr>
        </p:nvSpPr>
        <p:spPr>
          <a:xfrm>
            <a:off x="690903" y="957160"/>
            <a:ext cx="11360800" cy="763600"/>
          </a:xfrm>
          <a:prstGeom prst="rect">
            <a:avLst/>
          </a:prstGeom>
        </p:spPr>
        <p:txBody>
          <a:bodyPr spcFirstLastPara="1" vert="horz" wrap="square" lIns="121900" tIns="121900" rIns="121900" bIns="121900" rtlCol="0" anchor="t" anchorCtr="0">
            <a:normAutofit fontScale="90000"/>
          </a:bodyPr>
          <a:lstStyle/>
          <a:p>
            <a:r>
              <a:rPr lang="en-IN" dirty="0"/>
              <a:t>Application and Domain Specific</a:t>
            </a:r>
            <a:endParaRPr dirty="0"/>
          </a:p>
        </p:txBody>
      </p:sp>
      <p:sp>
        <p:nvSpPr>
          <p:cNvPr id="2739" name="Google Shape;2739;p15"/>
          <p:cNvSpPr txBox="1">
            <a:spLocks noGrp="1"/>
          </p:cNvSpPr>
          <p:nvPr>
            <p:ph type="body" idx="1"/>
          </p:nvPr>
        </p:nvSpPr>
        <p:spPr>
          <a:xfrm>
            <a:off x="553252" y="1910259"/>
            <a:ext cx="11360800" cy="4555200"/>
          </a:xfrm>
          <a:prstGeom prst="rect">
            <a:avLst/>
          </a:prstGeom>
        </p:spPr>
        <p:txBody>
          <a:bodyPr spcFirstLastPara="1" vert="horz" wrap="square" lIns="121900" tIns="121900" rIns="121900" bIns="121900" rtlCol="0" anchor="t" anchorCtr="0">
            <a:normAutofit/>
          </a:bodyPr>
          <a:lstStyle/>
          <a:p>
            <a:pPr marL="457200" indent="-457200"/>
            <a:r>
              <a:rPr lang="en-IN" dirty="0"/>
              <a:t>They cannot be used for any other purpose. </a:t>
            </a:r>
            <a:endParaRPr dirty="0"/>
          </a:p>
          <a:p>
            <a:pPr marL="457200" indent="-457200">
              <a:spcBef>
                <a:spcPts val="1600"/>
              </a:spcBef>
            </a:pPr>
            <a:r>
              <a:rPr lang="en-IN" dirty="0"/>
              <a:t>It is the major criterion which distinguishes an embedded system from a general purpose computing system. </a:t>
            </a:r>
            <a:endParaRPr dirty="0"/>
          </a:p>
          <a:p>
            <a:pPr marL="457200" indent="-457200">
              <a:spcBef>
                <a:spcPts val="1600"/>
              </a:spcBef>
              <a:spcAft>
                <a:spcPts val="1600"/>
              </a:spcAft>
            </a:pPr>
            <a:r>
              <a:rPr lang="en-IN" dirty="0"/>
              <a:t>For example, you cannot replace the embedded control unit of your microwave oven with your air conditioner’s embedded control unit, because the embedded control units of microwave oven and air conditioner are specifically designed to perform certain specific tasks.</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43"/>
        <p:cNvGrpSpPr/>
        <p:nvPr/>
      </p:nvGrpSpPr>
      <p:grpSpPr>
        <a:xfrm>
          <a:off x="0" y="0"/>
          <a:ext cx="0" cy="0"/>
          <a:chOff x="0" y="0"/>
          <a:chExt cx="0" cy="0"/>
        </a:xfrm>
      </p:grpSpPr>
      <p:sp>
        <p:nvSpPr>
          <p:cNvPr id="2744" name="Google Shape;2744;p16"/>
          <p:cNvSpPr txBox="1">
            <a:spLocks noGrp="1"/>
          </p:cNvSpPr>
          <p:nvPr>
            <p:ph type="title"/>
          </p:nvPr>
        </p:nvSpPr>
        <p:spPr>
          <a:xfrm>
            <a:off x="415600" y="773033"/>
            <a:ext cx="11360800" cy="763600"/>
          </a:xfrm>
          <a:prstGeom prst="rect">
            <a:avLst/>
          </a:prstGeom>
        </p:spPr>
        <p:txBody>
          <a:bodyPr spcFirstLastPara="1" vert="horz" wrap="square" lIns="121900" tIns="121900" rIns="121900" bIns="121900" rtlCol="0" anchor="t" anchorCtr="0">
            <a:normAutofit fontScale="90000"/>
          </a:bodyPr>
          <a:lstStyle/>
          <a:p>
            <a:r>
              <a:rPr lang="en-IN" dirty="0"/>
              <a:t>Reactive and Real Time</a:t>
            </a:r>
            <a:endParaRPr dirty="0"/>
          </a:p>
        </p:txBody>
      </p:sp>
      <p:sp>
        <p:nvSpPr>
          <p:cNvPr id="2745" name="Google Shape;2745;p16"/>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457200" indent="-457200"/>
            <a:r>
              <a:rPr lang="en-IN" dirty="0"/>
              <a:t>Any changes happening in the Real world (which is called an Event) are captured by the sensors or input devices in Real Time and the control algorithm running inside the unit reacts in a designed manner to bring the controlled output variables to the desired level.</a:t>
            </a:r>
            <a:endParaRPr dirty="0"/>
          </a:p>
          <a:p>
            <a:pPr marL="457200" indent="-457200">
              <a:spcBef>
                <a:spcPts val="1600"/>
              </a:spcBef>
            </a:pPr>
            <a:r>
              <a:rPr lang="en-IN" dirty="0"/>
              <a:t>Embedded systems produce changes in output in response to the changes in the input. So they are generally referred as Reactive Systems.</a:t>
            </a:r>
            <a:endParaRPr dirty="0"/>
          </a:p>
          <a:p>
            <a:pPr marL="457200" indent="-457200">
              <a:spcBef>
                <a:spcPts val="1600"/>
              </a:spcBef>
              <a:spcAft>
                <a:spcPts val="1600"/>
              </a:spcAft>
            </a:pPr>
            <a:r>
              <a:rPr lang="en-IN" dirty="0"/>
              <a:t>Real Time System operation means the timing behaviour of the system should be deterministic; meaning the system should respond to requests or tasks in a known amount of time. </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49"/>
        <p:cNvGrpSpPr/>
        <p:nvPr/>
      </p:nvGrpSpPr>
      <p:grpSpPr>
        <a:xfrm>
          <a:off x="0" y="0"/>
          <a:ext cx="0" cy="0"/>
          <a:chOff x="0" y="0"/>
          <a:chExt cx="0" cy="0"/>
        </a:xfrm>
      </p:grpSpPr>
      <p:sp>
        <p:nvSpPr>
          <p:cNvPr id="2750" name="Google Shape;2750;p17"/>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IN"/>
              <a:t>Operates in Harsh Environment</a:t>
            </a:r>
            <a:endParaRPr/>
          </a:p>
        </p:txBody>
      </p:sp>
      <p:sp>
        <p:nvSpPr>
          <p:cNvPr id="2751" name="Google Shape;2751;p17"/>
          <p:cNvSpPr txBox="1">
            <a:spLocks noGrp="1"/>
          </p:cNvSpPr>
          <p:nvPr>
            <p:ph type="body" idx="1"/>
          </p:nvPr>
        </p:nvSpPr>
        <p:spPr>
          <a:xfrm>
            <a:off x="293000" y="1536633"/>
            <a:ext cx="11483600" cy="4339600"/>
          </a:xfrm>
          <a:prstGeom prst="rect">
            <a:avLst/>
          </a:prstGeom>
        </p:spPr>
        <p:txBody>
          <a:bodyPr spcFirstLastPara="1" vert="horz" wrap="square" lIns="121900" tIns="121900" rIns="121900" bIns="121900" rtlCol="0" anchor="t" anchorCtr="0">
            <a:normAutofit lnSpcReduction="10000"/>
          </a:bodyPr>
          <a:lstStyle/>
          <a:p>
            <a:pPr marL="457200" indent="-457200"/>
            <a:r>
              <a:rPr lang="en-IN" dirty="0"/>
              <a:t>The environment in which the embedded system deployed may be a dusty one or a high temperature zone or an area subject to vibrations and shock. </a:t>
            </a:r>
            <a:endParaRPr dirty="0"/>
          </a:p>
          <a:p>
            <a:pPr marL="457200" indent="-457200">
              <a:spcBef>
                <a:spcPts val="1600"/>
              </a:spcBef>
            </a:pPr>
            <a:r>
              <a:rPr lang="en-IN" dirty="0"/>
              <a:t>Systems placed in such areas should be capable to withstand all these adverse operating conditions. </a:t>
            </a:r>
            <a:endParaRPr dirty="0"/>
          </a:p>
          <a:p>
            <a:pPr marL="457200" indent="-457200">
              <a:spcBef>
                <a:spcPts val="1600"/>
              </a:spcBef>
            </a:pPr>
            <a:r>
              <a:rPr lang="en-IN" dirty="0"/>
              <a:t>The design should take care of the operating conditions of the area where the system is going to implement. </a:t>
            </a:r>
            <a:endParaRPr dirty="0"/>
          </a:p>
          <a:p>
            <a:pPr marL="457200" indent="-457200">
              <a:spcBef>
                <a:spcPts val="1600"/>
              </a:spcBef>
              <a:spcAft>
                <a:spcPts val="1600"/>
              </a:spcAft>
            </a:pPr>
            <a:r>
              <a:rPr lang="en-IN" dirty="0"/>
              <a:t>For example, if the system needs to be deployed in a high temperature zone, then all the components used in the system should be of high temperature grade.</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55"/>
        <p:cNvGrpSpPr/>
        <p:nvPr/>
      </p:nvGrpSpPr>
      <p:grpSpPr>
        <a:xfrm>
          <a:off x="0" y="0"/>
          <a:ext cx="0" cy="0"/>
          <a:chOff x="0" y="0"/>
          <a:chExt cx="0" cy="0"/>
        </a:xfrm>
      </p:grpSpPr>
      <p:sp>
        <p:nvSpPr>
          <p:cNvPr id="2756" name="Google Shape;2756;p18"/>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IN"/>
              <a:t>Distributed</a:t>
            </a:r>
            <a:endParaRPr/>
          </a:p>
        </p:txBody>
      </p:sp>
      <p:sp>
        <p:nvSpPr>
          <p:cNvPr id="2757" name="Google Shape;2757;p18"/>
          <p:cNvSpPr txBox="1">
            <a:spLocks noGrp="1"/>
          </p:cNvSpPr>
          <p:nvPr>
            <p:ph type="body" idx="1"/>
          </p:nvPr>
        </p:nvSpPr>
        <p:spPr>
          <a:xfrm>
            <a:off x="415600" y="1356967"/>
            <a:ext cx="11360800" cy="4555200"/>
          </a:xfrm>
          <a:prstGeom prst="rect">
            <a:avLst/>
          </a:prstGeom>
        </p:spPr>
        <p:txBody>
          <a:bodyPr spcFirstLastPara="1" vert="horz" wrap="square" lIns="121900" tIns="121900" rIns="121900" bIns="121900" rtlCol="0" anchor="t" anchorCtr="0">
            <a:normAutofit/>
          </a:bodyPr>
          <a:lstStyle/>
          <a:p>
            <a:pPr marL="457200" indent="-457200"/>
            <a:r>
              <a:rPr lang="en-IN" dirty="0"/>
              <a:t>The term distributed means that embedded systems may be a part of larger systems. </a:t>
            </a:r>
            <a:endParaRPr dirty="0"/>
          </a:p>
          <a:p>
            <a:pPr marL="457200" indent="-457200">
              <a:spcBef>
                <a:spcPts val="1600"/>
              </a:spcBef>
            </a:pPr>
            <a:r>
              <a:rPr lang="en-IN" dirty="0"/>
              <a:t>Many numbers of such distributed embedded systems form a single large embedded control unit. An automatic vending machine is a typical example for this. </a:t>
            </a:r>
            <a:endParaRPr dirty="0"/>
          </a:p>
          <a:p>
            <a:pPr marL="457200" indent="-457200">
              <a:spcBef>
                <a:spcPts val="1600"/>
              </a:spcBef>
            </a:pPr>
            <a:r>
              <a:rPr lang="en-IN" dirty="0"/>
              <a:t>The vending machine contains a card reader (for pre-paid vending systems), a vending unit, etc. </a:t>
            </a:r>
            <a:endParaRPr dirty="0"/>
          </a:p>
          <a:p>
            <a:pPr marL="457200" indent="-457200">
              <a:spcBef>
                <a:spcPts val="1600"/>
              </a:spcBef>
              <a:spcAft>
                <a:spcPts val="1600"/>
              </a:spcAft>
            </a:pPr>
            <a:r>
              <a:rPr lang="en-IN" dirty="0"/>
              <a:t>Each of them are independent embedded units but they work together to perform the overall vending function. </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61"/>
        <p:cNvGrpSpPr/>
        <p:nvPr/>
      </p:nvGrpSpPr>
      <p:grpSpPr>
        <a:xfrm>
          <a:off x="0" y="0"/>
          <a:ext cx="0" cy="0"/>
          <a:chOff x="0" y="0"/>
          <a:chExt cx="0" cy="0"/>
        </a:xfrm>
      </p:grpSpPr>
      <p:sp>
        <p:nvSpPr>
          <p:cNvPr id="2762" name="Google Shape;2762;p19"/>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IN"/>
              <a:t>Small Size and Weight</a:t>
            </a:r>
            <a:endParaRPr/>
          </a:p>
        </p:txBody>
      </p:sp>
      <p:sp>
        <p:nvSpPr>
          <p:cNvPr id="2763" name="Google Shape;2763;p19"/>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lnSpcReduction="10000"/>
          </a:bodyPr>
          <a:lstStyle/>
          <a:p>
            <a:pPr marL="457200" indent="-457200"/>
            <a:r>
              <a:rPr lang="en-IN" dirty="0"/>
              <a:t>Product aesthetics is an important factor in choosing a product. </a:t>
            </a:r>
            <a:endParaRPr dirty="0"/>
          </a:p>
          <a:p>
            <a:pPr marL="457200" indent="-457200">
              <a:spcBef>
                <a:spcPts val="1600"/>
              </a:spcBef>
            </a:pPr>
            <a:r>
              <a:rPr lang="en-IN" dirty="0"/>
              <a:t>For example, when you plan to buy a new mobile phone, you may make a comparative study on the pros and cons of the products available in the market. </a:t>
            </a:r>
            <a:endParaRPr dirty="0"/>
          </a:p>
          <a:p>
            <a:pPr marL="457200" indent="-457200">
              <a:spcBef>
                <a:spcPts val="1600"/>
              </a:spcBef>
            </a:pPr>
            <a:r>
              <a:rPr lang="en-IN" dirty="0"/>
              <a:t>Definitely the product aesthetics (size, weight, shape, style, etc.) will be one of the deciding factors to choose a product. </a:t>
            </a:r>
            <a:endParaRPr dirty="0"/>
          </a:p>
          <a:p>
            <a:pPr marL="457200" indent="-457200">
              <a:spcBef>
                <a:spcPts val="1600"/>
              </a:spcBef>
            </a:pPr>
            <a:r>
              <a:rPr lang="en-IN" dirty="0"/>
              <a:t>People believe in the phrase “Small is beautiful”.</a:t>
            </a:r>
            <a:endParaRPr dirty="0"/>
          </a:p>
          <a:p>
            <a:pPr marL="457200" indent="-457200">
              <a:spcBef>
                <a:spcPts val="1600"/>
              </a:spcBef>
              <a:spcAft>
                <a:spcPts val="1600"/>
              </a:spcAft>
            </a:pPr>
            <a:r>
              <a:rPr lang="en-IN" dirty="0"/>
              <a:t>Most of the application </a:t>
            </a:r>
            <a:r>
              <a:rPr lang="en-IN" dirty="0" err="1"/>
              <a:t>domians</a:t>
            </a:r>
            <a:r>
              <a:rPr lang="en-IN" dirty="0"/>
              <a:t> also demands small sized and low weight products.</a:t>
            </a: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67"/>
        <p:cNvGrpSpPr/>
        <p:nvPr/>
      </p:nvGrpSpPr>
      <p:grpSpPr>
        <a:xfrm>
          <a:off x="0" y="0"/>
          <a:ext cx="0" cy="0"/>
          <a:chOff x="0" y="0"/>
          <a:chExt cx="0" cy="0"/>
        </a:xfrm>
      </p:grpSpPr>
      <p:sp>
        <p:nvSpPr>
          <p:cNvPr id="2768" name="Google Shape;2768;p20"/>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IN"/>
              <a:t>Power Concerns</a:t>
            </a:r>
            <a:endParaRPr/>
          </a:p>
        </p:txBody>
      </p:sp>
      <p:sp>
        <p:nvSpPr>
          <p:cNvPr id="2769" name="Google Shape;2769;p20"/>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rmAutofit/>
          </a:bodyPr>
          <a:lstStyle/>
          <a:p>
            <a:pPr marL="457200" indent="-457200"/>
            <a:r>
              <a:rPr lang="en-IN" dirty="0"/>
              <a:t>Power management is another important factor that needs to be considered in designing embedded systems. </a:t>
            </a:r>
            <a:endParaRPr dirty="0"/>
          </a:p>
          <a:p>
            <a:pPr marL="457200" indent="-457200">
              <a:spcBef>
                <a:spcPts val="1600"/>
              </a:spcBef>
            </a:pPr>
            <a:r>
              <a:rPr lang="en-IN" dirty="0"/>
              <a:t>Embedded systems should be designed in such a way as to minimise the heat dissipation by the system. </a:t>
            </a:r>
            <a:endParaRPr dirty="0"/>
          </a:p>
          <a:p>
            <a:pPr marL="457200" indent="-457200">
              <a:spcBef>
                <a:spcPts val="1600"/>
              </a:spcBef>
            </a:pPr>
            <a:r>
              <a:rPr lang="en-IN" dirty="0"/>
              <a:t>The production of high amount of heat demands cooling requirements like cooling fans which in turn occupies additional space and make the system bulky. </a:t>
            </a:r>
            <a:endParaRPr dirty="0"/>
          </a:p>
          <a:p>
            <a:pPr marL="457200" indent="-457200">
              <a:spcBef>
                <a:spcPts val="1600"/>
              </a:spcBef>
              <a:spcAft>
                <a:spcPts val="1600"/>
              </a:spcAft>
            </a:pPr>
            <a:r>
              <a:rPr lang="en-IN" dirty="0"/>
              <a:t>Nowadays ultra low power components are available in the market. </a:t>
            </a: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773"/>
        <p:cNvGrpSpPr/>
        <p:nvPr/>
      </p:nvGrpSpPr>
      <p:grpSpPr>
        <a:xfrm>
          <a:off x="0" y="0"/>
          <a:ext cx="0" cy="0"/>
          <a:chOff x="0" y="0"/>
          <a:chExt cx="0" cy="0"/>
        </a:xfrm>
      </p:grpSpPr>
      <p:sp>
        <p:nvSpPr>
          <p:cNvPr id="2774" name="Google Shape;2774;p21"/>
          <p:cNvSpPr txBox="1">
            <a:spLocks noGrp="1"/>
          </p:cNvSpPr>
          <p:nvPr>
            <p:ph type="title"/>
          </p:nvPr>
        </p:nvSpPr>
        <p:spPr>
          <a:xfrm>
            <a:off x="415600" y="2867800"/>
            <a:ext cx="11360800" cy="1122400"/>
          </a:xfrm>
          <a:prstGeom prst="rect">
            <a:avLst/>
          </a:prstGeom>
        </p:spPr>
        <p:txBody>
          <a:bodyPr spcFirstLastPara="1" vert="horz" wrap="square" lIns="121900" tIns="121900" rIns="121900" bIns="121900" rtlCol="0" anchor="ctr" anchorCtr="0">
            <a:normAutofit fontScale="90000"/>
          </a:bodyPr>
          <a:lstStyle/>
          <a:p>
            <a:r>
              <a:rPr lang="en-IN"/>
              <a:t>QUALITY ATTRIBUTES OF EMBEDDED SYSTEMS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778"/>
        <p:cNvGrpSpPr/>
        <p:nvPr/>
      </p:nvGrpSpPr>
      <p:grpSpPr>
        <a:xfrm>
          <a:off x="0" y="0"/>
          <a:ext cx="0" cy="0"/>
          <a:chOff x="0" y="0"/>
          <a:chExt cx="0" cy="0"/>
        </a:xfrm>
      </p:grpSpPr>
      <p:sp>
        <p:nvSpPr>
          <p:cNvPr id="2779" name="Google Shape;2779;p22"/>
          <p:cNvSpPr txBox="1">
            <a:spLocks noGrp="1"/>
          </p:cNvSpPr>
          <p:nvPr>
            <p:ph type="title"/>
          </p:nvPr>
        </p:nvSpPr>
        <p:spPr>
          <a:xfrm>
            <a:off x="494258" y="968929"/>
            <a:ext cx="11360800" cy="763600"/>
          </a:xfrm>
          <a:prstGeom prst="rect">
            <a:avLst/>
          </a:prstGeom>
        </p:spPr>
        <p:txBody>
          <a:bodyPr spcFirstLastPara="1" vert="horz" wrap="square" lIns="121900" tIns="121900" rIns="121900" bIns="121900" rtlCol="0" anchor="t" anchorCtr="0">
            <a:normAutofit fontScale="90000"/>
          </a:bodyPr>
          <a:lstStyle/>
          <a:p>
            <a:r>
              <a:rPr lang="en-IN" dirty="0"/>
              <a:t>Operational Quality Attributes</a:t>
            </a:r>
            <a:endParaRPr dirty="0"/>
          </a:p>
        </p:txBody>
      </p:sp>
      <p:sp>
        <p:nvSpPr>
          <p:cNvPr id="2780" name="Google Shape;2780;p22"/>
          <p:cNvSpPr txBox="1">
            <a:spLocks noGrp="1"/>
          </p:cNvSpPr>
          <p:nvPr>
            <p:ph type="body" idx="1"/>
          </p:nvPr>
        </p:nvSpPr>
        <p:spPr>
          <a:xfrm>
            <a:off x="622078" y="1782440"/>
            <a:ext cx="11360800" cy="4555200"/>
          </a:xfrm>
          <a:prstGeom prst="rect">
            <a:avLst/>
          </a:prstGeom>
        </p:spPr>
        <p:txBody>
          <a:bodyPr spcFirstLastPara="1" vert="horz" wrap="square" lIns="121900" tIns="121900" rIns="121900" bIns="121900" rtlCol="0" anchor="t" anchorCtr="0">
            <a:normAutofit/>
          </a:bodyPr>
          <a:lstStyle/>
          <a:p>
            <a:pPr marL="0" indent="0">
              <a:buNone/>
            </a:pPr>
            <a:r>
              <a:rPr lang="en-IN" dirty="0"/>
              <a:t>(1) Response</a:t>
            </a:r>
            <a:endParaRPr dirty="0"/>
          </a:p>
          <a:p>
            <a:pPr marL="0" indent="0">
              <a:spcBef>
                <a:spcPts val="1600"/>
              </a:spcBef>
              <a:buNone/>
            </a:pPr>
            <a:r>
              <a:rPr lang="en-IN" dirty="0"/>
              <a:t>(2) Throughput</a:t>
            </a:r>
            <a:endParaRPr dirty="0"/>
          </a:p>
          <a:p>
            <a:pPr marL="0" indent="0">
              <a:spcBef>
                <a:spcPts val="1600"/>
              </a:spcBef>
              <a:buNone/>
            </a:pPr>
            <a:r>
              <a:rPr lang="en-IN" dirty="0"/>
              <a:t>(3) Reliability</a:t>
            </a:r>
            <a:endParaRPr dirty="0"/>
          </a:p>
          <a:p>
            <a:pPr marL="0" indent="0">
              <a:spcBef>
                <a:spcPts val="1600"/>
              </a:spcBef>
              <a:buNone/>
            </a:pPr>
            <a:r>
              <a:rPr lang="en-IN" dirty="0"/>
              <a:t>(4) Maintainability</a:t>
            </a:r>
            <a:endParaRPr dirty="0"/>
          </a:p>
          <a:p>
            <a:pPr marL="0" indent="0">
              <a:spcBef>
                <a:spcPts val="1600"/>
              </a:spcBef>
              <a:buNone/>
            </a:pPr>
            <a:r>
              <a:rPr lang="en-IN" dirty="0"/>
              <a:t>(5) Security</a:t>
            </a:r>
            <a:endParaRPr dirty="0"/>
          </a:p>
          <a:p>
            <a:pPr marL="0" indent="0">
              <a:spcBef>
                <a:spcPts val="1600"/>
              </a:spcBef>
              <a:spcAft>
                <a:spcPts val="1600"/>
              </a:spcAft>
              <a:buNone/>
            </a:pPr>
            <a:r>
              <a:rPr lang="en-IN" dirty="0"/>
              <a:t>(6) Safety</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9AB17-9D8F-FCD5-DD8B-4ED2349F063A}"/>
              </a:ext>
            </a:extLst>
          </p:cNvPr>
          <p:cNvSpPr>
            <a:spLocks noGrp="1"/>
          </p:cNvSpPr>
          <p:nvPr>
            <p:ph type="title"/>
          </p:nvPr>
        </p:nvSpPr>
        <p:spPr>
          <a:xfrm>
            <a:off x="415600" y="773033"/>
            <a:ext cx="11360800" cy="763600"/>
          </a:xfrm>
        </p:spPr>
        <p:txBody>
          <a:bodyPr>
            <a:normAutofit fontScale="90000"/>
          </a:bodyPr>
          <a:lstStyle/>
          <a:p>
            <a:r>
              <a:rPr lang="en-IN" dirty="0"/>
              <a:t>(1) Response</a:t>
            </a:r>
            <a:br>
              <a:rPr lang="en-IN" dirty="0"/>
            </a:br>
            <a:endParaRPr lang="en-IN" dirty="0"/>
          </a:p>
        </p:txBody>
      </p:sp>
      <p:sp>
        <p:nvSpPr>
          <p:cNvPr id="3" name="Text Placeholder 2">
            <a:extLst>
              <a:ext uri="{FF2B5EF4-FFF2-40B4-BE49-F238E27FC236}">
                <a16:creationId xmlns:a16="http://schemas.microsoft.com/office/drawing/2014/main" id="{86E90B8D-452B-6107-4391-35697FB80E10}"/>
              </a:ext>
            </a:extLst>
          </p:cNvPr>
          <p:cNvSpPr>
            <a:spLocks noGrp="1"/>
          </p:cNvSpPr>
          <p:nvPr>
            <p:ph type="body" idx="1"/>
          </p:nvPr>
        </p:nvSpPr>
        <p:spPr>
          <a:xfrm>
            <a:off x="415600" y="1821768"/>
            <a:ext cx="11360800" cy="4555200"/>
          </a:xfrm>
        </p:spPr>
        <p:txBody>
          <a:bodyPr/>
          <a:lstStyle/>
          <a:p>
            <a:r>
              <a:rPr lang="en-US" dirty="0"/>
              <a:t>Response is a measure of quickness of the system. It gives you an idea about how fast your system is tracking the changes in input variables.</a:t>
            </a:r>
          </a:p>
          <a:p>
            <a:r>
              <a:rPr lang="en-US" dirty="0"/>
              <a:t>Most of the embedded systems demand fast response which should be almost Real Time. </a:t>
            </a:r>
          </a:p>
          <a:p>
            <a:r>
              <a:rPr lang="en-US" dirty="0"/>
              <a:t>For example, an embedded system deployed in flight control application should respond in a Real Time manner. </a:t>
            </a:r>
          </a:p>
          <a:p>
            <a:r>
              <a:rPr lang="en-US" dirty="0"/>
              <a:t>Any response delay in the system will create potential impact to the safety of the flight as well as the passengers.</a:t>
            </a:r>
            <a:endParaRPr lang="en-IN" dirty="0"/>
          </a:p>
        </p:txBody>
      </p:sp>
    </p:spTree>
    <p:extLst>
      <p:ext uri="{BB962C8B-B14F-4D97-AF65-F5344CB8AC3E}">
        <p14:creationId xmlns:p14="http://schemas.microsoft.com/office/powerpoint/2010/main" val="14763038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2B98C-59C8-62BA-EC73-3DD4F43C6AD0}"/>
              </a:ext>
            </a:extLst>
          </p:cNvPr>
          <p:cNvSpPr>
            <a:spLocks noGrp="1"/>
          </p:cNvSpPr>
          <p:nvPr>
            <p:ph type="title"/>
          </p:nvPr>
        </p:nvSpPr>
        <p:spPr>
          <a:xfrm>
            <a:off x="415600" y="773033"/>
            <a:ext cx="11360800" cy="763600"/>
          </a:xfrm>
        </p:spPr>
        <p:txBody>
          <a:bodyPr>
            <a:normAutofit fontScale="90000"/>
          </a:bodyPr>
          <a:lstStyle/>
          <a:p>
            <a:r>
              <a:rPr lang="en-IN" dirty="0"/>
              <a:t>(2) Throughput</a:t>
            </a:r>
            <a:br>
              <a:rPr lang="en-IN" dirty="0"/>
            </a:br>
            <a:endParaRPr lang="en-IN" dirty="0"/>
          </a:p>
        </p:txBody>
      </p:sp>
      <p:sp>
        <p:nvSpPr>
          <p:cNvPr id="3" name="Text Placeholder 2">
            <a:extLst>
              <a:ext uri="{FF2B5EF4-FFF2-40B4-BE49-F238E27FC236}">
                <a16:creationId xmlns:a16="http://schemas.microsoft.com/office/drawing/2014/main" id="{4E2B740F-2F86-BB22-F443-BF1C7274AAB2}"/>
              </a:ext>
            </a:extLst>
          </p:cNvPr>
          <p:cNvSpPr>
            <a:spLocks noGrp="1"/>
          </p:cNvSpPr>
          <p:nvPr>
            <p:ph type="body" idx="1"/>
          </p:nvPr>
        </p:nvSpPr>
        <p:spPr>
          <a:xfrm>
            <a:off x="415600" y="1811936"/>
            <a:ext cx="11360800" cy="4555200"/>
          </a:xfrm>
        </p:spPr>
        <p:txBody>
          <a:bodyPr/>
          <a:lstStyle/>
          <a:p>
            <a:r>
              <a:rPr lang="en-US" dirty="0"/>
              <a:t>Throughput deals with the efficiency of a system. </a:t>
            </a:r>
          </a:p>
          <a:p>
            <a:r>
              <a:rPr lang="en-US" dirty="0"/>
              <a:t>In general, it can be defined as the rate of production or operation of a defined process over a stated period of time. </a:t>
            </a:r>
          </a:p>
          <a:p>
            <a:r>
              <a:rPr lang="en-US" dirty="0"/>
              <a:t>The rates can be expressed in terms of units of products, batches produced, or any other meaningful measurements.</a:t>
            </a:r>
          </a:p>
          <a:p>
            <a:r>
              <a:rPr lang="en-US" dirty="0"/>
              <a:t>Throughput is generally measured in terms of ‘Benchmark’.</a:t>
            </a:r>
          </a:p>
          <a:p>
            <a:r>
              <a:rPr lang="en-US" dirty="0"/>
              <a:t>Benchmark can be a set of performance criteria that a product is expected to meet or a standard product that can be used for comparing other products of the same product line.</a:t>
            </a:r>
            <a:endParaRPr lang="en-IN" dirty="0"/>
          </a:p>
        </p:txBody>
      </p:sp>
    </p:spTree>
    <p:extLst>
      <p:ext uri="{BB962C8B-B14F-4D97-AF65-F5344CB8AC3E}">
        <p14:creationId xmlns:p14="http://schemas.microsoft.com/office/powerpoint/2010/main" val="28686726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5CA6E-8C85-79EE-A2D8-A23446490F19}"/>
              </a:ext>
            </a:extLst>
          </p:cNvPr>
          <p:cNvSpPr>
            <a:spLocks noGrp="1"/>
          </p:cNvSpPr>
          <p:nvPr>
            <p:ph type="title"/>
          </p:nvPr>
        </p:nvSpPr>
        <p:spPr>
          <a:xfrm>
            <a:off x="346774" y="996490"/>
            <a:ext cx="11360800" cy="763600"/>
          </a:xfrm>
        </p:spPr>
        <p:txBody>
          <a:bodyPr>
            <a:normAutofit fontScale="90000"/>
          </a:bodyPr>
          <a:lstStyle/>
          <a:p>
            <a:r>
              <a:rPr lang="en-IN" dirty="0"/>
              <a:t>(3) Reliability</a:t>
            </a:r>
            <a:br>
              <a:rPr lang="en-IN" dirty="0"/>
            </a:br>
            <a:endParaRPr lang="en-IN" dirty="0"/>
          </a:p>
        </p:txBody>
      </p:sp>
      <p:sp>
        <p:nvSpPr>
          <p:cNvPr id="3" name="Text Placeholder 2">
            <a:extLst>
              <a:ext uri="{FF2B5EF4-FFF2-40B4-BE49-F238E27FC236}">
                <a16:creationId xmlns:a16="http://schemas.microsoft.com/office/drawing/2014/main" id="{006F9139-7691-C5D6-EA24-9484756FF227}"/>
              </a:ext>
            </a:extLst>
          </p:cNvPr>
          <p:cNvSpPr>
            <a:spLocks noGrp="1"/>
          </p:cNvSpPr>
          <p:nvPr>
            <p:ph type="body" idx="1"/>
          </p:nvPr>
        </p:nvSpPr>
        <p:spPr>
          <a:xfrm>
            <a:off x="346774" y="2234090"/>
            <a:ext cx="11360800" cy="4555200"/>
          </a:xfrm>
        </p:spPr>
        <p:txBody>
          <a:bodyPr/>
          <a:lstStyle/>
          <a:p>
            <a:r>
              <a:rPr lang="en-US" dirty="0"/>
              <a:t>Reliability is a measure of how much % you can rely upon the proper functioning of the system or what is the % susceptibility of the system to failures.</a:t>
            </a:r>
          </a:p>
          <a:p>
            <a:r>
              <a:rPr lang="en-US" dirty="0"/>
              <a:t>Mean Time Between Failures ( MTBF) and Mean Time To Repair ( MTTR) are the terms used in defining system reliability. </a:t>
            </a:r>
          </a:p>
          <a:p>
            <a:r>
              <a:rPr lang="en-US" dirty="0"/>
              <a:t>MTBF gives the frequency of failures in hours/weeks/months. </a:t>
            </a:r>
          </a:p>
          <a:p>
            <a:r>
              <a:rPr lang="en-US" dirty="0"/>
              <a:t>MTTR specifies how long the system is allowed to be out of order following a failure.</a:t>
            </a:r>
            <a:endParaRPr lang="en-IN" dirty="0"/>
          </a:p>
        </p:txBody>
      </p:sp>
    </p:spTree>
    <p:extLst>
      <p:ext uri="{BB962C8B-B14F-4D97-AF65-F5344CB8AC3E}">
        <p14:creationId xmlns:p14="http://schemas.microsoft.com/office/powerpoint/2010/main" val="17326569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DDCEC-F346-4918-E45C-5F40B159FAF7}"/>
              </a:ext>
            </a:extLst>
          </p:cNvPr>
          <p:cNvSpPr>
            <a:spLocks noGrp="1"/>
          </p:cNvSpPr>
          <p:nvPr>
            <p:ph type="title"/>
          </p:nvPr>
        </p:nvSpPr>
        <p:spPr>
          <a:xfrm>
            <a:off x="415600" y="868670"/>
            <a:ext cx="11360800" cy="763600"/>
          </a:xfrm>
        </p:spPr>
        <p:txBody>
          <a:bodyPr>
            <a:normAutofit fontScale="90000"/>
          </a:bodyPr>
          <a:lstStyle/>
          <a:p>
            <a:r>
              <a:rPr lang="en-IN" dirty="0"/>
              <a:t>(4) Maintainability</a:t>
            </a:r>
            <a:br>
              <a:rPr lang="en-IN" dirty="0"/>
            </a:br>
            <a:endParaRPr lang="en-IN" dirty="0"/>
          </a:p>
        </p:txBody>
      </p:sp>
      <p:sp>
        <p:nvSpPr>
          <p:cNvPr id="3" name="Text Placeholder 2">
            <a:extLst>
              <a:ext uri="{FF2B5EF4-FFF2-40B4-BE49-F238E27FC236}">
                <a16:creationId xmlns:a16="http://schemas.microsoft.com/office/drawing/2014/main" id="{796C7E10-2EB2-DFC8-3A01-1E6EBC3D7A9E}"/>
              </a:ext>
            </a:extLst>
          </p:cNvPr>
          <p:cNvSpPr>
            <a:spLocks noGrp="1"/>
          </p:cNvSpPr>
          <p:nvPr>
            <p:ph type="body" idx="1"/>
          </p:nvPr>
        </p:nvSpPr>
        <p:spPr>
          <a:xfrm>
            <a:off x="415600" y="1709433"/>
            <a:ext cx="11360800" cy="4555200"/>
          </a:xfrm>
        </p:spPr>
        <p:txBody>
          <a:bodyPr/>
          <a:lstStyle/>
          <a:p>
            <a:r>
              <a:rPr lang="en-US" dirty="0"/>
              <a:t>Maintainability deals with support and maintenance to the end user or client in case of technical issues and product failures or on the basis of a routine system checkup. </a:t>
            </a:r>
          </a:p>
          <a:p>
            <a:r>
              <a:rPr lang="en-US" dirty="0"/>
              <a:t>Reliability and maintainability are considered as two complementary disciplines. </a:t>
            </a:r>
          </a:p>
          <a:p>
            <a:r>
              <a:rPr lang="en-US" dirty="0"/>
              <a:t>A more reliable system means a system with less corrective maintainability requirements and vice versa. </a:t>
            </a:r>
          </a:p>
          <a:p>
            <a:r>
              <a:rPr lang="en-US" dirty="0"/>
              <a:t>As the reliability of the system increases, the chances of failure and non-functioning also reduces, thereby the need for maintainability is also reduced.</a:t>
            </a:r>
          </a:p>
          <a:p>
            <a:r>
              <a:rPr lang="en-US" dirty="0"/>
              <a:t>Maintainability is closely related to the system availability.</a:t>
            </a:r>
            <a:endParaRPr lang="en-IN" dirty="0"/>
          </a:p>
        </p:txBody>
      </p:sp>
    </p:spTree>
    <p:extLst>
      <p:ext uri="{BB962C8B-B14F-4D97-AF65-F5344CB8AC3E}">
        <p14:creationId xmlns:p14="http://schemas.microsoft.com/office/powerpoint/2010/main" val="18705322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D6DE5-5E34-4786-BB28-F79AC5799F45}"/>
              </a:ext>
            </a:extLst>
          </p:cNvPr>
          <p:cNvSpPr>
            <a:spLocks noGrp="1"/>
          </p:cNvSpPr>
          <p:nvPr>
            <p:ph type="title"/>
          </p:nvPr>
        </p:nvSpPr>
        <p:spPr>
          <a:xfrm>
            <a:off x="415600" y="799844"/>
            <a:ext cx="11360800" cy="763600"/>
          </a:xfrm>
        </p:spPr>
        <p:txBody>
          <a:bodyPr>
            <a:normAutofit fontScale="90000"/>
          </a:bodyPr>
          <a:lstStyle/>
          <a:p>
            <a:r>
              <a:rPr lang="en-IN" dirty="0"/>
              <a:t>(5) Security</a:t>
            </a:r>
            <a:br>
              <a:rPr lang="en-IN" dirty="0"/>
            </a:br>
            <a:endParaRPr lang="en-IN" dirty="0"/>
          </a:p>
        </p:txBody>
      </p:sp>
      <p:sp>
        <p:nvSpPr>
          <p:cNvPr id="3" name="Text Placeholder 2">
            <a:extLst>
              <a:ext uri="{FF2B5EF4-FFF2-40B4-BE49-F238E27FC236}">
                <a16:creationId xmlns:a16="http://schemas.microsoft.com/office/drawing/2014/main" id="{C4175F7C-EFC5-6253-06E9-2F6F1E3D2C76}"/>
              </a:ext>
            </a:extLst>
          </p:cNvPr>
          <p:cNvSpPr>
            <a:spLocks noGrp="1"/>
          </p:cNvSpPr>
          <p:nvPr>
            <p:ph type="body" idx="1"/>
          </p:nvPr>
        </p:nvSpPr>
        <p:spPr>
          <a:xfrm>
            <a:off x="415600" y="1722066"/>
            <a:ext cx="11360800" cy="4555200"/>
          </a:xfrm>
        </p:spPr>
        <p:txBody>
          <a:bodyPr/>
          <a:lstStyle/>
          <a:p>
            <a:r>
              <a:rPr lang="en-US" dirty="0"/>
              <a:t>‘Confidentiality’, ‘ Integrity’, and ‘ Availability’ (The term ‘Availability’ mentioned here is not related to the term ‘Availability’ mentioned under the ‘Maintainability’ section) are the three major measures of information security. </a:t>
            </a:r>
          </a:p>
          <a:p>
            <a:r>
              <a:rPr lang="en-US" dirty="0"/>
              <a:t>Confidentiality deals with the protection of data and application from unauthorized disclosure. </a:t>
            </a:r>
          </a:p>
          <a:p>
            <a:r>
              <a:rPr lang="en-US" dirty="0"/>
              <a:t>Integrity deals with the protection of data and application from unauthorized modification. </a:t>
            </a:r>
          </a:p>
          <a:p>
            <a:r>
              <a:rPr lang="en-US" dirty="0"/>
              <a:t>Availability deals with protection of data and application from unauthorized users.</a:t>
            </a:r>
            <a:endParaRPr lang="en-IN" dirty="0"/>
          </a:p>
        </p:txBody>
      </p:sp>
    </p:spTree>
    <p:extLst>
      <p:ext uri="{BB962C8B-B14F-4D97-AF65-F5344CB8AC3E}">
        <p14:creationId xmlns:p14="http://schemas.microsoft.com/office/powerpoint/2010/main" val="30409687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C247B-C91E-E9BB-D634-0FCD8C8FEA97}"/>
              </a:ext>
            </a:extLst>
          </p:cNvPr>
          <p:cNvSpPr>
            <a:spLocks noGrp="1"/>
          </p:cNvSpPr>
          <p:nvPr>
            <p:ph type="title"/>
          </p:nvPr>
        </p:nvSpPr>
        <p:spPr>
          <a:xfrm>
            <a:off x="415600" y="799845"/>
            <a:ext cx="11360800" cy="763600"/>
          </a:xfrm>
        </p:spPr>
        <p:txBody>
          <a:bodyPr>
            <a:normAutofit fontScale="90000"/>
          </a:bodyPr>
          <a:lstStyle/>
          <a:p>
            <a:r>
              <a:rPr lang="en-IN" dirty="0"/>
              <a:t>(6) Safety</a:t>
            </a:r>
            <a:br>
              <a:rPr lang="en-IN" dirty="0"/>
            </a:br>
            <a:endParaRPr lang="en-IN" dirty="0"/>
          </a:p>
        </p:txBody>
      </p:sp>
      <p:sp>
        <p:nvSpPr>
          <p:cNvPr id="3" name="Text Placeholder 2">
            <a:extLst>
              <a:ext uri="{FF2B5EF4-FFF2-40B4-BE49-F238E27FC236}">
                <a16:creationId xmlns:a16="http://schemas.microsoft.com/office/drawing/2014/main" id="{4990DBD5-3DAF-9089-41A0-FB608B425BC9}"/>
              </a:ext>
            </a:extLst>
          </p:cNvPr>
          <p:cNvSpPr>
            <a:spLocks noGrp="1"/>
          </p:cNvSpPr>
          <p:nvPr>
            <p:ph type="body" idx="1"/>
          </p:nvPr>
        </p:nvSpPr>
        <p:spPr>
          <a:xfrm>
            <a:off x="415600" y="1709433"/>
            <a:ext cx="11360800" cy="4555200"/>
          </a:xfrm>
        </p:spPr>
        <p:txBody>
          <a:bodyPr/>
          <a:lstStyle/>
          <a:p>
            <a:r>
              <a:rPr lang="en-US" dirty="0"/>
              <a:t>Safety deals with the possible damages that can happen to the operators, public and the environment due to the breakdown of an embedded system or due to the emission of radioactive or hazardous materials from the embedded products. </a:t>
            </a:r>
          </a:p>
          <a:p>
            <a:r>
              <a:rPr lang="en-US" dirty="0"/>
              <a:t>The breakdown of an embedded system may occur due to a hardware failure or a firmware failure. </a:t>
            </a:r>
          </a:p>
          <a:p>
            <a:r>
              <a:rPr lang="en-US" dirty="0"/>
              <a:t>Safety analysis is a must in product engineering to evaluate the anticipated damages and determine the best course of action to bring down the consequences of the damages to an acceptable level.</a:t>
            </a:r>
            <a:endParaRPr lang="en-IN" dirty="0"/>
          </a:p>
        </p:txBody>
      </p:sp>
    </p:spTree>
    <p:extLst>
      <p:ext uri="{BB962C8B-B14F-4D97-AF65-F5344CB8AC3E}">
        <p14:creationId xmlns:p14="http://schemas.microsoft.com/office/powerpoint/2010/main" val="34301952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784"/>
        <p:cNvGrpSpPr/>
        <p:nvPr/>
      </p:nvGrpSpPr>
      <p:grpSpPr>
        <a:xfrm>
          <a:off x="0" y="0"/>
          <a:ext cx="0" cy="0"/>
          <a:chOff x="0" y="0"/>
          <a:chExt cx="0" cy="0"/>
        </a:xfrm>
      </p:grpSpPr>
      <p:sp>
        <p:nvSpPr>
          <p:cNvPr id="2785" name="Google Shape;2785;p23"/>
          <p:cNvSpPr txBox="1">
            <a:spLocks noGrp="1"/>
          </p:cNvSpPr>
          <p:nvPr>
            <p:ph type="title"/>
          </p:nvPr>
        </p:nvSpPr>
        <p:spPr>
          <a:xfrm>
            <a:off x="494258" y="1222632"/>
            <a:ext cx="11360800" cy="763600"/>
          </a:xfrm>
          <a:prstGeom prst="rect">
            <a:avLst/>
          </a:prstGeom>
        </p:spPr>
        <p:txBody>
          <a:bodyPr spcFirstLastPara="1" vert="horz" wrap="square" lIns="121900" tIns="121900" rIns="121900" bIns="121900" rtlCol="0" anchor="t" anchorCtr="0">
            <a:normAutofit fontScale="90000"/>
          </a:bodyPr>
          <a:lstStyle/>
          <a:p>
            <a:r>
              <a:rPr lang="en-IN" dirty="0"/>
              <a:t>Non-Operational Quality Attributes</a:t>
            </a:r>
            <a:endParaRPr dirty="0"/>
          </a:p>
        </p:txBody>
      </p:sp>
      <p:sp>
        <p:nvSpPr>
          <p:cNvPr id="2786" name="Google Shape;2786;p23"/>
          <p:cNvSpPr txBox="1">
            <a:spLocks noGrp="1"/>
          </p:cNvSpPr>
          <p:nvPr>
            <p:ph type="body" idx="1"/>
          </p:nvPr>
        </p:nvSpPr>
        <p:spPr>
          <a:xfrm>
            <a:off x="494258" y="2302800"/>
            <a:ext cx="11360800" cy="3635884"/>
          </a:xfrm>
          <a:prstGeom prst="rect">
            <a:avLst/>
          </a:prstGeom>
        </p:spPr>
        <p:txBody>
          <a:bodyPr spcFirstLastPara="1" vert="horz" wrap="square" lIns="121900" tIns="121900" rIns="121900" bIns="121900" rtlCol="0" anchor="t" anchorCtr="0">
            <a:normAutofit/>
          </a:bodyPr>
          <a:lstStyle/>
          <a:p>
            <a:pPr marL="0" indent="0">
              <a:buNone/>
            </a:pPr>
            <a:r>
              <a:rPr lang="en-IN" dirty="0"/>
              <a:t>(1) Testability &amp; Debug-ability</a:t>
            </a:r>
            <a:endParaRPr dirty="0"/>
          </a:p>
          <a:p>
            <a:pPr marL="0" indent="0">
              <a:spcBef>
                <a:spcPts val="1600"/>
              </a:spcBef>
              <a:buNone/>
            </a:pPr>
            <a:r>
              <a:rPr lang="en-IN" dirty="0"/>
              <a:t>(2) Evolvability</a:t>
            </a:r>
            <a:endParaRPr dirty="0"/>
          </a:p>
          <a:p>
            <a:pPr marL="0" indent="0">
              <a:spcBef>
                <a:spcPts val="1600"/>
              </a:spcBef>
              <a:buNone/>
            </a:pPr>
            <a:r>
              <a:rPr lang="en-IN" dirty="0"/>
              <a:t>(3) Portability</a:t>
            </a:r>
            <a:endParaRPr dirty="0"/>
          </a:p>
          <a:p>
            <a:pPr marL="0" indent="0">
              <a:spcBef>
                <a:spcPts val="1600"/>
              </a:spcBef>
              <a:buNone/>
            </a:pPr>
            <a:r>
              <a:rPr lang="en-IN" dirty="0"/>
              <a:t>(4) Time to prototype and market</a:t>
            </a:r>
          </a:p>
          <a:p>
            <a:pPr marL="0" indent="0">
              <a:spcBef>
                <a:spcPts val="1600"/>
              </a:spcBef>
              <a:buNone/>
            </a:pPr>
            <a:r>
              <a:rPr lang="en-IN" dirty="0"/>
              <a:t>(5) Per unit and total cost.</a:t>
            </a:r>
            <a:endParaRP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1BC5C-2795-7816-D71E-67A6D39D9653}"/>
              </a:ext>
            </a:extLst>
          </p:cNvPr>
          <p:cNvSpPr>
            <a:spLocks noGrp="1"/>
          </p:cNvSpPr>
          <p:nvPr>
            <p:ph type="title"/>
          </p:nvPr>
        </p:nvSpPr>
        <p:spPr/>
        <p:txBody>
          <a:bodyPr>
            <a:normAutofit fontScale="90000"/>
          </a:bodyPr>
          <a:lstStyle/>
          <a:p>
            <a:r>
              <a:rPr lang="en-IN" dirty="0"/>
              <a:t>(1) Testability &amp; Debug-ability</a:t>
            </a:r>
            <a:br>
              <a:rPr lang="en-IN" dirty="0"/>
            </a:br>
            <a:endParaRPr lang="en-IN" dirty="0"/>
          </a:p>
        </p:txBody>
      </p:sp>
      <p:sp>
        <p:nvSpPr>
          <p:cNvPr id="3" name="Text Placeholder 2">
            <a:extLst>
              <a:ext uri="{FF2B5EF4-FFF2-40B4-BE49-F238E27FC236}">
                <a16:creationId xmlns:a16="http://schemas.microsoft.com/office/drawing/2014/main" id="{D535529E-ACDF-1B46-B4DC-31E00438CD62}"/>
              </a:ext>
            </a:extLst>
          </p:cNvPr>
          <p:cNvSpPr>
            <a:spLocks noGrp="1"/>
          </p:cNvSpPr>
          <p:nvPr>
            <p:ph type="body" idx="1"/>
          </p:nvPr>
        </p:nvSpPr>
        <p:spPr/>
        <p:txBody>
          <a:bodyPr/>
          <a:lstStyle/>
          <a:p>
            <a:r>
              <a:rPr lang="en-US" dirty="0"/>
              <a:t>Testability deals with how easily one can test the design, application and by which means he/she can test it. </a:t>
            </a:r>
          </a:p>
          <a:p>
            <a:r>
              <a:rPr lang="en-US" dirty="0"/>
              <a:t>For an embedded product, testability is applicable to both the embedded hardware and firmware.</a:t>
            </a:r>
          </a:p>
          <a:p>
            <a:endParaRPr lang="en-US" dirty="0"/>
          </a:p>
          <a:p>
            <a:r>
              <a:rPr lang="en-US" dirty="0"/>
              <a:t>Debug-ability is a means of debugging the product as such for figuring out the probable sources that create unexpected behavior in the total system. </a:t>
            </a:r>
          </a:p>
          <a:p>
            <a:r>
              <a:rPr lang="en-US" dirty="0"/>
              <a:t>Debug-ability has two aspects in the embedded system development context, namely, hardware level debugging and firmware level debugging.</a:t>
            </a:r>
            <a:endParaRPr lang="en-IN" dirty="0"/>
          </a:p>
        </p:txBody>
      </p:sp>
    </p:spTree>
    <p:extLst>
      <p:ext uri="{BB962C8B-B14F-4D97-AF65-F5344CB8AC3E}">
        <p14:creationId xmlns:p14="http://schemas.microsoft.com/office/powerpoint/2010/main" val="21640316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304CD-434B-C183-A0DD-E3E124900EEF}"/>
              </a:ext>
            </a:extLst>
          </p:cNvPr>
          <p:cNvSpPr>
            <a:spLocks noGrp="1"/>
          </p:cNvSpPr>
          <p:nvPr>
            <p:ph type="title"/>
          </p:nvPr>
        </p:nvSpPr>
        <p:spPr>
          <a:xfrm>
            <a:off x="415600" y="849005"/>
            <a:ext cx="11360800" cy="763600"/>
          </a:xfrm>
        </p:spPr>
        <p:txBody>
          <a:bodyPr>
            <a:normAutofit fontScale="90000"/>
          </a:bodyPr>
          <a:lstStyle/>
          <a:p>
            <a:r>
              <a:rPr lang="en-IN" dirty="0"/>
              <a:t>(2) Evolvability</a:t>
            </a:r>
            <a:br>
              <a:rPr lang="en-IN" dirty="0"/>
            </a:br>
            <a:endParaRPr lang="en-IN" dirty="0"/>
          </a:p>
        </p:txBody>
      </p:sp>
      <p:sp>
        <p:nvSpPr>
          <p:cNvPr id="3" name="Text Placeholder 2">
            <a:extLst>
              <a:ext uri="{FF2B5EF4-FFF2-40B4-BE49-F238E27FC236}">
                <a16:creationId xmlns:a16="http://schemas.microsoft.com/office/drawing/2014/main" id="{09EA3406-C222-F2A4-B2A1-C95FC12D998D}"/>
              </a:ext>
            </a:extLst>
          </p:cNvPr>
          <p:cNvSpPr>
            <a:spLocks noGrp="1"/>
          </p:cNvSpPr>
          <p:nvPr>
            <p:ph type="body" idx="1"/>
          </p:nvPr>
        </p:nvSpPr>
        <p:spPr>
          <a:xfrm>
            <a:off x="415600" y="1709433"/>
            <a:ext cx="11360800" cy="4555200"/>
          </a:xfrm>
        </p:spPr>
        <p:txBody>
          <a:bodyPr/>
          <a:lstStyle/>
          <a:p>
            <a:r>
              <a:rPr lang="en-US" dirty="0"/>
              <a:t>Evolvability is a term which is closely related to Biology. Evolvability is referred as the non-heritable variation. </a:t>
            </a:r>
          </a:p>
          <a:p>
            <a:r>
              <a:rPr lang="en-US" dirty="0"/>
              <a:t>For an embedded system, the quality attribute ‘Evolvability’ refers to the ease with which the embedded product (including firmware and hardware) can be modified to take advantage of new firmware or hardware technologies.</a:t>
            </a:r>
            <a:endParaRPr lang="en-IN" dirty="0"/>
          </a:p>
        </p:txBody>
      </p:sp>
    </p:spTree>
    <p:extLst>
      <p:ext uri="{BB962C8B-B14F-4D97-AF65-F5344CB8AC3E}">
        <p14:creationId xmlns:p14="http://schemas.microsoft.com/office/powerpoint/2010/main" val="14268755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4442F-4114-EDD8-E149-4268D995DFA1}"/>
              </a:ext>
            </a:extLst>
          </p:cNvPr>
          <p:cNvSpPr>
            <a:spLocks noGrp="1"/>
          </p:cNvSpPr>
          <p:nvPr>
            <p:ph type="title"/>
          </p:nvPr>
        </p:nvSpPr>
        <p:spPr>
          <a:xfrm>
            <a:off x="415600" y="766167"/>
            <a:ext cx="11360800" cy="763600"/>
          </a:xfrm>
        </p:spPr>
        <p:txBody>
          <a:bodyPr>
            <a:normAutofit fontScale="90000"/>
          </a:bodyPr>
          <a:lstStyle/>
          <a:p>
            <a:r>
              <a:rPr lang="en-IN" dirty="0"/>
              <a:t>(3) Portability</a:t>
            </a:r>
            <a:br>
              <a:rPr lang="en-IN" dirty="0"/>
            </a:br>
            <a:endParaRPr lang="en-IN" dirty="0"/>
          </a:p>
        </p:txBody>
      </p:sp>
      <p:sp>
        <p:nvSpPr>
          <p:cNvPr id="3" name="Text Placeholder 2">
            <a:extLst>
              <a:ext uri="{FF2B5EF4-FFF2-40B4-BE49-F238E27FC236}">
                <a16:creationId xmlns:a16="http://schemas.microsoft.com/office/drawing/2014/main" id="{4C330D0E-B2A2-6D8D-C311-C4BDFC348126}"/>
              </a:ext>
            </a:extLst>
          </p:cNvPr>
          <p:cNvSpPr>
            <a:spLocks noGrp="1"/>
          </p:cNvSpPr>
          <p:nvPr>
            <p:ph type="body" idx="1"/>
          </p:nvPr>
        </p:nvSpPr>
        <p:spPr>
          <a:xfrm>
            <a:off x="415600" y="1890594"/>
            <a:ext cx="11360800" cy="4555200"/>
          </a:xfrm>
        </p:spPr>
        <p:txBody>
          <a:bodyPr/>
          <a:lstStyle/>
          <a:p>
            <a:r>
              <a:rPr lang="en-US" dirty="0"/>
              <a:t>Portability is a measure of ‘system independence’. </a:t>
            </a:r>
          </a:p>
          <a:p>
            <a:r>
              <a:rPr lang="en-US" dirty="0"/>
              <a:t>An embedded product is said to be portable if the product is capable of functioning ‘as such’ in various environments, target processors/controllers and embedded operating systems. </a:t>
            </a:r>
          </a:p>
          <a:p>
            <a:r>
              <a:rPr lang="en-US" dirty="0"/>
              <a:t>The ease with which an embedded product can be ported on to a new platform is a direct measure of the re-work required.</a:t>
            </a:r>
            <a:endParaRPr lang="en-IN" dirty="0"/>
          </a:p>
        </p:txBody>
      </p:sp>
    </p:spTree>
    <p:extLst>
      <p:ext uri="{BB962C8B-B14F-4D97-AF65-F5344CB8AC3E}">
        <p14:creationId xmlns:p14="http://schemas.microsoft.com/office/powerpoint/2010/main" val="23073221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90A85-CDED-DEB8-BFE7-0BA75F72836E}"/>
              </a:ext>
            </a:extLst>
          </p:cNvPr>
          <p:cNvSpPr>
            <a:spLocks noGrp="1"/>
          </p:cNvSpPr>
          <p:nvPr>
            <p:ph type="title"/>
          </p:nvPr>
        </p:nvSpPr>
        <p:spPr>
          <a:xfrm>
            <a:off x="415600" y="780180"/>
            <a:ext cx="11360800" cy="763600"/>
          </a:xfrm>
        </p:spPr>
        <p:txBody>
          <a:bodyPr>
            <a:normAutofit fontScale="90000"/>
          </a:bodyPr>
          <a:lstStyle/>
          <a:p>
            <a:r>
              <a:rPr lang="en-IN" dirty="0"/>
              <a:t>(4) Time to prototype and market</a:t>
            </a:r>
            <a:br>
              <a:rPr lang="en-IN" dirty="0"/>
            </a:br>
            <a:endParaRPr lang="en-IN" dirty="0"/>
          </a:p>
        </p:txBody>
      </p:sp>
      <p:sp>
        <p:nvSpPr>
          <p:cNvPr id="3" name="Text Placeholder 2">
            <a:extLst>
              <a:ext uri="{FF2B5EF4-FFF2-40B4-BE49-F238E27FC236}">
                <a16:creationId xmlns:a16="http://schemas.microsoft.com/office/drawing/2014/main" id="{7D9FD33C-D40D-95C0-8D06-C3E934782709}"/>
              </a:ext>
            </a:extLst>
          </p:cNvPr>
          <p:cNvSpPr>
            <a:spLocks noGrp="1"/>
          </p:cNvSpPr>
          <p:nvPr>
            <p:ph type="body" idx="1"/>
          </p:nvPr>
        </p:nvSpPr>
        <p:spPr>
          <a:xfrm>
            <a:off x="415600" y="1620942"/>
            <a:ext cx="11360800" cy="4555200"/>
          </a:xfrm>
        </p:spPr>
        <p:txBody>
          <a:bodyPr>
            <a:normAutofit fontScale="92500"/>
          </a:bodyPr>
          <a:lstStyle/>
          <a:p>
            <a:r>
              <a:rPr lang="en-US" dirty="0"/>
              <a:t>Time-to-market is the time elapsed between the conceptualization of a product and the time at which the product is ready for selling (for commercial product) or use (for non-commercial products). </a:t>
            </a:r>
          </a:p>
          <a:p>
            <a:r>
              <a:rPr lang="en-US" dirty="0"/>
              <a:t>The commercial embedded product market is highly competitive and time to market the product is a critical factor in the success of a commercial embedded product.</a:t>
            </a:r>
          </a:p>
          <a:p>
            <a:endParaRPr lang="en-US" dirty="0"/>
          </a:p>
          <a:p>
            <a:r>
              <a:rPr lang="en-US" dirty="0"/>
              <a:t>Product prototyping helps a lot in reducing time-to-market. </a:t>
            </a:r>
          </a:p>
          <a:p>
            <a:r>
              <a:rPr lang="en-US" dirty="0"/>
              <a:t>Whenever you have a product idea, you may not be certain about the feasibility of the idea. </a:t>
            </a:r>
          </a:p>
          <a:p>
            <a:r>
              <a:rPr lang="en-US" dirty="0"/>
              <a:t>Prototyping is an informal kind of rapid product development in which the important features of the product under consideration are developed.</a:t>
            </a:r>
            <a:endParaRPr lang="en-IN" dirty="0"/>
          </a:p>
        </p:txBody>
      </p:sp>
    </p:spTree>
    <p:extLst>
      <p:ext uri="{BB962C8B-B14F-4D97-AF65-F5344CB8AC3E}">
        <p14:creationId xmlns:p14="http://schemas.microsoft.com/office/powerpoint/2010/main" val="18053755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313DC-AE57-13FC-2D0A-36A67C542B57}"/>
              </a:ext>
            </a:extLst>
          </p:cNvPr>
          <p:cNvSpPr>
            <a:spLocks noGrp="1"/>
          </p:cNvSpPr>
          <p:nvPr>
            <p:ph type="title"/>
          </p:nvPr>
        </p:nvSpPr>
        <p:spPr>
          <a:xfrm>
            <a:off x="415600" y="766167"/>
            <a:ext cx="11360800" cy="763600"/>
          </a:xfrm>
        </p:spPr>
        <p:txBody>
          <a:bodyPr>
            <a:normAutofit fontScale="90000"/>
          </a:bodyPr>
          <a:lstStyle/>
          <a:p>
            <a:r>
              <a:rPr lang="en-US" dirty="0"/>
              <a:t>(5) Per unit and total cost.</a:t>
            </a:r>
            <a:br>
              <a:rPr lang="en-US" dirty="0"/>
            </a:br>
            <a:endParaRPr lang="en-IN" dirty="0"/>
          </a:p>
        </p:txBody>
      </p:sp>
      <p:sp>
        <p:nvSpPr>
          <p:cNvPr id="3" name="Text Placeholder 2">
            <a:extLst>
              <a:ext uri="{FF2B5EF4-FFF2-40B4-BE49-F238E27FC236}">
                <a16:creationId xmlns:a16="http://schemas.microsoft.com/office/drawing/2014/main" id="{904D044A-DA8D-7E1B-D449-53F7A6A1A2C1}"/>
              </a:ext>
            </a:extLst>
          </p:cNvPr>
          <p:cNvSpPr>
            <a:spLocks noGrp="1"/>
          </p:cNvSpPr>
          <p:nvPr>
            <p:ph type="body" idx="1"/>
          </p:nvPr>
        </p:nvSpPr>
        <p:spPr>
          <a:xfrm>
            <a:off x="415600" y="1713613"/>
            <a:ext cx="11360800" cy="4555200"/>
          </a:xfrm>
        </p:spPr>
        <p:txBody>
          <a:bodyPr/>
          <a:lstStyle/>
          <a:p>
            <a:r>
              <a:rPr lang="en-US" dirty="0"/>
              <a:t>Cost is a factor which is closely monitored by both end user (those who buy the product) and product manufacturer (those who build the product). </a:t>
            </a:r>
          </a:p>
          <a:p>
            <a:r>
              <a:rPr lang="en-US" dirty="0"/>
              <a:t>Cost is a highly sensitive factor for commercial products.</a:t>
            </a:r>
          </a:p>
          <a:p>
            <a:r>
              <a:rPr lang="en-US" dirty="0"/>
              <a:t>Proper market study and cost benefit analysis should be carried out before taking a decision on the per-unit cost of the embedded product.</a:t>
            </a:r>
          </a:p>
          <a:p>
            <a:r>
              <a:rPr lang="en-US" dirty="0"/>
              <a:t>From a designer/product development company perspective the ultimate aim of a product is to generate marginal profit. </a:t>
            </a:r>
          </a:p>
          <a:p>
            <a:r>
              <a:rPr lang="en-US" dirty="0"/>
              <a:t>So the budget and total system cost should be properly balanced to provide a marginal profit.</a:t>
            </a:r>
          </a:p>
          <a:p>
            <a:endParaRPr lang="en-IN" dirty="0"/>
          </a:p>
        </p:txBody>
      </p:sp>
    </p:spTree>
    <p:extLst>
      <p:ext uri="{BB962C8B-B14F-4D97-AF65-F5344CB8AC3E}">
        <p14:creationId xmlns:p14="http://schemas.microsoft.com/office/powerpoint/2010/main" val="2175230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3140E-0A6A-9A80-7196-2E71ECBD17FC}"/>
              </a:ext>
            </a:extLst>
          </p:cNvPr>
          <p:cNvSpPr>
            <a:spLocks noGrp="1"/>
          </p:cNvSpPr>
          <p:nvPr>
            <p:ph type="title"/>
          </p:nvPr>
        </p:nvSpPr>
        <p:spPr>
          <a:xfrm>
            <a:off x="415600" y="766167"/>
            <a:ext cx="11360800" cy="763600"/>
          </a:xfrm>
        </p:spPr>
        <p:txBody>
          <a:bodyPr>
            <a:normAutofit fontScale="90000"/>
          </a:bodyPr>
          <a:lstStyle/>
          <a:p>
            <a:r>
              <a:rPr lang="en-US" dirty="0"/>
              <a:t>The Product Life Cycle (PLC)</a:t>
            </a:r>
            <a:endParaRPr lang="en-IN" dirty="0"/>
          </a:p>
        </p:txBody>
      </p:sp>
      <p:sp>
        <p:nvSpPr>
          <p:cNvPr id="3" name="Text Placeholder 2">
            <a:extLst>
              <a:ext uri="{FF2B5EF4-FFF2-40B4-BE49-F238E27FC236}">
                <a16:creationId xmlns:a16="http://schemas.microsoft.com/office/drawing/2014/main" id="{7A7BE5B3-F4E2-DCE1-C76A-714FDC4C5191}"/>
              </a:ext>
            </a:extLst>
          </p:cNvPr>
          <p:cNvSpPr>
            <a:spLocks noGrp="1"/>
          </p:cNvSpPr>
          <p:nvPr>
            <p:ph type="body" idx="1"/>
          </p:nvPr>
        </p:nvSpPr>
        <p:spPr/>
        <p:txBody>
          <a:bodyPr/>
          <a:lstStyle/>
          <a:p>
            <a:r>
              <a:rPr lang="en-US" dirty="0"/>
              <a:t>Every embedded product has a product life cycle which starts with the design and development phase. </a:t>
            </a:r>
          </a:p>
          <a:p>
            <a:r>
              <a:rPr lang="en-US" dirty="0"/>
              <a:t>The product idea generation, prototyping, Roadmap definition, actual product design and development are the activities carried out during this phase. </a:t>
            </a:r>
          </a:p>
          <a:p>
            <a:r>
              <a:rPr lang="en-US" dirty="0"/>
              <a:t>During the design and development phase there is only investment and no returns. </a:t>
            </a:r>
          </a:p>
          <a:p>
            <a:r>
              <a:rPr lang="en-US" dirty="0"/>
              <a:t>Once the product is ready to sell, it is introduced to the market. </a:t>
            </a:r>
          </a:p>
          <a:p>
            <a:r>
              <a:rPr lang="en-US" dirty="0"/>
              <a:t>This stage is known as the Product Introduction stage.</a:t>
            </a:r>
          </a:p>
          <a:p>
            <a:endParaRPr lang="en-IN" dirty="0"/>
          </a:p>
        </p:txBody>
      </p:sp>
    </p:spTree>
    <p:extLst>
      <p:ext uri="{BB962C8B-B14F-4D97-AF65-F5344CB8AC3E}">
        <p14:creationId xmlns:p14="http://schemas.microsoft.com/office/powerpoint/2010/main" val="23215274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790"/>
        <p:cNvGrpSpPr/>
        <p:nvPr/>
      </p:nvGrpSpPr>
      <p:grpSpPr>
        <a:xfrm>
          <a:off x="0" y="0"/>
          <a:ext cx="0" cy="0"/>
          <a:chOff x="0" y="0"/>
          <a:chExt cx="0" cy="0"/>
        </a:xfrm>
      </p:grpSpPr>
      <p:sp>
        <p:nvSpPr>
          <p:cNvPr id="2791" name="Google Shape;2791;p24"/>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IN"/>
              <a:t>The Product Life Cycle (PLC)</a:t>
            </a:r>
            <a:endParaRPr/>
          </a:p>
        </p:txBody>
      </p:sp>
      <p:pic>
        <p:nvPicPr>
          <p:cNvPr id="2792" name="Google Shape;2792;p24"/>
          <p:cNvPicPr preferRelativeResize="0"/>
          <p:nvPr/>
        </p:nvPicPr>
        <p:blipFill>
          <a:blip r:embed="rId3">
            <a:alphaModFix/>
          </a:blip>
          <a:stretch>
            <a:fillRect/>
          </a:stretch>
        </p:blipFill>
        <p:spPr>
          <a:xfrm>
            <a:off x="631065" y="1604457"/>
            <a:ext cx="11145335" cy="5096399"/>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42EE78C-017A-BC07-C0B8-08843968B976}"/>
              </a:ext>
            </a:extLst>
          </p:cNvPr>
          <p:cNvSpPr>
            <a:spLocks noGrp="1"/>
          </p:cNvSpPr>
          <p:nvPr>
            <p:ph type="body" idx="1"/>
          </p:nvPr>
        </p:nvSpPr>
        <p:spPr>
          <a:xfrm>
            <a:off x="553252" y="1222001"/>
            <a:ext cx="11360800" cy="4555200"/>
          </a:xfrm>
        </p:spPr>
        <p:txBody>
          <a:bodyPr/>
          <a:lstStyle/>
          <a:p>
            <a:r>
              <a:rPr lang="en-US" dirty="0"/>
              <a:t>In the growth phase, the product grabs high market share. </a:t>
            </a:r>
          </a:p>
          <a:p>
            <a:r>
              <a:rPr lang="en-US" dirty="0"/>
              <a:t>During the maturity phase, the growth and sales will be steady and the revenue reaches at its peak. </a:t>
            </a:r>
          </a:p>
          <a:p>
            <a:r>
              <a:rPr lang="en-US" dirty="0"/>
              <a:t>The Product Retirement/Decline phase starts with the drop in sales volume, market share and revenue.</a:t>
            </a:r>
          </a:p>
          <a:p>
            <a:r>
              <a:rPr lang="en-US" dirty="0"/>
              <a:t>The decline happens due to various reasons like competition from similar product with enhanced features or technology changes, etc. </a:t>
            </a:r>
          </a:p>
          <a:p>
            <a:r>
              <a:rPr lang="en-US" dirty="0"/>
              <a:t>At some point of the decline stage, the manufacturer announces discontinuing of the product.</a:t>
            </a:r>
            <a:endParaRPr lang="en-IN" dirty="0"/>
          </a:p>
        </p:txBody>
      </p:sp>
    </p:spTree>
    <p:extLst>
      <p:ext uri="{BB962C8B-B14F-4D97-AF65-F5344CB8AC3E}">
        <p14:creationId xmlns:p14="http://schemas.microsoft.com/office/powerpoint/2010/main" val="3755998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4626A-ECF4-3FC9-B26E-F0EA7F2C04E4}"/>
              </a:ext>
            </a:extLst>
          </p:cNvPr>
          <p:cNvSpPr>
            <a:spLocks noGrp="1"/>
          </p:cNvSpPr>
          <p:nvPr>
            <p:ph type="title"/>
          </p:nvPr>
        </p:nvSpPr>
        <p:spPr/>
        <p:txBody>
          <a:bodyPr/>
          <a:lstStyle/>
          <a:p>
            <a:r>
              <a:rPr lang="en-US" dirty="0"/>
              <a:t>Embedded Systems—Application- and Domain-Specific</a:t>
            </a:r>
            <a:endParaRPr lang="en-IN" dirty="0"/>
          </a:p>
        </p:txBody>
      </p:sp>
    </p:spTree>
    <p:extLst>
      <p:ext uri="{BB962C8B-B14F-4D97-AF65-F5344CB8AC3E}">
        <p14:creationId xmlns:p14="http://schemas.microsoft.com/office/powerpoint/2010/main" val="23344905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86183-5EFD-B307-DDAB-D5065CFBAF96}"/>
              </a:ext>
            </a:extLst>
          </p:cNvPr>
          <p:cNvSpPr>
            <a:spLocks noGrp="1"/>
          </p:cNvSpPr>
          <p:nvPr>
            <p:ph type="title"/>
          </p:nvPr>
        </p:nvSpPr>
        <p:spPr>
          <a:xfrm>
            <a:off x="838200" y="1054151"/>
            <a:ext cx="10515600" cy="1325563"/>
          </a:xfrm>
        </p:spPr>
        <p:txBody>
          <a:bodyPr/>
          <a:lstStyle/>
          <a:p>
            <a:r>
              <a:rPr lang="en-US" dirty="0"/>
              <a:t>WASHING MACHINE—APPLICATION-SPECIFIC EMBEDDED SYSTEM</a:t>
            </a:r>
            <a:endParaRPr lang="en-IN" dirty="0"/>
          </a:p>
        </p:txBody>
      </p:sp>
      <p:sp>
        <p:nvSpPr>
          <p:cNvPr id="3" name="Content Placeholder 2">
            <a:extLst>
              <a:ext uri="{FF2B5EF4-FFF2-40B4-BE49-F238E27FC236}">
                <a16:creationId xmlns:a16="http://schemas.microsoft.com/office/drawing/2014/main" id="{3F2D2A8F-CCBB-B6B9-2169-FFC638C1B5F2}"/>
              </a:ext>
            </a:extLst>
          </p:cNvPr>
          <p:cNvSpPr>
            <a:spLocks noGrp="1"/>
          </p:cNvSpPr>
          <p:nvPr>
            <p:ph idx="1"/>
          </p:nvPr>
        </p:nvSpPr>
        <p:spPr/>
        <p:txBody>
          <a:bodyPr/>
          <a:lstStyle/>
          <a:p>
            <a:pPr algn="l"/>
            <a:endParaRPr lang="en-IN" sz="1100" b="0" i="0" u="none" strike="noStrike" baseline="0" dirty="0">
              <a:solidFill>
                <a:srgbClr val="000000"/>
              </a:solidFill>
              <a:latin typeface="Arial" panose="020B0604020202020204" pitchFamily="34" charset="0"/>
            </a:endParaRPr>
          </a:p>
          <a:p>
            <a:endParaRPr lang="en-IN" dirty="0"/>
          </a:p>
        </p:txBody>
      </p:sp>
      <p:pic>
        <p:nvPicPr>
          <p:cNvPr id="5" name="Picture 4">
            <a:extLst>
              <a:ext uri="{FF2B5EF4-FFF2-40B4-BE49-F238E27FC236}">
                <a16:creationId xmlns:a16="http://schemas.microsoft.com/office/drawing/2014/main" id="{ACDF6409-58C2-EF71-7E35-018178A4C5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62090" y="1716931"/>
            <a:ext cx="4353394" cy="4965591"/>
          </a:xfrm>
          <a:prstGeom prst="rect">
            <a:avLst/>
          </a:prstGeom>
        </p:spPr>
      </p:pic>
    </p:spTree>
    <p:extLst>
      <p:ext uri="{BB962C8B-B14F-4D97-AF65-F5344CB8AC3E}">
        <p14:creationId xmlns:p14="http://schemas.microsoft.com/office/powerpoint/2010/main" val="28247866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5087ED-DA6E-5C27-DFE2-8D367290EFBB}"/>
              </a:ext>
            </a:extLst>
          </p:cNvPr>
          <p:cNvSpPr>
            <a:spLocks noGrp="1"/>
          </p:cNvSpPr>
          <p:nvPr>
            <p:ph idx="1"/>
          </p:nvPr>
        </p:nvSpPr>
        <p:spPr>
          <a:xfrm>
            <a:off x="926691" y="1253330"/>
            <a:ext cx="10515600" cy="4537869"/>
          </a:xfrm>
        </p:spPr>
        <p:txBody>
          <a:bodyPr>
            <a:normAutofit fontScale="92500" lnSpcReduction="20000"/>
          </a:bodyPr>
          <a:lstStyle/>
          <a:p>
            <a:r>
              <a:rPr lang="en-US" dirty="0"/>
              <a:t>The actuator part of the washing machine consists of a motorized agitator, tumble tub, water drawing pump and inlet valve to control the flow of water into the unit. </a:t>
            </a:r>
          </a:p>
          <a:p>
            <a:r>
              <a:rPr lang="en-US" dirty="0"/>
              <a:t>The sensor part consists of the water temperature sensor, level sensor, etc. </a:t>
            </a:r>
          </a:p>
          <a:p>
            <a:r>
              <a:rPr lang="en-US" dirty="0"/>
              <a:t>The control part contains a microprocessor/controller based board with interfaces to the sensors and actuators. </a:t>
            </a:r>
          </a:p>
          <a:p>
            <a:r>
              <a:rPr lang="en-US" dirty="0"/>
              <a:t>The sensor data is fed back to the control unit and the control unit generates the necessary actuator outputs. </a:t>
            </a:r>
          </a:p>
          <a:p>
            <a:r>
              <a:rPr lang="en-US" dirty="0"/>
              <a:t>The control unit also provides connectivity to user interfaces like keypad for setting the washing time, selecting the type of material to be washed like light, medium, heavy duty, etc. </a:t>
            </a:r>
          </a:p>
          <a:p>
            <a:r>
              <a:rPr lang="en-US" dirty="0"/>
              <a:t>User feedback is reflected through the display unit and LEDs connected to the control board.</a:t>
            </a:r>
            <a:endParaRPr lang="en-IN" dirty="0"/>
          </a:p>
        </p:txBody>
      </p:sp>
    </p:spTree>
    <p:extLst>
      <p:ext uri="{BB962C8B-B14F-4D97-AF65-F5344CB8AC3E}">
        <p14:creationId xmlns:p14="http://schemas.microsoft.com/office/powerpoint/2010/main" val="10520520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5BE6B08-FAE2-0758-0F87-03D707BBFF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4982" y="145915"/>
            <a:ext cx="9291750" cy="6566170"/>
          </a:xfrm>
          <a:prstGeom prst="rect">
            <a:avLst/>
          </a:prstGeom>
        </p:spPr>
      </p:pic>
    </p:spTree>
    <p:extLst>
      <p:ext uri="{BB962C8B-B14F-4D97-AF65-F5344CB8AC3E}">
        <p14:creationId xmlns:p14="http://schemas.microsoft.com/office/powerpoint/2010/main" val="21879247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3CFDE-6A59-D4ED-F6FF-E167163E44DC}"/>
              </a:ext>
            </a:extLst>
          </p:cNvPr>
          <p:cNvSpPr>
            <a:spLocks noGrp="1"/>
          </p:cNvSpPr>
          <p:nvPr>
            <p:ph type="title"/>
          </p:nvPr>
        </p:nvSpPr>
        <p:spPr>
          <a:xfrm>
            <a:off x="838200" y="866570"/>
            <a:ext cx="10515600" cy="1325563"/>
          </a:xfrm>
        </p:spPr>
        <p:txBody>
          <a:bodyPr/>
          <a:lstStyle/>
          <a:p>
            <a:r>
              <a:rPr lang="en-US" dirty="0"/>
              <a:t>AUTOMOTIVE–DOMAIN SPECIFIC EXAMPLES OF EMBEDDED SYSTEM</a:t>
            </a:r>
            <a:endParaRPr lang="en-IN" dirty="0"/>
          </a:p>
        </p:txBody>
      </p:sp>
      <p:sp>
        <p:nvSpPr>
          <p:cNvPr id="3" name="Content Placeholder 2">
            <a:extLst>
              <a:ext uri="{FF2B5EF4-FFF2-40B4-BE49-F238E27FC236}">
                <a16:creationId xmlns:a16="http://schemas.microsoft.com/office/drawing/2014/main" id="{5F65720C-71C9-43FC-B81F-F470295DA739}"/>
              </a:ext>
            </a:extLst>
          </p:cNvPr>
          <p:cNvSpPr>
            <a:spLocks noGrp="1"/>
          </p:cNvSpPr>
          <p:nvPr>
            <p:ph idx="1"/>
          </p:nvPr>
        </p:nvSpPr>
        <p:spPr>
          <a:xfrm>
            <a:off x="700548" y="2506662"/>
            <a:ext cx="10515600" cy="3363196"/>
          </a:xfrm>
        </p:spPr>
        <p:txBody>
          <a:bodyPr>
            <a:normAutofit lnSpcReduction="10000"/>
          </a:bodyPr>
          <a:lstStyle/>
          <a:p>
            <a:pPr algn="l"/>
            <a:r>
              <a:rPr lang="en-US" b="0" i="0" u="none" strike="noStrike" baseline="0" dirty="0">
                <a:latin typeface="Generic89-Regular"/>
              </a:rPr>
              <a:t>Automotive embedded systems are the one where electronics take control over the mechanical and electrical systems. </a:t>
            </a:r>
          </a:p>
          <a:p>
            <a:pPr algn="l"/>
            <a:r>
              <a:rPr lang="en-US" b="0" i="0" u="none" strike="noStrike" baseline="0" dirty="0">
                <a:latin typeface="Generic89-Regular"/>
              </a:rPr>
              <a:t>The presence of automotive embedded system in a vehicle varies from simple mirror and wiper controls to complex air bag controller and Anti-lock Brake Systems (ABS). </a:t>
            </a:r>
          </a:p>
          <a:p>
            <a:pPr algn="l"/>
            <a:r>
              <a:rPr lang="en-US" b="0" i="0" u="none" strike="noStrike" baseline="0" dirty="0">
                <a:latin typeface="Generic89-Regular"/>
              </a:rPr>
              <a:t>Automotive embedded systems are normally built around microcontrollers or DSPs or a hybrid of the two and are generally known as </a:t>
            </a:r>
            <a:r>
              <a:rPr lang="en-IN" b="0" i="0" u="none" strike="noStrike" baseline="0" dirty="0">
                <a:latin typeface="Generic89-Regular"/>
              </a:rPr>
              <a:t>Electronic Control Units (ECUs).</a:t>
            </a:r>
            <a:endParaRPr lang="en-IN" sz="4000" dirty="0"/>
          </a:p>
        </p:txBody>
      </p:sp>
    </p:spTree>
    <p:extLst>
      <p:ext uri="{BB962C8B-B14F-4D97-AF65-F5344CB8AC3E}">
        <p14:creationId xmlns:p14="http://schemas.microsoft.com/office/powerpoint/2010/main" val="19297688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D9CE849-6E60-9646-9DB6-9066B2EF81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607" y="232448"/>
            <a:ext cx="10361825" cy="6430999"/>
          </a:xfrm>
          <a:prstGeom prst="rect">
            <a:avLst/>
          </a:prstGeom>
        </p:spPr>
      </p:pic>
    </p:spTree>
    <p:extLst>
      <p:ext uri="{BB962C8B-B14F-4D97-AF65-F5344CB8AC3E}">
        <p14:creationId xmlns:p14="http://schemas.microsoft.com/office/powerpoint/2010/main" val="10942454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3AC45-0AE5-FFF8-B588-883DBBF2E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B91C1-608E-E34D-EC6F-2A701FC60C16}"/>
              </a:ext>
            </a:extLst>
          </p:cNvPr>
          <p:cNvSpPr>
            <a:spLocks noGrp="1"/>
          </p:cNvSpPr>
          <p:nvPr>
            <p:ph type="title"/>
          </p:nvPr>
        </p:nvSpPr>
        <p:spPr>
          <a:xfrm>
            <a:off x="838200" y="866570"/>
            <a:ext cx="10515600" cy="1325563"/>
          </a:xfrm>
        </p:spPr>
        <p:txBody>
          <a:bodyPr>
            <a:normAutofit/>
          </a:bodyPr>
          <a:lstStyle/>
          <a:p>
            <a:r>
              <a:rPr lang="en-US" dirty="0"/>
              <a:t>1. Inner Workings of Automotive Embedded Systems</a:t>
            </a:r>
            <a:endParaRPr lang="en-IN" dirty="0"/>
          </a:p>
        </p:txBody>
      </p:sp>
      <p:sp>
        <p:nvSpPr>
          <p:cNvPr id="3" name="Content Placeholder 2">
            <a:extLst>
              <a:ext uri="{FF2B5EF4-FFF2-40B4-BE49-F238E27FC236}">
                <a16:creationId xmlns:a16="http://schemas.microsoft.com/office/drawing/2014/main" id="{48FD1937-89C2-8ECC-4CD9-7DF481652740}"/>
              </a:ext>
            </a:extLst>
          </p:cNvPr>
          <p:cNvSpPr>
            <a:spLocks noGrp="1"/>
          </p:cNvSpPr>
          <p:nvPr>
            <p:ph idx="1"/>
          </p:nvPr>
        </p:nvSpPr>
        <p:spPr>
          <a:xfrm>
            <a:off x="838200" y="2399071"/>
            <a:ext cx="10515600" cy="3777892"/>
          </a:xfrm>
        </p:spPr>
        <p:txBody>
          <a:bodyPr/>
          <a:lstStyle/>
          <a:p>
            <a:r>
              <a:rPr lang="en-US" b="1" dirty="0"/>
              <a:t>High-speed Electronic Control Units (HECUs) </a:t>
            </a:r>
            <a:r>
              <a:rPr lang="en-US" dirty="0"/>
              <a:t>- High-speed electronic control units ( HECUs) are deployed in critical control units requiring fast response. They include fuel injection systems, antilock brake systems, engine control, electronic throttle, steering controls, transmission control unit and central control unit.</a:t>
            </a:r>
          </a:p>
          <a:p>
            <a:r>
              <a:rPr lang="en-US" b="1" dirty="0"/>
              <a:t>Low-speed Electronic Control Units (LECUs) </a:t>
            </a:r>
            <a:r>
              <a:rPr lang="en-US" dirty="0"/>
              <a:t>- Low-Speed Electronic Control Units ( LECUs) are deployed in applications where response time is not so critical.</a:t>
            </a:r>
            <a:endParaRPr lang="en-IN" dirty="0"/>
          </a:p>
        </p:txBody>
      </p:sp>
    </p:spTree>
    <p:extLst>
      <p:ext uri="{BB962C8B-B14F-4D97-AF65-F5344CB8AC3E}">
        <p14:creationId xmlns:p14="http://schemas.microsoft.com/office/powerpoint/2010/main" val="16799124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5CA51-6ED1-8E8C-7F69-D12F70CC95D7}"/>
              </a:ext>
            </a:extLst>
          </p:cNvPr>
          <p:cNvSpPr>
            <a:spLocks noGrp="1"/>
          </p:cNvSpPr>
          <p:nvPr>
            <p:ph type="title"/>
          </p:nvPr>
        </p:nvSpPr>
        <p:spPr/>
        <p:txBody>
          <a:bodyPr/>
          <a:lstStyle/>
          <a:p>
            <a:r>
              <a:rPr lang="en-IN" dirty="0"/>
              <a:t>2. Automotive Communication Buses</a:t>
            </a:r>
          </a:p>
        </p:txBody>
      </p:sp>
      <p:sp>
        <p:nvSpPr>
          <p:cNvPr id="3" name="Content Placeholder 2">
            <a:extLst>
              <a:ext uri="{FF2B5EF4-FFF2-40B4-BE49-F238E27FC236}">
                <a16:creationId xmlns:a16="http://schemas.microsoft.com/office/drawing/2014/main" id="{5B77D90E-154D-DE66-28E3-8A11AAE83E62}"/>
              </a:ext>
            </a:extLst>
          </p:cNvPr>
          <p:cNvSpPr>
            <a:spLocks noGrp="1"/>
          </p:cNvSpPr>
          <p:nvPr>
            <p:ph idx="1"/>
          </p:nvPr>
        </p:nvSpPr>
        <p:spPr/>
        <p:txBody>
          <a:bodyPr/>
          <a:lstStyle/>
          <a:p>
            <a:r>
              <a:rPr lang="en-IN" dirty="0"/>
              <a:t>Controller Area Network (CAN)</a:t>
            </a:r>
          </a:p>
          <a:p>
            <a:r>
              <a:rPr lang="en-IN" dirty="0"/>
              <a:t>Local Interconnect Network (LIN)</a:t>
            </a:r>
          </a:p>
          <a:p>
            <a:r>
              <a:rPr lang="en-IN" dirty="0"/>
              <a:t>Media Oriented System Transport (MOST) Bus</a:t>
            </a:r>
          </a:p>
        </p:txBody>
      </p:sp>
    </p:spTree>
    <p:extLst>
      <p:ext uri="{BB962C8B-B14F-4D97-AF65-F5344CB8AC3E}">
        <p14:creationId xmlns:p14="http://schemas.microsoft.com/office/powerpoint/2010/main" val="6679140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3FE8B-F0D6-F621-30B5-30E4F3E924ED}"/>
              </a:ext>
            </a:extLst>
          </p:cNvPr>
          <p:cNvSpPr>
            <a:spLocks noGrp="1"/>
          </p:cNvSpPr>
          <p:nvPr>
            <p:ph type="title"/>
          </p:nvPr>
        </p:nvSpPr>
        <p:spPr/>
        <p:txBody>
          <a:bodyPr/>
          <a:lstStyle/>
          <a:p>
            <a:r>
              <a:rPr lang="en-IN" dirty="0"/>
              <a:t>a) Controller Area Network (CAN)</a:t>
            </a:r>
          </a:p>
        </p:txBody>
      </p:sp>
      <p:sp>
        <p:nvSpPr>
          <p:cNvPr id="3" name="Content Placeholder 2">
            <a:extLst>
              <a:ext uri="{FF2B5EF4-FFF2-40B4-BE49-F238E27FC236}">
                <a16:creationId xmlns:a16="http://schemas.microsoft.com/office/drawing/2014/main" id="{FDB2CD13-9AB0-F699-AA44-B8FA22DF83D5}"/>
              </a:ext>
            </a:extLst>
          </p:cNvPr>
          <p:cNvSpPr>
            <a:spLocks noGrp="1"/>
          </p:cNvSpPr>
          <p:nvPr>
            <p:ph idx="1"/>
          </p:nvPr>
        </p:nvSpPr>
        <p:spPr/>
        <p:txBody>
          <a:bodyPr>
            <a:normAutofit/>
          </a:bodyPr>
          <a:lstStyle/>
          <a:p>
            <a:r>
              <a:rPr lang="en-US" dirty="0"/>
              <a:t>The CAN bus was originally proposed by Robert Bosch, pioneer in the Automotive embedded solution providers. </a:t>
            </a:r>
          </a:p>
          <a:p>
            <a:r>
              <a:rPr lang="en-US" dirty="0"/>
              <a:t>It supports medium speed (ISO11519-class B with data rates up to 125 Kbps) and high speed (ISO11898 class C with data rates up to 1Mbps) data transfer.</a:t>
            </a:r>
          </a:p>
          <a:p>
            <a:r>
              <a:rPr lang="en-US" dirty="0"/>
              <a:t>CAN is an event-driven protocol interface with support for error handling in data transmission. </a:t>
            </a:r>
          </a:p>
          <a:p>
            <a:r>
              <a:rPr lang="en-US" dirty="0"/>
              <a:t>It is generally employed in safety system like airbag control; power train systems like engine control and Antilock Brake System (ABS); and navigation systems like GPS.</a:t>
            </a:r>
            <a:endParaRPr lang="en-IN" dirty="0"/>
          </a:p>
        </p:txBody>
      </p:sp>
    </p:spTree>
    <p:extLst>
      <p:ext uri="{BB962C8B-B14F-4D97-AF65-F5344CB8AC3E}">
        <p14:creationId xmlns:p14="http://schemas.microsoft.com/office/powerpoint/2010/main" val="329912050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E0835-EA9E-5183-8CF0-85F44579F0BA}"/>
              </a:ext>
            </a:extLst>
          </p:cNvPr>
          <p:cNvSpPr>
            <a:spLocks noGrp="1"/>
          </p:cNvSpPr>
          <p:nvPr>
            <p:ph type="title"/>
          </p:nvPr>
        </p:nvSpPr>
        <p:spPr/>
        <p:txBody>
          <a:bodyPr/>
          <a:lstStyle/>
          <a:p>
            <a:r>
              <a:rPr lang="en-IN" dirty="0"/>
              <a:t>b) Local Interconnect Network (LIN)</a:t>
            </a:r>
          </a:p>
        </p:txBody>
      </p:sp>
      <p:sp>
        <p:nvSpPr>
          <p:cNvPr id="3" name="Content Placeholder 2">
            <a:extLst>
              <a:ext uri="{FF2B5EF4-FFF2-40B4-BE49-F238E27FC236}">
                <a16:creationId xmlns:a16="http://schemas.microsoft.com/office/drawing/2014/main" id="{A881DCF6-012A-7864-2837-EE1D6038D6E0}"/>
              </a:ext>
            </a:extLst>
          </p:cNvPr>
          <p:cNvSpPr>
            <a:spLocks noGrp="1"/>
          </p:cNvSpPr>
          <p:nvPr>
            <p:ph idx="1"/>
          </p:nvPr>
        </p:nvSpPr>
        <p:spPr>
          <a:xfrm>
            <a:off x="838200" y="1825625"/>
            <a:ext cx="10515600" cy="4594840"/>
          </a:xfrm>
        </p:spPr>
        <p:txBody>
          <a:bodyPr>
            <a:normAutofit lnSpcReduction="10000"/>
          </a:bodyPr>
          <a:lstStyle/>
          <a:p>
            <a:r>
              <a:rPr lang="en-US" dirty="0"/>
              <a:t>LIN bus is a single master multiple slave (up to 16 independent slave nodes) communication interface. </a:t>
            </a:r>
          </a:p>
          <a:p>
            <a:r>
              <a:rPr lang="en-US" dirty="0"/>
              <a:t>LIN is a low speed, single wire communication interface with support for data rates up to 20 Kbps and is used for sensor/actuator interfacing. </a:t>
            </a:r>
          </a:p>
          <a:p>
            <a:r>
              <a:rPr lang="en-US" dirty="0"/>
              <a:t>LIN bus follows the master communication triggering technique to eliminate the possible bus arbitration problem that can occur by the simultaneous talking of different slave nodes connected to a single interface bus. </a:t>
            </a:r>
          </a:p>
          <a:p>
            <a:r>
              <a:rPr lang="en-US" dirty="0"/>
              <a:t>LIN bus is employed in applications like mirror controls, fan controls, seat positioning controls, window controls, and position controls where response time is not a critical issue.</a:t>
            </a:r>
            <a:endParaRPr lang="en-IN" dirty="0"/>
          </a:p>
        </p:txBody>
      </p:sp>
    </p:spTree>
    <p:extLst>
      <p:ext uri="{BB962C8B-B14F-4D97-AF65-F5344CB8AC3E}">
        <p14:creationId xmlns:p14="http://schemas.microsoft.com/office/powerpoint/2010/main" val="40087808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05AFC-94A7-1D89-5D02-7ABF1B7A3793}"/>
              </a:ext>
            </a:extLst>
          </p:cNvPr>
          <p:cNvSpPr>
            <a:spLocks noGrp="1"/>
          </p:cNvSpPr>
          <p:nvPr>
            <p:ph type="title"/>
          </p:nvPr>
        </p:nvSpPr>
        <p:spPr/>
        <p:txBody>
          <a:bodyPr>
            <a:normAutofit/>
          </a:bodyPr>
          <a:lstStyle/>
          <a:p>
            <a:r>
              <a:rPr lang="en-IN" sz="4000" dirty="0"/>
              <a:t>c) Media Oriented System Transport (MOST) Bus</a:t>
            </a:r>
          </a:p>
        </p:txBody>
      </p:sp>
      <p:sp>
        <p:nvSpPr>
          <p:cNvPr id="3" name="Content Placeholder 2">
            <a:extLst>
              <a:ext uri="{FF2B5EF4-FFF2-40B4-BE49-F238E27FC236}">
                <a16:creationId xmlns:a16="http://schemas.microsoft.com/office/drawing/2014/main" id="{CDE86438-A15E-FF31-9960-399EE5239FC7}"/>
              </a:ext>
            </a:extLst>
          </p:cNvPr>
          <p:cNvSpPr>
            <a:spLocks noGrp="1"/>
          </p:cNvSpPr>
          <p:nvPr>
            <p:ph idx="1"/>
          </p:nvPr>
        </p:nvSpPr>
        <p:spPr/>
        <p:txBody>
          <a:bodyPr>
            <a:normAutofit fontScale="92500" lnSpcReduction="10000"/>
          </a:bodyPr>
          <a:lstStyle/>
          <a:p>
            <a:r>
              <a:rPr lang="en-US" dirty="0"/>
              <a:t>The Media Oriented System Transport ( MOST) is targeted for high-bandwidth automotive multimedia networking (e.g. audio/video, infotainment system interfacing), used primarily in European cars. </a:t>
            </a:r>
          </a:p>
          <a:p>
            <a:r>
              <a:rPr lang="en-US" dirty="0"/>
              <a:t>A MOST bus is a multimedia </a:t>
            </a:r>
            <a:r>
              <a:rPr lang="en-US" dirty="0" err="1"/>
              <a:t>fibre</a:t>
            </a:r>
            <a:r>
              <a:rPr lang="en-US" dirty="0"/>
              <a:t>-optic point-to-point network implemented in a star, ring or daisy-chained topology over optical </a:t>
            </a:r>
            <a:r>
              <a:rPr lang="en-US" dirty="0" err="1"/>
              <a:t>fibre</a:t>
            </a:r>
            <a:r>
              <a:rPr lang="en-US" dirty="0"/>
              <a:t> cables. </a:t>
            </a:r>
          </a:p>
          <a:p>
            <a:r>
              <a:rPr lang="en-US" dirty="0"/>
              <a:t>The MOST bus specifications defi ne the physical (electrical and optical parameters) layer as well as the application layer, network layer, and media access control. </a:t>
            </a:r>
          </a:p>
          <a:p>
            <a:r>
              <a:rPr lang="en-US" dirty="0"/>
              <a:t>MOST bus is an optical fi </a:t>
            </a:r>
            <a:r>
              <a:rPr lang="en-US" dirty="0" err="1"/>
              <a:t>bre</a:t>
            </a:r>
            <a:r>
              <a:rPr lang="en-US" dirty="0"/>
              <a:t> cable connected between the Electrical Optical Converter (EOC) and Optical Electrical Converter (OEC), which would translate into the optical cable MOST bus.</a:t>
            </a:r>
            <a:endParaRPr lang="en-IN" dirty="0"/>
          </a:p>
        </p:txBody>
      </p:sp>
    </p:spTree>
    <p:extLst>
      <p:ext uri="{BB962C8B-B14F-4D97-AF65-F5344CB8AC3E}">
        <p14:creationId xmlns:p14="http://schemas.microsoft.com/office/powerpoint/2010/main" val="32319068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0F8DE-7AD2-4038-7DF5-FFF41AC2D01C}"/>
              </a:ext>
            </a:extLst>
          </p:cNvPr>
          <p:cNvSpPr>
            <a:spLocks noGrp="1"/>
          </p:cNvSpPr>
          <p:nvPr>
            <p:ph type="title"/>
          </p:nvPr>
        </p:nvSpPr>
        <p:spPr>
          <a:xfrm>
            <a:off x="749710" y="758415"/>
            <a:ext cx="10515600" cy="1325563"/>
          </a:xfrm>
        </p:spPr>
        <p:txBody>
          <a:bodyPr/>
          <a:lstStyle/>
          <a:p>
            <a:r>
              <a:rPr lang="en-US" dirty="0"/>
              <a:t>3. Key Players of the Automotive Embedded Market</a:t>
            </a:r>
            <a:endParaRPr lang="en-IN" dirty="0"/>
          </a:p>
        </p:txBody>
      </p:sp>
      <p:sp>
        <p:nvSpPr>
          <p:cNvPr id="3" name="Content Placeholder 2">
            <a:extLst>
              <a:ext uri="{FF2B5EF4-FFF2-40B4-BE49-F238E27FC236}">
                <a16:creationId xmlns:a16="http://schemas.microsoft.com/office/drawing/2014/main" id="{5C4ED303-CA4D-4296-3A63-424BD12B17B0}"/>
              </a:ext>
            </a:extLst>
          </p:cNvPr>
          <p:cNvSpPr>
            <a:spLocks noGrp="1"/>
          </p:cNvSpPr>
          <p:nvPr>
            <p:ph idx="1"/>
          </p:nvPr>
        </p:nvSpPr>
        <p:spPr>
          <a:xfrm>
            <a:off x="749710" y="2317238"/>
            <a:ext cx="10515600" cy="4351338"/>
          </a:xfrm>
        </p:spPr>
        <p:txBody>
          <a:bodyPr/>
          <a:lstStyle/>
          <a:p>
            <a:r>
              <a:rPr lang="en-IN" b="1" dirty="0"/>
              <a:t>Silicon Providers </a:t>
            </a:r>
            <a:r>
              <a:rPr lang="en-IN" dirty="0"/>
              <a:t>- Analog Devices, Xilinx, Atmel, Maxim/Dallas, NXP Semiconductor, Renesas, Texas Instruments, Fujitsu, Infineon, Freescale Semiconductor, Microchip</a:t>
            </a:r>
          </a:p>
          <a:p>
            <a:r>
              <a:rPr lang="en-US" b="1" dirty="0"/>
              <a:t>Tools and Platform Providers </a:t>
            </a:r>
            <a:r>
              <a:rPr lang="en-US" dirty="0"/>
              <a:t>– ENEA, The MathWorks, Keil Software, Lauterbach, </a:t>
            </a:r>
            <a:r>
              <a:rPr lang="en-US" dirty="0" err="1"/>
              <a:t>Atego</a:t>
            </a:r>
            <a:r>
              <a:rPr lang="en-US" dirty="0"/>
              <a:t> Modeling Tools, Microsoft</a:t>
            </a:r>
          </a:p>
          <a:p>
            <a:r>
              <a:rPr lang="en-US" b="1" dirty="0"/>
              <a:t>Solution</a:t>
            </a:r>
            <a:r>
              <a:rPr lang="en-US" dirty="0"/>
              <a:t> </a:t>
            </a:r>
            <a:r>
              <a:rPr lang="en-US" b="1" dirty="0"/>
              <a:t>Providers</a:t>
            </a:r>
            <a:r>
              <a:rPr lang="en-US" dirty="0"/>
              <a:t> - Bosch Automotive, DENSO Automotive, Infosys Technologies, Delphi</a:t>
            </a:r>
          </a:p>
          <a:p>
            <a:endParaRPr lang="en-US" dirty="0"/>
          </a:p>
          <a:p>
            <a:endParaRPr lang="en-IN" dirty="0"/>
          </a:p>
        </p:txBody>
      </p:sp>
    </p:spTree>
    <p:extLst>
      <p:ext uri="{BB962C8B-B14F-4D97-AF65-F5344CB8AC3E}">
        <p14:creationId xmlns:p14="http://schemas.microsoft.com/office/powerpoint/2010/main" val="19081908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E06E9-A522-245A-FB6F-2B4D9486A1F7}"/>
              </a:ext>
            </a:extLst>
          </p:cNvPr>
          <p:cNvSpPr>
            <a:spLocks noGrp="1"/>
          </p:cNvSpPr>
          <p:nvPr>
            <p:ph type="title"/>
          </p:nvPr>
        </p:nvSpPr>
        <p:spPr/>
        <p:txBody>
          <a:bodyPr/>
          <a:lstStyle/>
          <a:p>
            <a:r>
              <a:rPr lang="en-IN" dirty="0"/>
              <a:t>a) Silicon Providers</a:t>
            </a:r>
          </a:p>
        </p:txBody>
      </p:sp>
      <p:sp>
        <p:nvSpPr>
          <p:cNvPr id="3" name="Content Placeholder 2">
            <a:extLst>
              <a:ext uri="{FF2B5EF4-FFF2-40B4-BE49-F238E27FC236}">
                <a16:creationId xmlns:a16="http://schemas.microsoft.com/office/drawing/2014/main" id="{B0C0532B-E21B-BF38-8984-EEDC1DF99659}"/>
              </a:ext>
            </a:extLst>
          </p:cNvPr>
          <p:cNvSpPr>
            <a:spLocks noGrp="1"/>
          </p:cNvSpPr>
          <p:nvPr>
            <p:ph idx="1"/>
          </p:nvPr>
        </p:nvSpPr>
        <p:spPr/>
        <p:txBody>
          <a:bodyPr/>
          <a:lstStyle/>
          <a:p>
            <a:r>
              <a:rPr lang="en-US" dirty="0"/>
              <a:t>Silicon providers are responsible for providing the necessary chips which are used in the control application development. </a:t>
            </a:r>
          </a:p>
          <a:p>
            <a:r>
              <a:rPr lang="en-US" dirty="0"/>
              <a:t>The chip may be a standard product like microcontroller or DSP or ADC/DAC chips. </a:t>
            </a:r>
          </a:p>
          <a:p>
            <a:r>
              <a:rPr lang="en-US" dirty="0"/>
              <a:t>Some applications may require specific chips and they are manufactured as Application Specific Integrated Chip (ASIC).</a:t>
            </a:r>
            <a:endParaRPr lang="en-IN" dirty="0"/>
          </a:p>
        </p:txBody>
      </p:sp>
    </p:spTree>
    <p:extLst>
      <p:ext uri="{BB962C8B-B14F-4D97-AF65-F5344CB8AC3E}">
        <p14:creationId xmlns:p14="http://schemas.microsoft.com/office/powerpoint/2010/main" val="7355723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FC09-F1BF-540D-CFA5-496B71CD2F6F}"/>
              </a:ext>
            </a:extLst>
          </p:cNvPr>
          <p:cNvSpPr>
            <a:spLocks noGrp="1"/>
          </p:cNvSpPr>
          <p:nvPr>
            <p:ph type="title"/>
          </p:nvPr>
        </p:nvSpPr>
        <p:spPr/>
        <p:txBody>
          <a:bodyPr/>
          <a:lstStyle/>
          <a:p>
            <a:r>
              <a:rPr lang="en-US" dirty="0"/>
              <a:t>b) Tools and Platform Providers</a:t>
            </a:r>
            <a:endParaRPr lang="en-IN" dirty="0"/>
          </a:p>
        </p:txBody>
      </p:sp>
      <p:sp>
        <p:nvSpPr>
          <p:cNvPr id="3" name="Content Placeholder 2">
            <a:extLst>
              <a:ext uri="{FF2B5EF4-FFF2-40B4-BE49-F238E27FC236}">
                <a16:creationId xmlns:a16="http://schemas.microsoft.com/office/drawing/2014/main" id="{01626045-70EC-989E-C7F6-148D92DCA105}"/>
              </a:ext>
            </a:extLst>
          </p:cNvPr>
          <p:cNvSpPr>
            <a:spLocks noGrp="1"/>
          </p:cNvSpPr>
          <p:nvPr>
            <p:ph idx="1"/>
          </p:nvPr>
        </p:nvSpPr>
        <p:spPr/>
        <p:txBody>
          <a:bodyPr>
            <a:normAutofit/>
          </a:bodyPr>
          <a:lstStyle/>
          <a:p>
            <a:r>
              <a:rPr lang="en-US" dirty="0"/>
              <a:t>Tools and platform providers are manufacturers and suppliers of various kinds of development tools and Real Time Embedded Operating Systems for developing and debugging different control unit related applications. </a:t>
            </a:r>
          </a:p>
          <a:p>
            <a:r>
              <a:rPr lang="en-US" dirty="0"/>
              <a:t>Tools fall into two categories, namely embedded software application development tools and embedded hardware development tools. </a:t>
            </a:r>
          </a:p>
          <a:p>
            <a:r>
              <a:rPr lang="en-US" dirty="0"/>
              <a:t>Sometimes the silicon suppliers provide the development suite for application development using their chip. </a:t>
            </a:r>
          </a:p>
          <a:p>
            <a:r>
              <a:rPr lang="en-US" dirty="0"/>
              <a:t>Some third-party suppliers may also provide development kits and libraries.</a:t>
            </a:r>
            <a:endParaRPr lang="en-IN" dirty="0"/>
          </a:p>
        </p:txBody>
      </p:sp>
    </p:spTree>
    <p:extLst>
      <p:ext uri="{BB962C8B-B14F-4D97-AF65-F5344CB8AC3E}">
        <p14:creationId xmlns:p14="http://schemas.microsoft.com/office/powerpoint/2010/main" val="23857802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A4D2D-C869-CD41-BBC4-D6D6E772281C}"/>
              </a:ext>
            </a:extLst>
          </p:cNvPr>
          <p:cNvSpPr>
            <a:spLocks noGrp="1"/>
          </p:cNvSpPr>
          <p:nvPr>
            <p:ph type="title"/>
          </p:nvPr>
        </p:nvSpPr>
        <p:spPr/>
        <p:txBody>
          <a:bodyPr/>
          <a:lstStyle/>
          <a:p>
            <a:r>
              <a:rPr lang="en-IN" dirty="0"/>
              <a:t>c) Solution Providers</a:t>
            </a:r>
          </a:p>
        </p:txBody>
      </p:sp>
      <p:sp>
        <p:nvSpPr>
          <p:cNvPr id="3" name="Content Placeholder 2">
            <a:extLst>
              <a:ext uri="{FF2B5EF4-FFF2-40B4-BE49-F238E27FC236}">
                <a16:creationId xmlns:a16="http://schemas.microsoft.com/office/drawing/2014/main" id="{36C85C1C-BB59-EAA2-D5BF-6350747B4651}"/>
              </a:ext>
            </a:extLst>
          </p:cNvPr>
          <p:cNvSpPr>
            <a:spLocks noGrp="1"/>
          </p:cNvSpPr>
          <p:nvPr>
            <p:ph idx="1"/>
          </p:nvPr>
        </p:nvSpPr>
        <p:spPr/>
        <p:txBody>
          <a:bodyPr/>
          <a:lstStyle/>
          <a:p>
            <a:r>
              <a:rPr lang="en-US" dirty="0"/>
              <a:t>Solution providers supply OEM and complete solution for automotive applications making use of the chips, platforms, and different development tools.</a:t>
            </a:r>
            <a:endParaRPr lang="en-IN" dirty="0"/>
          </a:p>
        </p:txBody>
      </p:sp>
    </p:spTree>
    <p:extLst>
      <p:ext uri="{BB962C8B-B14F-4D97-AF65-F5344CB8AC3E}">
        <p14:creationId xmlns:p14="http://schemas.microsoft.com/office/powerpoint/2010/main" val="19750260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286</TotalTime>
  <Words>4494</Words>
  <Application>Microsoft Office PowerPoint</Application>
  <PresentationFormat>Widescreen</PresentationFormat>
  <Paragraphs>327</Paragraphs>
  <Slides>70</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70</vt:i4>
      </vt:variant>
    </vt:vector>
  </HeadingPairs>
  <TitlesOfParts>
    <vt:vector size="78" baseType="lpstr">
      <vt:lpstr>Arial</vt:lpstr>
      <vt:lpstr>Arial MT</vt:lpstr>
      <vt:lpstr>Bradley Hand ITC</vt:lpstr>
      <vt:lpstr>Calibri</vt:lpstr>
      <vt:lpstr>Calibri Light</vt:lpstr>
      <vt:lpstr>Generic89-Regular</vt:lpstr>
      <vt:lpstr>Wingdings</vt:lpstr>
      <vt:lpstr>Office Theme</vt:lpstr>
      <vt:lpstr>INTRODUCTION TO EMBEDDED SYSTEMS</vt:lpstr>
      <vt:lpstr>EMBEDDED SYSTEMS</vt:lpstr>
      <vt:lpstr>EMBEDDED SYSTEMS (VS) GENERAL COMPUTING SYSTEMS</vt:lpstr>
      <vt:lpstr>HISTORY OF EMBEDDED SYSTEMS</vt:lpstr>
      <vt:lpstr>PowerPoint Presentation</vt:lpstr>
      <vt:lpstr>PowerPoint Presentation</vt:lpstr>
      <vt:lpstr>PowerPoint Presentation</vt:lpstr>
      <vt:lpstr>CLASSIFICATION OF EMBEDDED SYSTEMS</vt:lpstr>
      <vt:lpstr>1) Classification based on Generation</vt:lpstr>
      <vt:lpstr>a) First Generation</vt:lpstr>
      <vt:lpstr>b) Second Generation</vt:lpstr>
      <vt:lpstr>C) Third Generation</vt:lpstr>
      <vt:lpstr>D) Fourth Generation</vt:lpstr>
      <vt:lpstr>2) Classification based on Complexity and performance</vt:lpstr>
      <vt:lpstr>i) Small-scale embedded systems</vt:lpstr>
      <vt:lpstr>ii) Medium-scale Embedded system</vt:lpstr>
      <vt:lpstr>iii) Large-scale embedded systems/complex systems</vt:lpstr>
      <vt:lpstr>PowerPoint Presentation</vt:lpstr>
      <vt:lpstr>PowerPoint Presentation</vt:lpstr>
      <vt:lpstr>APPLICATIONS OF EMBEDDED SYSTEMS</vt:lpstr>
      <vt:lpstr>PowerPoint Presentation</vt:lpstr>
      <vt:lpstr>PURPOSE OF EMBEDDED SYSTEMS</vt:lpstr>
      <vt:lpstr>1. Data Collection/Storage/Representation</vt:lpstr>
      <vt:lpstr>2. Data Communication</vt:lpstr>
      <vt:lpstr>3. Data (Signal) Processing</vt:lpstr>
      <vt:lpstr>4. Monitoring</vt:lpstr>
      <vt:lpstr>5. Control</vt:lpstr>
      <vt:lpstr>Contd…</vt:lpstr>
      <vt:lpstr>6. Application Specific User Interface</vt:lpstr>
      <vt:lpstr>Smart Running Shoes</vt:lpstr>
      <vt:lpstr>Characteristics and  Quality Attributes of  Embedded Systems</vt:lpstr>
      <vt:lpstr>CHARACTERISTICS OF AN EMBEDDED SYSTEM</vt:lpstr>
      <vt:lpstr>Application and Domain Specific</vt:lpstr>
      <vt:lpstr>Reactive and Real Time</vt:lpstr>
      <vt:lpstr>Operates in Harsh Environment</vt:lpstr>
      <vt:lpstr>Distributed</vt:lpstr>
      <vt:lpstr>Small Size and Weight</vt:lpstr>
      <vt:lpstr>Power Concerns</vt:lpstr>
      <vt:lpstr>QUALITY ATTRIBUTES OF EMBEDDED SYSTEMS</vt:lpstr>
      <vt:lpstr>Operational Quality Attributes</vt:lpstr>
      <vt:lpstr>(1) Response </vt:lpstr>
      <vt:lpstr>(2) Throughput </vt:lpstr>
      <vt:lpstr>(3) Reliability </vt:lpstr>
      <vt:lpstr>(4) Maintainability </vt:lpstr>
      <vt:lpstr>(5) Security </vt:lpstr>
      <vt:lpstr>(6) Safety </vt:lpstr>
      <vt:lpstr>Non-Operational Quality Attributes</vt:lpstr>
      <vt:lpstr>(1) Testability &amp; Debug-ability </vt:lpstr>
      <vt:lpstr>(2) Evolvability </vt:lpstr>
      <vt:lpstr>(3) Portability </vt:lpstr>
      <vt:lpstr>(4) Time to prototype and market </vt:lpstr>
      <vt:lpstr>(5) Per unit and total cost. </vt:lpstr>
      <vt:lpstr>The Product Life Cycle (PLC)</vt:lpstr>
      <vt:lpstr>The Product Life Cycle (PLC)</vt:lpstr>
      <vt:lpstr>PowerPoint Presentation</vt:lpstr>
      <vt:lpstr>Embedded Systems—Application- and Domain-Specific</vt:lpstr>
      <vt:lpstr>WASHING MACHINE—APPLICATION-SPECIFIC EMBEDDED SYSTEM</vt:lpstr>
      <vt:lpstr>PowerPoint Presentation</vt:lpstr>
      <vt:lpstr>PowerPoint Presentation</vt:lpstr>
      <vt:lpstr>AUTOMOTIVE–DOMAIN SPECIFIC EXAMPLES OF EMBEDDED SYSTEM</vt:lpstr>
      <vt:lpstr>PowerPoint Presentation</vt:lpstr>
      <vt:lpstr>1. Inner Workings of Automotive Embedded Systems</vt:lpstr>
      <vt:lpstr>2. Automotive Communication Buses</vt:lpstr>
      <vt:lpstr>a) Controller Area Network (CAN)</vt:lpstr>
      <vt:lpstr>b) Local Interconnect Network (LIN)</vt:lpstr>
      <vt:lpstr>c) Media Oriented System Transport (MOST) Bus</vt:lpstr>
      <vt:lpstr>3. Key Players of the Automotive Embedded Market</vt:lpstr>
      <vt:lpstr>a) Silicon Providers</vt:lpstr>
      <vt:lpstr>b) Tools and Platform Providers</vt:lpstr>
      <vt:lpstr>c) Solution Providers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ROSHAN Y</dc:creator>
  <cp:lastModifiedBy>ROSHAN Y</cp:lastModifiedBy>
  <cp:revision>37</cp:revision>
  <dcterms:created xsi:type="dcterms:W3CDTF">2025-02-19T17:03:56Z</dcterms:created>
  <dcterms:modified xsi:type="dcterms:W3CDTF">2025-02-25T10:22:01Z</dcterms:modified>
</cp:coreProperties>
</file>