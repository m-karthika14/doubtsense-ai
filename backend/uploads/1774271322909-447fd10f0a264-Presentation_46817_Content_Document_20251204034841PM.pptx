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6858000" cy="9144000"/>
  <p:embeddedFontLst>
    <p:embeddedFont>
      <p:font typeface="Quicksand"/>
      <p:regular r:id="rId51"/>
      <p:bold r:id="rId52"/>
    </p:embeddedFont>
    <p:embeddedFont>
      <p:font typeface="Roboto Mon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Quicksand-regular.fntdata"/><Relationship Id="rId50" Type="http://schemas.openxmlformats.org/officeDocument/2006/relationships/slide" Target="slides/slide46.xml"/><Relationship Id="rId53" Type="http://schemas.openxmlformats.org/officeDocument/2006/relationships/font" Target="fonts/RobotoMono-regular.fntdata"/><Relationship Id="rId52" Type="http://schemas.openxmlformats.org/officeDocument/2006/relationships/font" Target="fonts/Quicksand-bold.fntdata"/><Relationship Id="rId11" Type="http://schemas.openxmlformats.org/officeDocument/2006/relationships/slide" Target="slides/slide7.xml"/><Relationship Id="rId55" Type="http://schemas.openxmlformats.org/officeDocument/2006/relationships/font" Target="fonts/RobotoMono-italic.fntdata"/><Relationship Id="rId10" Type="http://schemas.openxmlformats.org/officeDocument/2006/relationships/slide" Target="slides/slide6.xml"/><Relationship Id="rId54" Type="http://schemas.openxmlformats.org/officeDocument/2006/relationships/font" Target="fonts/RobotoMon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2a37346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2a3734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9a2a37346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2a37346f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a2a37346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9a2a37346f_0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a2a37346f_0_4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9a2a37346f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2a37346f_0_4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9a2a37346f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2a37346f_0_4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a2a37346f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2a37346f_0_4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9a2a37346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2a37346f_0_4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a2a37346f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2a37346f_0_4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a2a37346f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2a37346f_0_4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a2a37346f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a2a37346f_0_4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a2a37346f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a2a37346f_0_4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9a2a37346f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a2a37346f_0_4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9a2a37346f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a2a37346f_0_5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9a2a37346f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a2a37346f_0_5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9a2a37346f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a2a37346f_0_5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9a2a37346f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a2a37346f_0_5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9a2a37346f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a2a37346f_0_5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9a2a37346f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a2a37346f_0_6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9a2a37346f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a2a37346f_0_5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9a2a37346f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a2a37346f_0_5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a2a37346f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a2a37346f_0_5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9a2a37346f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a2a37346f_0_5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9a2a37346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a2a37346f_0_5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9a2a37346f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a2a37346f_0_6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a2a37346f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a2a37346f_0_6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9a2a37346f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a2a37346f_0_6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9a2a37346f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a2a37346f_0_6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9a2a37346f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a2a37346f_0_6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9a2a37346f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a3ee439d7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9a3ee439d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9a3ee439d7_0_1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a3ee439d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9a3ee439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a3ee439d7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9a3ee439d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a3ee439d7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9a3ee439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a3ee439d7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9a3ee439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a3ee439d7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9a3ee439d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9a3ee439d7_0_1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a3ee439d7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9a3ee439d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a3ee439d7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9a3ee439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a3ee439d7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9a3ee439d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a3ee439d7_0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9a3ee439d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9a3ee439d7_0_1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a3ee439d7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9a3ee439d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a3ee439d7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9a3ee439d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a3ee439d7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9a3ee439d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a3ee439d7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9a3ee439d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a3ee439d7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9a3ee439d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a3ee439d7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9a3ee439d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a3ee439d7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9a3ee439d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a3ee439d7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9a3ee439d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1">
  <p:cSld name="Title and Content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ctrTitle"/>
          </p:nvPr>
        </p:nvSpPr>
        <p:spPr>
          <a:xfrm>
            <a:off x="1220491" y="254734"/>
            <a:ext cx="7600777" cy="751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4793"/>
              </a:buClr>
              <a:buSzPts val="4500"/>
              <a:buFont typeface="Arial"/>
              <a:buNone/>
              <a:defRPr b="0" i="0" sz="3375" cap="none">
                <a:solidFill>
                  <a:srgbClr val="02479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130944" y="180075"/>
            <a:ext cx="7690200" cy="4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>
            <a:off x="294467" y="1006648"/>
            <a:ext cx="0" cy="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850739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ctrTitle"/>
          </p:nvPr>
        </p:nvSpPr>
        <p:spPr>
          <a:xfrm>
            <a:off x="1319175" y="2233519"/>
            <a:ext cx="6680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165475" y="549649"/>
            <a:ext cx="68580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18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1165498" y="1086799"/>
            <a:ext cx="68580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Quicksand"/>
              <a:buChar char="◦"/>
              <a:defRPr sz="30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▫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■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3157" y="4752131"/>
            <a:ext cx="548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80" name="Google Shape;80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_4">
  <p:cSld name="Presentation Title_4">
    <p:bg>
      <p:bgPr>
        <a:solidFill>
          <a:srgbClr val="012F6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>
            <p:ph idx="2" type="pic"/>
          </p:nvPr>
        </p:nvSpPr>
        <p:spPr>
          <a:xfrm>
            <a:off x="850739" y="0"/>
            <a:ext cx="8293200" cy="5143500"/>
          </a:xfrm>
          <a:prstGeom prst="rect">
            <a:avLst/>
          </a:prstGeom>
          <a:solidFill>
            <a:srgbClr val="012F62"/>
          </a:solidFill>
          <a:ln>
            <a:noFill/>
          </a:ln>
        </p:spPr>
      </p:sp>
      <p:cxnSp>
        <p:nvCxnSpPr>
          <p:cNvPr id="97" name="Google Shape;97;p16"/>
          <p:cNvCxnSpPr/>
          <p:nvPr/>
        </p:nvCxnSpPr>
        <p:spPr>
          <a:xfrm>
            <a:off x="84336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1143000" y="3964647"/>
            <a:ext cx="3134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type="ctrTitle"/>
          </p:nvPr>
        </p:nvSpPr>
        <p:spPr>
          <a:xfrm>
            <a:off x="1143000" y="2036842"/>
            <a:ext cx="3134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VIT 2020 - PERSPECTIVES OF ACADEMICS REINFORCED BY START-UPS AND INDUSTRIES"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6683" y="160339"/>
            <a:ext cx="709228" cy="94563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i.example.com/user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i.example.com/user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pi.example.com/data?key=ABC123XYZ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console.firebase.google.com" TargetMode="External"/><Relationship Id="rId4" Type="http://schemas.openxmlformats.org/officeDocument/2006/relationships/hyperlink" Target="https://console.firebase.google.com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on tablet " id="105" name="Google Shape;105;p17"/>
          <p:cNvPicPr preferRelativeResize="0"/>
          <p:nvPr>
            <p:ph idx="2" type="pic"/>
          </p:nvPr>
        </p:nvPicPr>
        <p:blipFill rotWithShape="1">
          <a:blip r:embed="rId3">
            <a:alphaModFix amt="35000"/>
          </a:blip>
          <a:srcRect b="0" l="4627" r="4636" t="0"/>
          <a:stretch/>
        </p:blipFill>
        <p:spPr>
          <a:xfrm>
            <a:off x="0" y="5950"/>
            <a:ext cx="9144001" cy="5143500"/>
          </a:xfrm>
          <a:prstGeom prst="rect">
            <a:avLst/>
          </a:prstGeom>
          <a:solidFill>
            <a:srgbClr val="012F62"/>
          </a:solidFill>
          <a:ln>
            <a:noFill/>
          </a:ln>
        </p:spPr>
      </p:pic>
      <p:sp>
        <p:nvSpPr>
          <p:cNvPr id="106" name="Google Shape;106;p17"/>
          <p:cNvSpPr txBox="1"/>
          <p:nvPr>
            <p:ph type="ctrTitle"/>
          </p:nvPr>
        </p:nvSpPr>
        <p:spPr>
          <a:xfrm>
            <a:off x="345275" y="1560625"/>
            <a:ext cx="83868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3000"/>
              <a:t>MODULE 05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3000"/>
              <a:t>Introduction of Google APIs for Android, Permissions, Performance and Security, Firebase Database</a:t>
            </a:r>
            <a:endParaRPr sz="3000"/>
          </a:p>
        </p:txBody>
      </p:sp>
      <p:sp>
        <p:nvSpPr>
          <p:cNvPr descr="CVIT 2020 - PERSPECTIVES OF ACADEMICS REINFORCED BY START-UPS AND INDUSTRIES" id="107" name="Google Shape;107;p17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08" name="Google Shape;108;p17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09" name="Google Shape;109;p17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10" name="Google Shape;110;p17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11" name="Google Shape;111;p17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IT 2020 - PERSPECTIVES OF ACADEMICS REINFORCED BY START-UPS AND INDUSTRIES" id="112" name="Google Shape;1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3311" y="411131"/>
            <a:ext cx="850739" cy="850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on tablet " id="118" name="Google Shape;118;p18"/>
          <p:cNvPicPr preferRelativeResize="0"/>
          <p:nvPr>
            <p:ph idx="2" type="pic"/>
          </p:nvPr>
        </p:nvPicPr>
        <p:blipFill rotWithShape="1">
          <a:blip r:embed="rId3">
            <a:alphaModFix amt="35000"/>
          </a:blip>
          <a:srcRect b="0" l="4627" r="4636" t="0"/>
          <a:stretch/>
        </p:blipFill>
        <p:spPr>
          <a:xfrm>
            <a:off x="0" y="5950"/>
            <a:ext cx="9144001" cy="5143500"/>
          </a:xfrm>
          <a:prstGeom prst="rect">
            <a:avLst/>
          </a:prstGeom>
          <a:solidFill>
            <a:srgbClr val="012F62"/>
          </a:solidFill>
          <a:ln>
            <a:noFill/>
          </a:ln>
        </p:spPr>
      </p:pic>
      <p:sp>
        <p:nvSpPr>
          <p:cNvPr id="119" name="Google Shape;119;p18"/>
          <p:cNvSpPr txBox="1"/>
          <p:nvPr>
            <p:ph type="ctrTitle"/>
          </p:nvPr>
        </p:nvSpPr>
        <p:spPr>
          <a:xfrm>
            <a:off x="345275" y="1560625"/>
            <a:ext cx="85674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sz="5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" sz="5000"/>
              <a:t>Introduction of Google APIs for Android</a:t>
            </a:r>
            <a:endParaRPr b="1" sz="5000"/>
          </a:p>
        </p:txBody>
      </p:sp>
      <p:sp>
        <p:nvSpPr>
          <p:cNvPr descr="CVIT 2020 - PERSPECTIVES OF ACADEMICS REINFORCED BY START-UPS AND INDUSTRIES" id="120" name="Google Shape;120;p18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21" name="Google Shape;121;p18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22" name="Google Shape;122;p18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23" name="Google Shape;123;p18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124" name="Google Shape;124;p18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IT 2020 - PERSPECTIVES OF ACADEMICS REINFORCED BY START-UPS AND INDUSTRIES"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261" y="356142"/>
            <a:ext cx="1923500" cy="19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918750" y="86375"/>
            <a:ext cx="7651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918750" y="560402"/>
            <a:ext cx="8182500" cy="4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APIs for Android are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pre-built services provided by Google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that developers can easily integrate into their Android apps to add powerful features such as maps, location detection, sign-in, cloud messaging, machine learning, and more.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What is Application Programming Interface(API)?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 is a set of rules that helps two applications talk to each other.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It works like a bridge that connects different software or devices.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APIs provide ready-made functions and tools that developers can directly use.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They hide the complicated internal code and show only what developers need.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APIs help apps share data in common formats like JSON or XML.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They save time because developers don’t need to build everything from zero.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APIs keep data safe using keys, tokens, and authentication.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They help apps connect with external services like Google Maps or payment systems.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APIs support reusability, so the same feature can be used many times without rewriting code.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They are used in most modern apps for login, payments, location, notifications, cloud services, and more.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918750" y="86375"/>
            <a:ext cx="7651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918750" y="560402"/>
            <a:ext cx="8182500" cy="4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Why API Is Needed?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 allow communication between different applications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 reuse existing services instead of building everything from scratch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 integrate multiple systems together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 enable cloud-based features and online services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 provide standardized data exchange using common formats like JSON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 speed up development and reduce code complexity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Components of an API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Endpoint (URL)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specific web address where an API service or function is accessed.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Each endpoint performs a unique task such as fetching users, products, etc.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https://api.example.com/users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Request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request is the action sent by the client to ask the server for data or service.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It contains method, headers, and sometimes a body.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User sends a request to log in.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3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918750" y="86375"/>
            <a:ext cx="7651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918750" y="560402"/>
            <a:ext cx="8182500" cy="4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HTTP Methods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Methods define what action you want to perform (GET, POST, PUT, DELETE).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for operations like fetching, adding, updating, and removing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GET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/products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→ fetch all products.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Headers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Provide extra information like authentication or content type.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Help the server understand how to process the request.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Content-Type: application/json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5. Request Body (Payload)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Contains data sent with POST/PUT requests.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Usually written in JSON format.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 "name": "Rahul",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 "age": 20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918750" y="86375"/>
            <a:ext cx="7651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918750" y="560402"/>
            <a:ext cx="8182500" cy="4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6. Response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output returned by the server after processing the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Usually includes data + status of the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 "status": "success",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 "id": 101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7. Status Codes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Indicate the result of the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ll whether the request was successful or if an error occurred.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200 → OK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404 → Not Found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How API Works (Request → Response Cycle)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1: Client Sends a Request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The process begins when the user performs an action inside an app (like clicking a button).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The app (client) prepares a request containing endpoint, method, headers, and optional data, and sends it to the server.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Opening Uber sends your location data to the server to find nearby cabs.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2: API Endpoint Receives the Request</a:t>
            </a:r>
            <a:endParaRPr b="1"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The request reaches a specific API endpoint (URL) that is responsible for performing that task.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The server checks whether the endpoint is valid and allowed.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Request goes to: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/getNearbyCabs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3: Server Processes the Request</a:t>
            </a:r>
            <a:endParaRPr b="1"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The server checks the request data, runs backend logic, and accesses the database if required.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Server also verifies authentication, permissions, and ensures the request is valid.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Server finds cabs near the user's location by checking the cab database.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4: Server Sends a Response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After processing, the server prepares a response, usually in JSON or XML.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response contains the requested data along with a status code (success/error).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"cab1": "2 mins away",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"cab2": "5 mins away"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5: Client Displays the Result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app receives the response and converts it into a visual output for the user.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user sees the updated data instantly inside the app.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Uber app shows: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"2 cabs available near you"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What is a Web API?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Web API is an API that works over the internet using HTTP/HTTPS protocols.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It allows communication between client (mobile/web app) and server.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to send and receive data in formats like JSON or XML.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JSON is most commonly used because it is lightweight and easy to parse.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Enables apps to access web-based services such as weather info, maps, logins, payments, etc.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Platform-independent — any device (Android, iOS, website) can use a Web API.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Follows the request → response model, where client sends a request and server returns a response.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Most Web APIs follow REST principles, but some use SOAP or other architectures.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Widely used in modern applications like banking apps, food delivery apps, social media, and e-commerce.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 of a Web API Call: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Request: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	GET: 	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https://api.example.com/products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Response: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 { "id": 1, "name": "Laptop" },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 { "id": 2, "name": "Mouse" 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Types of APIs(Based on Access)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Open API (Public API)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Available for everyone to use without major restrictions.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Usually requires simple sign-up or an API key.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for public information or common services.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Public APIs require an API Key to identify which app or developer is making the request and to prevent misuse.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Different platforms use different types of keys, such as Android app keys, Web service keys, or Web application keys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OpenWeather API, Currency Converter API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Private API (Internal API)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Accessible only inside an organization or company.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Not exposed to the public for security reasons.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to connect internal systems (HR, Finance, Admin apps).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Helps improve internal automation and workflow efficiency.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Private APIs access sensitive or personal user data, so they require strict authorization before use.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OAuth 2.0 is used to obtain user permission, ensuring the app can access the user's private data securely.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Company’s internal employee data API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Partner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Shared only with selected business partners.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Requires contracts, agreements, and strong authentication.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in B2B integrations (banking, travel, logistics).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Allows companies to securely share business data with partners.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Bank → Payment Gateway API for merchants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Composite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Combines multiple API calls into a single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Reduces network usage and improves performance.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Useful when an app needs data from different services at once.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Commonly used in microservices architecture.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E-commerce checkout API (fetches user details, cart items, payment info in one call)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Types of APIs(Based on Technology)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REST API (Representational State Transfer)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standard HTTP methods like GET, POST, PUT, DELETE to perform operations.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Transfers data mainly in JSON, which is lightweight, fast, and easy for apps to process.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Follows a client–server model, keeping frontend and backend independent for flexibility.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Stateless — the server does not store any session or user information between requests.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caching, which improves performance for repeated or slow requests.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Widely used and scalable, suitable for mobile apps, web apps, and cloud services.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https://api.example.com/users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(GET → fetch users)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GraphQL API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Client can request exact data needed (no extra or missing data).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a single endpoint (example: /graphql).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Reduces number of API calls by grouping queries.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Ideal for mobile apps where bandwidth must be saved.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Querying user info + posts in one request.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SOAP API (Simple Object Access Protocol)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XML format for sending and receiving data, making it strict and highly structured.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Follows strong security standards, suitable for sensitive data like banking and enterprise systems.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multiple communication protocols such as HTTP, SMTP, and TCP/IP.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Extensible and style-independent, allowing developers to add features and customize message formats.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Defines strict rules for how messages are processed and how services communicate.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Heavier and slower than REST due to XML and rigid message structure.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 banking transaction service using SOAP XML messages.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RPC API (Remote Procedure Call)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Client calls a function on the server directly (like calling a method).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JSON-RPC or XML-RPC formats.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Fast and simple because focus is on function calls, not resources.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Useful for internal systems or microservices communication.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addUser(name, email) function call via RPC.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JSON-RPC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JSON for data transfer, making it lightweight and fast.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Allows remote function calls with very simple structure and minimal rules.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XML-RPC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XML over HTTP for communication between systems.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Suitable for exchanging data between different networks or platforms.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Types of API</a:t>
            </a: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(Platform Based</a:t>
            </a: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Library / SDK APIs (Platform APIs)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These are pre-built classes, methods, and tools provided by a platform to build applications.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to perform internal tasks like UI design, camera access, sensors, file handling, database operations.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They run inside the application and do </a:t>
            </a:r>
            <a:r>
              <a:rPr i="1" lang="en" sz="1200"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require internet (unless they call a Web API).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Help developers avoid writing code from scratch by providing ready-made functions.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Examples: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API → Activities, Intents, RecyclerView, Camera APIs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Java API → Collection Framework, File I/O, Networking classes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Python API → OS module, Math module, JSON module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API Communication (HTTP, JSON, XML)</a:t>
            </a:r>
            <a:endParaRPr b="1"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Uses HTTP Protocol for communication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APIs use HTTP methods like GET, POST, PUT, DELETE to send and receive data.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/products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→ fetch all products.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JSON is the most common data format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Lightweight, easy to read, and used in almost all modern APIs.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 "name": "Laptop", "price": 50000 }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XML is used in older/enterprise systems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Structured using tags; heavier than JSON but very strict.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&lt;product&gt;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&lt;name&gt;Laptop&lt;/name&gt;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&lt;price&gt;50000&lt;/price&gt;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&lt;/product&gt;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HTTPS ensures secure communication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Encrypts data between client and server to prevent hacking.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Example: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https://api.example.com/orders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API Authentication (API Key, OAuth)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API Key Authentication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simple key is used to identify the app or developer.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https://api.example.com/data?key=ABC123XYZ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OAuth 2.0 for secure user login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when the API needs user permission (Google Login, Instagram Login).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User logs in → App receives Access Token.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Bearer Token Authentication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Token sent in the request header for secure access.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Authorization: Bearer A94ks72Hs9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Ensures authorized and safe access to data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Prevents unauthorized users from accessing private information.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Only logged-in user can access: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https://api.example.com/user/profile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What Are Google APIs?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APIs are services provided by Google that Android developers can use to add advanced features to their apps without building everything from scratch.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 ready-made functionalities like Maps, Location, Sign-In, Places, and Push Notifications.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Simplify development, since developers do not need to write complex features manually.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Work through Google Play Services, ensuring smooth and consistent performance across Android devices.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Allow apps to interact with Google’s powerful backend, such as Maps data, machine learning, and cloud storage.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Ensure high security because Google handles authentication, authorization, and data protection.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Offer regular updates without requiring app reinstallation or app store updates.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Widely used in apps that need location, login, cloud sync, or live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delivery app uses Google Maps API to show real-time driver location.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fitness app uses Google Fit API to track the user’s steps.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Why We Use Google APIs in Android?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add advanced features easily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- Google provides ready-made services like Maps, Location, Sign-In, Payments, etc., so developers don’t need to build them from scratch.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improve accuracy and performance - 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APIs (e.g., Fused Location API) provide more accurate results than manual implementation.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save development time and reduce complexity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- Developers can integrate features quickly using Google Play Services and SDKs instead of writing complex code.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provide secure and reliable functionality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- Google APIs come with built-in authentication, encryption, and safe access to user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ensure compatibility across Android devices - 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Play Services updates automatically, so APIs work on most Android versions without app updates.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connect apps with Google cloud services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- APIs like Firebase offer authentication, database, messaging, analytics, and hosting — all cloud-managed.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 enable seamless user experience - 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Services like Google Sign-In, Google Pay, and Maps make apps easier and faster for users.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Role of Google Play Services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Play Services is a background system on Android that provides essential Google APIs to apps. It ensures apps can use Google features without needing Android OS updates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core Google APIs (Maps, Location, Places, Sign-In, Firebase).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Updates automatically in the background — apps get the latest API version without reinstalling the app.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Improves app performance by optimizing location accuracy, battery usage, and network communication. Offers strong security through Google Security Services, OAuth, and Safe Browsing.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Ensures compatibility across different Android versions and devices, reducing fragmentation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fused location provider, which combines GPS + WiFi + Mobile networks for accurate and fast location.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Enables features like push notifications, in-app updates, Google authentication, and cloud messaging.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Examples: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Maps works only because Play Services provides map rendering and location accuracy.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Sign-In (Login with Google) depends on Play Services for secure authentication.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3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Need of API Keys (Android / Web)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1. Identify the Application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API Keys help Google verify which app or website is making the request.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This prevents unknown or unauthorized apps from using Google’s services.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Only your Android app with your signed key can use your Google Maps API key.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2. Prevent Misuse of Google Services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API keys ensure that only registered apps can access Google APIs.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Without a key, users could freely consume Maps, Places, or other services illegally.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Someone cannot use your Google Maps billing quota without your API key.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3. Enable Security and Access Control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Different keys are issued for Android apps, web apps, or backend services.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This ensures that each environment is secured properly.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 Example: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Android API key → works only in your signed Android app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Web API key → works only for your website domain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4. Track Usage and Apply Limits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Google uses API keys to monitor how many requests are made and prevent overuse.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It also helps in billing calculations for paid APIs.</a:t>
            </a:r>
            <a:br>
              <a:rPr lang="en" sz="11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 Example: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Google can limit your app to 1,000 requests per day if needed.</a:t>
            </a:r>
            <a:endParaRPr b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Common Types of Google APIs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Google Maps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to display interactive maps inside Android apps.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markers, routes, traffic layers, and custom map styling.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Helps apps show location-based features like navigation and directions.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Requires an API Key from Google Cloud Console.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Zomato uses Google Maps API to show restaurant locations and delivery routes.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Google Sign-In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Allows users to log in using their Google account credentials.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OAuth 2.0 for secure authentication.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Reduces the need for users to create new passwords.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Returns user details like name, email, and profile photo.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learning app uses Google Sign-In to allow students to log in quickly.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" name="Google Shape;258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Google Pay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Enables apps to accept payments using Google Pay wallet.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UPI, cards, and digital wallets.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secure and fast checkout with tokenized payments.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Does not store user card details (handled by Google).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shopping app uses Google Pay API for secure UPI payments.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Go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gle Play Games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Used to add gaming features like leaderboards and achievements.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cloud game saves so players can continue on any device.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Offers sign-in for player identity and profiles.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Helps track game progress and rewards.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racing game uses Google Games API to show global leaderboards.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" name="Google Shape;265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1" name="Google Shape;271;p39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5. Google Location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accurate and optimized device location using GPS + WiFi + Mobile networks.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Uses Fused Location Provider for better battery performance.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geofencing (trigger events when entering/exiting a location).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Widely used in tracking and navigation apps.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Swiggy uses Google Location API to track delivery partner movement.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6. Firebase APIs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Cloud-based services for authentication, database, and storage.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Firebase Cloud Messaging (FCM) for push notifications.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Realtime Database &amp; Firestore for live data syncing.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Simple SDK integration with Android apps through Firebase Console.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 chat app uses Firebase Realtime Database to update messages instantly.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2" name="Google Shape;272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How Google APIs Work (Android/Web)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APIs work through a combination of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API Keys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Play Services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and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HTTP/SDK-based communication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with Google’s servers.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Developer Enables the API (in Google Cloud Console)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You must enable the required service (Maps, Location, Firebase, Sign-In etc.).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This tells Google that your app is allowed to use this service.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Enabling </a:t>
            </a:r>
            <a:r>
              <a:rPr i="1" lang="en" sz="1200">
                <a:latin typeface="Roboto Mono"/>
                <a:ea typeface="Roboto Mono"/>
                <a:cs typeface="Roboto Mono"/>
                <a:sym typeface="Roboto Mono"/>
              </a:rPr>
              <a:t>Maps SDK for Android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App Uses an API Key to Authenticate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Every request made by the app must include an API key.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uses this key to identify </a:t>
            </a:r>
            <a:r>
              <a:rPr i="1" lang="en" sz="1200">
                <a:latin typeface="Roboto Mono"/>
                <a:ea typeface="Roboto Mono"/>
                <a:cs typeface="Roboto Mono"/>
                <a:sym typeface="Roboto Mono"/>
              </a:rPr>
              <a:t>which app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is making the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key also restricts usage (Domain/Android App restrictions).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&lt;meta-data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android:name="com.google.android.geo.API_KEY"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android:value="YOUR_API_KEY" /&gt;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9" name="Google Shape;279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5" name="Google Shape;285;p41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App Sends Request Through Google Play Services or HTTPS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Depending on the API, two methods are used: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A. Google Play Services (Android only)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APIs like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Location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Maps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Sign-In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Pay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Games Services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Work through a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client library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installed on the device.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Faster &amp; optimized (no raw HTTP calls).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B. HTTPS/Web API Request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Some services send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JSON/XML requests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to Google servers.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Google Server Processes the Request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receives the request and performs required operations: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It verifies the API Key.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It checks permissions &amp; quota.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It processes the user request (location, map tiles, sign-in token, payment etc.).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6" name="Google Shape;286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2" name="Google Shape;292;p42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5. Response Sent Back to App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sends a response back in: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JSON (for web APIs)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SDK Callback (Android APIs)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app uses this result inside UI or backend logic.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 (Google Maps API Working)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App loads a map → Google Maps SDK sends API key.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verifies the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sends map tiles and location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App displays interactive map on screen.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918750" y="518275"/>
            <a:ext cx="8182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How Google APIs work behind the scenes?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Most of Google APIs are web based APIs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This kind of APIs are RESTFUL APIs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•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REST is a style of software architecture that is based on HTTP protocol to retrieve data</a:t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Structure of a Google API Request (Android)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API Scope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Tells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which Google service or feature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the Android app wants to use.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Helps the API understand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what type of data or operation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the app is requesting.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Different scopes enable different permissions (Maps, YouTube, Drive, etc.).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 (Android → Google Maps Geocoding):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maps/api/geocode/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→ App is requesting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address-to-coordinates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service.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Output Format (Android API Response)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Specifies the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data format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the Android app will receive from the API.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commonly uses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because it's lightweight and easy to parse.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Output format is usually defined in the endpoint or in query parameters.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/json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or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?output=json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→ API will return response in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JSON format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0" name="Google Shape;300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Introduction to Google APIs for Android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6" name="Google Shape;306;p44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3. Action (In Android API Calls)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Defines what operation the Android app wants to perform on the API.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uses HTTP methods like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GET (fetch), POST (send), PUT (update), DELETE (remove)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Action is written in Retrofit/Volley or appears inside the API endpoint.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 (Android Retrofit):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@GET("search")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@POST("update")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4. Parameters (In Android API Requests)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Additional details that the Android app sends along with the request.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Includes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API key, user ID, coordinates, page number, query text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, etc.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sends parameters using: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Query parameters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?key=123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Body parameters (JSON in POST)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 (Android URL):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?address=Bangalore&amp;key=XYZ123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7" name="Google Shape;307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on tablet " id="313" name="Google Shape;313;p45"/>
          <p:cNvPicPr preferRelativeResize="0"/>
          <p:nvPr>
            <p:ph idx="2" type="pic"/>
          </p:nvPr>
        </p:nvPicPr>
        <p:blipFill rotWithShape="1">
          <a:blip r:embed="rId3">
            <a:alphaModFix amt="35000"/>
          </a:blip>
          <a:srcRect b="0" l="4627" r="4636" t="0"/>
          <a:stretch/>
        </p:blipFill>
        <p:spPr>
          <a:xfrm>
            <a:off x="0" y="5950"/>
            <a:ext cx="9144001" cy="5143500"/>
          </a:xfrm>
          <a:prstGeom prst="rect">
            <a:avLst/>
          </a:prstGeom>
          <a:solidFill>
            <a:srgbClr val="012F62"/>
          </a:solidFill>
          <a:ln>
            <a:noFill/>
          </a:ln>
        </p:spPr>
      </p:pic>
      <p:sp>
        <p:nvSpPr>
          <p:cNvPr id="314" name="Google Shape;314;p45"/>
          <p:cNvSpPr txBox="1"/>
          <p:nvPr>
            <p:ph type="ctrTitle"/>
          </p:nvPr>
        </p:nvSpPr>
        <p:spPr>
          <a:xfrm>
            <a:off x="345275" y="1560625"/>
            <a:ext cx="85674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" sz="5000"/>
              <a:t>Permissions</a:t>
            </a:r>
            <a:endParaRPr b="1" sz="5000"/>
          </a:p>
        </p:txBody>
      </p:sp>
      <p:sp>
        <p:nvSpPr>
          <p:cNvPr descr="CVIT 2020 - PERSPECTIVES OF ACADEMICS REINFORCED BY START-UPS AND INDUSTRIES" id="315" name="Google Shape;315;p45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16" name="Google Shape;316;p45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17" name="Google Shape;317;p45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18" name="Google Shape;318;p45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19" name="Google Shape;319;p45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IT 2020 - PERSPECTIVES OF ACADEMICS REINFORCED BY START-UPS AND INDUSTRIES" id="320" name="Google Shape;32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236" y="364017"/>
            <a:ext cx="1923500" cy="19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Permissions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Android Permissions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permissions are security mechanisms that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protect user data and device features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 Before an app can access sensitive information or system resources (such as camera, contacts, storage, or location), it must request permission from the user.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Why Permissions Are Needed?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Permissions ensure that: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Apps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cannot access user data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without approval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Device resources are protected from misuse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Users have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control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over what apps can access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Example resources protected by permissions: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Camera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Contacts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Location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Microphone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Storage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Permissions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47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Types of Android Permissions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classifies permissions into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two main categories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Normal Permissions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These allow access to non-sensitive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Automatically granted at install time.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No user confirmation popup.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Examples: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Access network state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Bluetooth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Internet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Set alarms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Dangerous Permissions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Involve access to sensitive user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User must grant them at runtime.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App shows a permission dialog asking for user approval.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Examples: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Camera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Location (GPS)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Contacts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Storage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Microphone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SMS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Call logs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4" name="Google Shape;334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Permissions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0" name="Google Shape;340;p48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Declaring Permissions in AndroidManifest.xml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Every permission must be declared before use.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Example: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android:name="android.permission.CAMERA" /&gt;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android:name="android.permission.ACCESS_FINE_LOCATION" /&gt;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API Permissions in Android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APIs (such as Maps, Location, Places, Sign-In, FCM, etc.) require specific Android permissions so the app can access hardware features or user data. These permissions must be declared in the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AndroidManifest.xml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and, if dangerous, requested at runtime.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Why Google APIs Need Permissions?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Google APIs need permissions to: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Access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location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for Maps/Location Services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Access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internet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to communicate with Google servers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Access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network state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to check connectivity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Access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accounts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for Google Sign-In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Without correct permissions, the APIs will not work.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1" name="Google Shape;341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Permissions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7" name="Google Shape;347;p49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Common Permissions Used by Google APIs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Maps API Permissions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android:name="android.permission.INTERNET"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android:name="android.permission.ACCESS_FINE_LOCATION"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android:name="android.permission.ACCESS_COARSE_LOCATION"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Location Services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android:name="android.permission.ACCESS_FINE_LOCATION"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android:name="android.permission.ACCESS_COARSE_LOCATION"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Places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android:name="android.permission.INTERNET"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android:name="android.permission.ACCESS_FINE_LOCATION"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Google Sign-In API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android:name="android.permission.GET_ACCOUNTS" /&gt;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&lt;uses-permission android:name="android.permission.INTERNET" /&gt;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8" name="Google Shape;348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on tablet " id="354" name="Google Shape;354;p50"/>
          <p:cNvPicPr preferRelativeResize="0"/>
          <p:nvPr>
            <p:ph idx="2" type="pic"/>
          </p:nvPr>
        </p:nvPicPr>
        <p:blipFill rotWithShape="1">
          <a:blip r:embed="rId3">
            <a:alphaModFix amt="35000"/>
          </a:blip>
          <a:srcRect b="0" l="4627" r="4636" t="0"/>
          <a:stretch/>
        </p:blipFill>
        <p:spPr>
          <a:xfrm>
            <a:off x="0" y="5950"/>
            <a:ext cx="9144001" cy="5143500"/>
          </a:xfrm>
          <a:prstGeom prst="rect">
            <a:avLst/>
          </a:prstGeom>
          <a:solidFill>
            <a:srgbClr val="012F62"/>
          </a:solidFill>
          <a:ln>
            <a:noFill/>
          </a:ln>
        </p:spPr>
      </p:pic>
      <p:sp>
        <p:nvSpPr>
          <p:cNvPr id="355" name="Google Shape;355;p50"/>
          <p:cNvSpPr txBox="1"/>
          <p:nvPr>
            <p:ph type="ctrTitle"/>
          </p:nvPr>
        </p:nvSpPr>
        <p:spPr>
          <a:xfrm>
            <a:off x="345275" y="1560625"/>
            <a:ext cx="85674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" sz="5000"/>
              <a:t>Platform and Security</a:t>
            </a:r>
            <a:endParaRPr b="1" sz="5000"/>
          </a:p>
        </p:txBody>
      </p:sp>
      <p:sp>
        <p:nvSpPr>
          <p:cNvPr descr="CVIT 2020 - PERSPECTIVES OF ACADEMICS REINFORCED BY START-UPS AND INDUSTRIES" id="356" name="Google Shape;356;p50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57" name="Google Shape;357;p50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58" name="Google Shape;358;p50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59" name="Google Shape;359;p50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60" name="Google Shape;360;p50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IT 2020 - PERSPECTIVES OF ACADEMICS REINFORCED BY START-UPS AND INDUSTRIES" id="361" name="Google Shape;36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236" y="364017"/>
            <a:ext cx="1923500" cy="19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Platform and Security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7" name="Google Shape;367;p51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Platform and Security in Android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is designed with a multi-layered security model that protects the device, user data, and applications. The platform uses both software and hardware-based mechanisms to ensure that apps run safely without harming each other or the system.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Android as a Platform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 Android platform includes: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Linux Kernel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Android Runtime (ART/Dalvik)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Application Framework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System Apps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These layers work together to provide a stable environment for application execution.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Android Security Architecture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Android follows a sandbox-based security model, meaning every app runs in its own isolated environment. 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Key Components of Android Security are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A. Application Sandbox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Each app runs as a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separate Linux user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Apps cannot access each other’s data directly.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Protects a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ps from malicious behavior.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8" name="Google Shape;368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Platform and Security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4" name="Google Shape;374;p52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B. Linux Kernel Security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fundamental security features: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Process isolation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Memory protection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Permissions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Secure IPC (Inter-Process Communication)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C. Permissions System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Controls access to sensitive hardware and user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Dangerous permissions require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user approval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at runtime.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D. Google Play Protect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Built-in malware scanner.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Automatically checks apps for harmful behavior.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Runs in the background.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E. Secure Boot &amp; Verified Boot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Ensures the device boots using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trusted software only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Prevents tampering or rootkits.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5" name="Google Shape;375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3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Platform and Security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1" name="Google Shape;381;p53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F. Encryption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Full-disk encryption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file-based encryption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protect stored data.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Keeps data secure even if the device is stolen.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G. Application Signing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Developers must sign apps with a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digital certificate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Ensures code authenticity and integrity.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Helps the system identify the app developer.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2" name="Google Shape;382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on tablet " id="388" name="Google Shape;388;p54"/>
          <p:cNvPicPr preferRelativeResize="0"/>
          <p:nvPr>
            <p:ph idx="2" type="pic"/>
          </p:nvPr>
        </p:nvPicPr>
        <p:blipFill rotWithShape="1">
          <a:blip r:embed="rId3">
            <a:alphaModFix amt="35000"/>
          </a:blip>
          <a:srcRect b="0" l="4627" r="4636" t="0"/>
          <a:stretch/>
        </p:blipFill>
        <p:spPr>
          <a:xfrm>
            <a:off x="0" y="5950"/>
            <a:ext cx="9144001" cy="5143500"/>
          </a:xfrm>
          <a:prstGeom prst="rect">
            <a:avLst/>
          </a:prstGeom>
          <a:solidFill>
            <a:srgbClr val="012F62"/>
          </a:solidFill>
          <a:ln>
            <a:noFill/>
          </a:ln>
        </p:spPr>
      </p:pic>
      <p:sp>
        <p:nvSpPr>
          <p:cNvPr id="389" name="Google Shape;389;p54"/>
          <p:cNvSpPr txBox="1"/>
          <p:nvPr>
            <p:ph type="ctrTitle"/>
          </p:nvPr>
        </p:nvSpPr>
        <p:spPr>
          <a:xfrm>
            <a:off x="345275" y="1560625"/>
            <a:ext cx="85674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" sz="5000"/>
              <a:t>Firebase Database</a:t>
            </a:r>
            <a:endParaRPr b="1" sz="5000"/>
          </a:p>
        </p:txBody>
      </p:sp>
      <p:sp>
        <p:nvSpPr>
          <p:cNvPr descr="CVIT 2020 - PERSPECTIVES OF ACADEMICS REINFORCED BY START-UPS AND INDUSTRIES" id="390" name="Google Shape;390;p54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91" name="Google Shape;391;p54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92" name="Google Shape;392;p54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93" name="Google Shape;393;p54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VIT 2020 - PERSPECTIVES OF ACADEMICS REINFORCED BY START-UPS AND INDUSTRIES" id="394" name="Google Shape;394;p54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IT 2020 - PERSPECTIVES OF ACADEMICS REINFORCED BY START-UPS AND INDUSTRIES" id="395" name="Google Shape;39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236" y="364017"/>
            <a:ext cx="1923500" cy="19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1" name="Google Shape;401;p55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What is Firebase?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Firebase is a cloud-based mobile and web application development platform provided by Google. It offers a collection of backend services such as databases, authentication, cloud storage, hosting, machine learning, and analytics. These services help developers build applications without managing servers, allowing faster development, real-time data handling, and secure communication between the app and the cloud.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Types of Firebase Databases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Firebase provides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two types of cloud NoSQL databases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1. Firebase Realtime Database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Cloud-hosted NoSQL JSON database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Stores data as a single large JSON tree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real-time synchronization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Best for chat apps, live updates, and quick data sync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Provides offline capabilities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Simple structure but limited advanced querying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2" name="Google Shape;402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6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8" name="Google Shape;408;p56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2. Cloud Firestore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NoSQL document–collection database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Structured, scalable, and suitable for large apps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Supports complex queries and indexing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Offers real-time updates + offline support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Better performance for large datasets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●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Hierarchical and more organized than Realtime Database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Firebase Products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A. Backend Services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Realtime Database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Real-time NoSQL JSON database.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Cloud Firestore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Scalable NoSQL document-based database.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Authentication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User login system (Email, Phone, Google, etc.).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Cloud Storage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Stores files like images, videos, PDFs.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Cloud Functions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Serverless backend code execution.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Cloud Messaging (FCM)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Push notification service.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9" name="Google Shape;409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7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5" name="Google Shape;415;p57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B. App Quality and Analytics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7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Crashlytics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Crash reporting and error monitoring.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7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Performance Monitoring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Tracks app performance issues.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7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Analytics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Tracks user behavior and app usage.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C. App Release &amp; Growth Tools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10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Remote Config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Update app behavior without publishing updates.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10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Hosting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Host web apps or static content.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10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A/B Testing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– Test features on selected user groups.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Why We Need Firebase in Android Development?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Provides Backend-as-a-Service (BaaS)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Firebase offers ready-made backend services, eliminating the need to create and manage your own server.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Real-Time Data Synchronization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Enables instant data updates across all devices, useful for chat apps, live status, or collaborative features.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Easy and Secure User Authentication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Offers built-in authentication methods like Email, Google, Phone, Facebook, etc., reducing development effort.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6" name="Google Shape;416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2" name="Google Shape;422;p58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Offline Support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Firebase databases (Realtime Database &amp; Firestore) cache data locally, allowing the app to work without internet.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Fast and Simplified Development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Provides SDKs and APIs that speed up development and reduce the amount of code needed.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Automatic Scaling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Firebase infrastructure automatically scales as your user base grows, with no configuration required.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Cross-Platform Support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 single Firebase backend can support Android, iOS, and Web apps simultaneously.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Secure Data Management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Firebase Security Rules allow developers to control who can read or write data.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Integrated Push Notifications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Firebase Cloud Messaging (FCM) makes it easy to send notifications to users.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Crash and Performance Monitoring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Tools like Crashlytics and Performance Monitoring help improve app stability and quality.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3" name="Google Shape;423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9" name="Google Shape;429;p59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How to Add Firebase to an Android App</a:t>
            </a:r>
            <a:endParaRPr b="1" sz="12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1: Create a Firebase Project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Open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Console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200"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https://console.firebase.google.com</a:t>
            </a:r>
            <a:endParaRPr sz="1200" u="sng">
              <a:solidFill>
                <a:schemeClr val="hlink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“Add Project”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Enter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Project Name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→ 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Disable/Enable Google Analytics → 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Create Project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Wait for setup → 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2: Add Your Android App to Firebase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In Firebase Console → Select your project.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Add App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(Android icon).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Enter the following details: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Android package name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(must match your app's package name)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App nickname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(optional)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Debug signing SHA-1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(optional but required for Google Sign-In)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Register App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0" name="Google Shape;430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6" name="Google Shape;436;p60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3: Download google-services.json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Download google-services.json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Save this file into your project at: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app/ google-services.json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4: Add Firebase SDK to Android Project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Open your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project-level build.gradle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file and add: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(A) Add Google Services Plugin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buildscript {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dependencies {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classpath 'com.google.gms:google-services:4.4.0'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(B) Add Google Maven Repository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repositories {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google()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mavenCentral()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3" name="Google Shape;443;p61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5: Add Firebase SDK in App Module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Open your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app-level build.gradle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and add: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(A) Apply Google Services Plugin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At bottom of file: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apply plugin: 'com.google.gms.google-services'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(B) Add the Firebase dependency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For Firebase Realtime Database: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'com.google.firebase:firebase-database:20.3.0'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For Firebase BOM (recommended):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platform('com.google.firebase:firebase-bom:33.1.0')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implementation 'com.google.firebase:firebase-database'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6: Sync the Project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Click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“Sync Now”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in Android Studio to apply all dependencies.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2"/>
          <p:cNvSpPr txBox="1"/>
          <p:nvPr>
            <p:ph type="title"/>
          </p:nvPr>
        </p:nvSpPr>
        <p:spPr>
          <a:xfrm>
            <a:off x="918750" y="86375"/>
            <a:ext cx="76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Times New Roman"/>
              <a:buNone/>
            </a:pPr>
            <a:r>
              <a:rPr b="1" lang="en" sz="2000">
                <a:latin typeface="Roboto Mono"/>
                <a:ea typeface="Roboto Mono"/>
                <a:cs typeface="Roboto Mono"/>
                <a:sym typeface="Roboto Mono"/>
              </a:rPr>
              <a:t>Firebase Database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0" name="Google Shape;450;p62"/>
          <p:cNvSpPr txBox="1"/>
          <p:nvPr>
            <p:ph idx="1" type="body"/>
          </p:nvPr>
        </p:nvSpPr>
        <p:spPr>
          <a:xfrm>
            <a:off x="918750" y="471275"/>
            <a:ext cx="81825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Step 7: Test Firebase Connection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Add this code in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MainActivity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to check: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FirebaseDatabase database = FirebaseDatabase.getInstance();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DatabaseReference ref = database.getReference("message");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ref.setValue("Firebase Connected");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If the message appears inside your Firebase Realtime Database console → </a:t>
            </a: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Firebase is successfully connected</a:t>
            </a: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1" name="Google Shape;451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