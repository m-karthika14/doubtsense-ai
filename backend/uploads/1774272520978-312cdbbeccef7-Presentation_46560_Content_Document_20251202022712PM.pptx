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767" r:id="rId1"/>
  </p:sldMasterIdLst>
  <p:notesMasterIdLst>
    <p:notesMasterId r:id="rId33"/>
  </p:notesMasterIdLst>
  <p:handoutMasterIdLst>
    <p:handoutMasterId r:id="rId34"/>
  </p:handoutMasterIdLst>
  <p:sldIdLst>
    <p:sldId id="345" r:id="rId2"/>
    <p:sldId id="299" r:id="rId3"/>
    <p:sldId id="352" r:id="rId4"/>
    <p:sldId id="353" r:id="rId5"/>
    <p:sldId id="354" r:id="rId6"/>
    <p:sldId id="355" r:id="rId7"/>
    <p:sldId id="356" r:id="rId8"/>
    <p:sldId id="357" r:id="rId9"/>
    <p:sldId id="359" r:id="rId10"/>
    <p:sldId id="358" r:id="rId11"/>
    <p:sldId id="360" r:id="rId12"/>
    <p:sldId id="361" r:id="rId13"/>
    <p:sldId id="362" r:id="rId14"/>
    <p:sldId id="363" r:id="rId15"/>
    <p:sldId id="364" r:id="rId16"/>
    <p:sldId id="365" r:id="rId17"/>
    <p:sldId id="366" r:id="rId18"/>
    <p:sldId id="367" r:id="rId19"/>
    <p:sldId id="368" r:id="rId20"/>
    <p:sldId id="369" r:id="rId21"/>
    <p:sldId id="370" r:id="rId22"/>
    <p:sldId id="371" r:id="rId23"/>
    <p:sldId id="372" r:id="rId24"/>
    <p:sldId id="373" r:id="rId25"/>
    <p:sldId id="374" r:id="rId26"/>
    <p:sldId id="375" r:id="rId27"/>
    <p:sldId id="376" r:id="rId28"/>
    <p:sldId id="377" r:id="rId29"/>
    <p:sldId id="378" r:id="rId30"/>
    <p:sldId id="379" r:id="rId31"/>
    <p:sldId id="380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DFF"/>
    <a:srgbClr val="F7FDF9"/>
    <a:srgbClr val="F8FBFE"/>
    <a:srgbClr val="FFFFE5"/>
    <a:srgbClr val="2A0000"/>
    <a:srgbClr val="FFE89F"/>
    <a:srgbClr val="320000"/>
    <a:srgbClr val="FEFDFF"/>
    <a:srgbClr val="4B4B4B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264" autoAdjust="0"/>
    <p:restoredTop sz="94660"/>
  </p:normalViewPr>
  <p:slideViewPr>
    <p:cSldViewPr>
      <p:cViewPr>
        <p:scale>
          <a:sx n="65" d="100"/>
          <a:sy n="65" d="100"/>
        </p:scale>
        <p:origin x="-1116" y="-3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85A238-EC7C-404A-AD7E-9E975192F44D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D28B8A-74E2-47E2-AAE6-91E67FED2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047309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xmlns="" id="{B2D530CC-B789-41E6-976C-81A2724B691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pitchFamily="-128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xmlns="" id="{6A90BF35-5C12-4B4E-BA1C-4686B0B8958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ＭＳ Ｐゴシック" pitchFamily="-128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24" name="Rectangle 4">
            <a:extLst>
              <a:ext uri="{FF2B5EF4-FFF2-40B4-BE49-F238E27FC236}">
                <a16:creationId xmlns:a16="http://schemas.microsoft.com/office/drawing/2014/main" xmlns="" id="{2C972F7B-2A12-4449-A36F-17543F19765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8677" name="Rectangle 5">
            <a:extLst>
              <a:ext uri="{FF2B5EF4-FFF2-40B4-BE49-F238E27FC236}">
                <a16:creationId xmlns:a16="http://schemas.microsoft.com/office/drawing/2014/main" xmlns="" id="{8E62E323-CD12-4335-9765-D74387BD588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28678" name="Rectangle 6">
            <a:extLst>
              <a:ext uri="{FF2B5EF4-FFF2-40B4-BE49-F238E27FC236}">
                <a16:creationId xmlns:a16="http://schemas.microsoft.com/office/drawing/2014/main" xmlns="" id="{F408682E-161F-4D08-A947-52FD704F765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pitchFamily="-128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8679" name="Rectangle 7">
            <a:extLst>
              <a:ext uri="{FF2B5EF4-FFF2-40B4-BE49-F238E27FC236}">
                <a16:creationId xmlns:a16="http://schemas.microsoft.com/office/drawing/2014/main" xmlns="" id="{552F7E71-386A-4B4A-A610-630240B5AA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436D494-6367-47D2-B070-3BE8E9547D7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927329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128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12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12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12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128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436D494-6367-47D2-B070-3BE8E9547D7E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3409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2628" y="770467"/>
            <a:ext cx="8086725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0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0634" y="4198409"/>
            <a:ext cx="6921151" cy="1645920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pPr>
              <a:defRPr/>
            </a:pPr>
            <a:fld id="{BA8A54D7-6664-4301-9B45-B08303A874C1}" type="datetime5">
              <a:rPr lang="en-US" altLang="en-US" smtClean="0"/>
              <a:t>28-Nov-25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4D920816-B334-4D6E-9F35-46F867E1DC81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8578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8411E-E92F-4069-8A58-62F742B3D506}" type="datetime5">
              <a:rPr lang="en-US" smtClean="0"/>
              <a:t>28-Nov-25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BAD86-379D-49EE-975C-62BC7A511027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1971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628" y="767419"/>
            <a:ext cx="8085582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0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0634" y="4187275"/>
            <a:ext cx="6919722" cy="1645920"/>
          </a:xfrm>
        </p:spPr>
        <p:txBody>
          <a:bodyPr anchor="t">
            <a:normAutofit/>
          </a:bodyPr>
          <a:lstStyle>
            <a:lvl1pPr marL="0" indent="0">
              <a:buNone/>
              <a:defRPr sz="28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067FD-4DEE-495B-86D6-4F8C4C6AC541}" type="datetime5">
              <a:rPr lang="en-US" smtClean="0"/>
              <a:t>28-Nov-25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0E89E-051D-4E74-8A49-92459A3E9C31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1664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7492" y="1993392"/>
            <a:ext cx="3806190" cy="3767328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7738" y="1993392"/>
            <a:ext cx="3806190" cy="3767328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95184-6FE1-4671-A8B1-50574340740F}" type="datetime5">
              <a:rPr lang="en-US" smtClean="0"/>
              <a:t>28-Nov-25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219A0-414A-42D7-8C0F-5B93AA95B6F3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0602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492" y="2032000"/>
            <a:ext cx="3806190" cy="7234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7492" y="2736150"/>
            <a:ext cx="3806190" cy="3200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66310" y="2029968"/>
            <a:ext cx="3806190" cy="722376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66310" y="2734056"/>
            <a:ext cx="3806190" cy="3200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DF782-8D6A-4D25-AA86-661B3FF73A12}" type="datetime5">
              <a:rPr lang="en-US" smtClean="0"/>
              <a:t>28-Nov-25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6F6F3-66E3-408B-BC14-25F72DF8E3DF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5213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C1A66-4828-4509-B20E-09CD98DA60A0}" type="datetime5">
              <a:rPr lang="en-US" smtClean="0"/>
              <a:t>28-Nov-25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C602E-A7DC-469C-9359-EA6634A75404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1918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C710B-8F7F-4056-AEA2-5A4010043466}" type="datetime5">
              <a:rPr lang="en-US" smtClean="0"/>
              <a:t>28-Nov-25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AC100-EA90-4392-B5BB-CB88DD161867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3862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0"/>
            <a:ext cx="3429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6196053" y="542282"/>
            <a:ext cx="253746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762000"/>
            <a:ext cx="4572000" cy="4572000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06987" y="2511813"/>
            <a:ext cx="254889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404040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B14D2-DFB5-40EC-87A2-D61BBF3093D0}" type="datetime5">
              <a:rPr lang="en-US" smtClean="0"/>
              <a:t>28-Nov-25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67430026-4C1F-4C12-ABA8-324F303834A9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19094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918" y="5418668"/>
            <a:ext cx="8085582" cy="613283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9144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rgbClr val="4D4D4D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7492" y="5909735"/>
            <a:ext cx="6922008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fld id="{C67593B6-5B4B-4345-A03A-EF9241EEC491}" type="datetime5">
              <a:rPr lang="en-US" smtClean="0"/>
              <a:t>28-Nov-25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381B99BC-D663-420D-AD83-24E61CA7E1E2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95319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B4276-4272-4F6B-946C-05DDFE21E51E}" type="datetime5">
              <a:rPr lang="en-US" smtClean="0"/>
              <a:t>28-Nov-25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62869-DF89-4DBA-AB33-C59DAFB68615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1231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7963" y="695325"/>
            <a:ext cx="1971675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8644" y="714376"/>
            <a:ext cx="5800725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5BEC9-0946-43B7-AE38-33D307CAC911}" type="datetime5">
              <a:rPr lang="en-US" smtClean="0"/>
              <a:t>28-Nov-25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248D4-0D26-45BF-9954-5311D17C5676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0101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2919" y="499533"/>
            <a:ext cx="8079581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206" y="1993393"/>
            <a:ext cx="8065294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4350" y="6412447"/>
            <a:ext cx="30861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fld id="{4F33D64A-1C58-46B2-B340-40B2839B6DA7}" type="datetime5">
              <a:rPr lang="en-US" smtClean="0"/>
              <a:t>28-Nov-25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0" y="6554697"/>
            <a:ext cx="37719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41193" y="5829748"/>
            <a:ext cx="219456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0" b="0">
                <a:ln>
                  <a:noFill/>
                </a:ln>
                <a:solidFill>
                  <a:schemeClr val="accent1">
                    <a:alpha val="20000"/>
                  </a:schemeClr>
                </a:solidFill>
                <a:latin typeface="+mj-lt"/>
              </a:defRPr>
            </a:lvl1pPr>
          </a:lstStyle>
          <a:p>
            <a:fld id="{764513CB-4791-49F4-BEAF-8BDCBADD1D46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5215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274320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body" idx="1"/>
          </p:nvPr>
        </p:nvSpPr>
        <p:spPr>
          <a:xfrm>
            <a:off x="324853" y="802414"/>
            <a:ext cx="8361947" cy="1916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endParaRPr lang="en-IN" sz="3600" b="1" i="0" u="none" strike="noStrike" cap="none" dirty="0" smtClean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IN" sz="3600" b="1" i="0" u="none" strike="noStrike" cap="none" dirty="0" smtClean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sym typeface="Arial"/>
              </a:rPr>
              <a:t>Unit-5</a:t>
            </a:r>
            <a:endParaRPr sz="3600" b="1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600" b="1" i="0" u="none" strike="noStrike" cap="none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sym typeface="Arial"/>
              </a:rPr>
              <a:t>Software </a:t>
            </a:r>
            <a:r>
              <a:rPr lang="en-US" sz="3600" b="1" i="0" u="none" strike="noStrike" cap="none" dirty="0" smtClean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sym typeface="Arial"/>
              </a:rPr>
              <a:t>Quality</a:t>
            </a:r>
            <a:endParaRPr sz="3600" b="1" i="0" u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sym typeface="Arial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9247594"/>
              </p:ext>
            </p:extLst>
          </p:nvPr>
        </p:nvGraphicFramePr>
        <p:xfrm>
          <a:off x="577516" y="2863516"/>
          <a:ext cx="8349916" cy="3168009"/>
        </p:xfrm>
        <a:graphic>
          <a:graphicData uri="http://schemas.openxmlformats.org/drawingml/2006/table">
            <a:tbl>
              <a:tblPr firstRow="1" firstCol="1" bandRow="1"/>
              <a:tblGrid>
                <a:gridCol w="203816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71034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60140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94572">
                <a:tc gridSpan="3">
                  <a:txBody>
                    <a:bodyPr/>
                    <a:lstStyle/>
                    <a:p>
                      <a:pPr marL="0" marR="0" algn="ctr"/>
                      <a:r>
                        <a:rPr lang="en-IN" sz="2000" b="1" dirty="0">
                          <a:effectLst/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</a:rPr>
                        <a:t>Presentation Material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94572">
                <a:tc gridSpan="3">
                  <a:txBody>
                    <a:bodyPr/>
                    <a:lstStyle/>
                    <a:p>
                      <a:pPr marL="0" marR="0" algn="ctr"/>
                      <a:r>
                        <a:rPr lang="en-IN" sz="2000" b="1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</a:rPr>
                        <a:t>Department of Computer Science &amp; Engineering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9486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2400" b="1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</a:rPr>
                        <a:t>Course Code:</a:t>
                      </a:r>
                      <a:endParaRPr lang="en-US" sz="1200" b="1" dirty="0"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effectLst/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</a:rPr>
                        <a:t>22CS35XX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2400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</a:rPr>
                        <a:t>Semester: </a:t>
                      </a:r>
                      <a:r>
                        <a:rPr lang="en-IN" sz="2400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</a:rPr>
                        <a:t>V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98914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2400" b="1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</a:rPr>
                        <a:t>Course Title: </a:t>
                      </a:r>
                      <a:endParaRPr lang="en-US" sz="1200" b="1" dirty="0"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</a:rPr>
                        <a:t>Software Engineering &amp; Project Management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2400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</a:rPr>
                        <a:t>Year: </a:t>
                      </a:r>
                      <a:r>
                        <a:rPr lang="en-IN" sz="2400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</a:rPr>
                        <a:t>III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9486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2400" b="1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</a:rPr>
                        <a:t>Faculty  Name:</a:t>
                      </a:r>
                      <a:endParaRPr lang="en-US" sz="1200" b="1" dirty="0"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effectLst/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</a:rPr>
                        <a:t>Dr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</a:rPr>
                        <a:t>. </a:t>
                      </a:r>
                      <a:r>
                        <a:rPr lang="en-US" sz="2000" dirty="0" err="1" smtClean="0">
                          <a:effectLst/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</a:rPr>
                        <a:t>Shreekant</a:t>
                      </a:r>
                      <a:r>
                        <a:rPr lang="en-US" sz="2000" dirty="0" smtClean="0">
                          <a:effectLst/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000" dirty="0" err="1" smtClean="0">
                          <a:effectLst/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</a:rPr>
                        <a:t>Salotagi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</a:rPr>
                        <a:t> 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94D4D-F3B2-45F4-9DA2-E6B0056486A9}" type="datetime5">
              <a:rPr lang="en-US" smtClean="0"/>
              <a:t>28-Nov-25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BAD86-379D-49EE-975C-62BC7A511027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2319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xmlns="" id="{F08768B0-D6F7-4F67-8149-91444C2CB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153400" cy="9144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b="1" dirty="0" smtClean="0">
                <a:solidFill>
                  <a:schemeClr val="tx2">
                    <a:lumMod val="50000"/>
                  </a:schemeClr>
                </a:solidFill>
              </a:rPr>
              <a:t>Module-5:  Software Quality Syllabus</a:t>
            </a:r>
            <a:endParaRPr lang="en-US" altLang="en-US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DE90897-B825-4FC3-AFE5-C8DE4D324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295400"/>
            <a:ext cx="8140908" cy="4191000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sz="2000" dirty="0" smtClean="0"/>
              <a:t>Defining </a:t>
            </a:r>
            <a:r>
              <a:rPr lang="en-US" sz="2000" dirty="0"/>
              <a:t>software quality, quality models, </a:t>
            </a:r>
            <a:r>
              <a:rPr lang="en-US" sz="2000" dirty="0" smtClean="0"/>
              <a:t>ISO </a:t>
            </a:r>
            <a:r>
              <a:rPr lang="en-US" sz="2000" dirty="0"/>
              <a:t>9126, </a:t>
            </a:r>
            <a:r>
              <a:rPr lang="en-US" sz="2000" dirty="0" smtClean="0"/>
              <a:t>product </a:t>
            </a:r>
            <a:r>
              <a:rPr lang="en-US" sz="2000" dirty="0"/>
              <a:t>and process metrics, product versus process quality management, </a:t>
            </a:r>
            <a:r>
              <a:rPr lang="en-US" sz="2000" dirty="0" smtClean="0"/>
              <a:t>Quality </a:t>
            </a:r>
            <a:r>
              <a:rPr lang="en-US" sz="2000" dirty="0"/>
              <a:t>Management systems, process capability models, techniques to enhance software quality, testing-types, Software reliability, quality plans.</a:t>
            </a:r>
            <a:endParaRPr lang="en-IN" sz="20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7F676-D043-4E74-BF67-F11E60DC4D1B}" type="datetime5">
              <a:rPr lang="en-US" smtClean="0"/>
              <a:t>28-Nov-25</a:t>
            </a:fld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41193" y="5829749"/>
            <a:ext cx="2194560" cy="875852"/>
          </a:xfrm>
        </p:spPr>
        <p:txBody>
          <a:bodyPr/>
          <a:lstStyle/>
          <a:p>
            <a:r>
              <a:rPr lang="en-US" altLang="en-US" sz="2000" dirty="0" smtClean="0">
                <a:solidFill>
                  <a:schemeClr val="tx1">
                    <a:alpha val="20000"/>
                  </a:schemeClr>
                </a:solidFill>
              </a:rPr>
              <a:t>2</a:t>
            </a:r>
            <a:endParaRPr lang="en-US" altLang="en-US" sz="2000" dirty="0">
              <a:solidFill>
                <a:schemeClr val="tx1">
                  <a:alpha val="2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3">
            <a:extLst>
              <a:ext uri="{FF2B5EF4-FFF2-40B4-BE49-F238E27FC236}">
                <a16:creationId xmlns:a16="http://schemas.microsoft.com/office/drawing/2014/main" xmlns="" id="{D1236C37-7732-4F8D-9A31-68C64BEA4C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7139" y="1248472"/>
            <a:ext cx="8229600" cy="5164360"/>
          </a:xfrm>
        </p:spPr>
        <p:txBody>
          <a:bodyPr/>
          <a:lstStyle/>
          <a:p>
            <a:pPr algn="just"/>
            <a:r>
              <a:rPr lang="en-CA" altLang="en-US" sz="2000" i="1" u="sng" dirty="0" smtClean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Increasing</a:t>
            </a:r>
            <a:r>
              <a:rPr lang="en-CA" altLang="en-US" sz="2000" i="1" u="sng" dirty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criticality of </a:t>
            </a:r>
            <a:r>
              <a:rPr lang="en-CA" altLang="en-US" sz="2000" i="1" u="sng" dirty="0" smtClean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software: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final customer or user is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naturally anxious about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general quality of software, especially its reliability.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software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is used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in more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safety-critical applications, for example to control aircraft.</a:t>
            </a:r>
          </a:p>
          <a:p>
            <a:pPr algn="just"/>
            <a:r>
              <a:rPr lang="en-CA" altLang="en-US" sz="2000" i="1" u="sng" dirty="0" smtClean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</a:t>
            </a:r>
            <a:r>
              <a:rPr lang="en-CA" altLang="en-US" sz="2000" i="1" u="sng" dirty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intangibility of </a:t>
            </a:r>
            <a:r>
              <a:rPr lang="en-CA" altLang="en-US" sz="2000" i="1" u="sng" dirty="0" smtClean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software:</a:t>
            </a:r>
            <a:r>
              <a:rPr lang="en-CA" altLang="en-US" sz="2000" i="1" dirty="0" smtClean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CA" altLang="en-US" sz="2000" i="1" dirty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CA" altLang="en-US" sz="2000" i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(something that exists but that cannot be touched</a:t>
            </a:r>
            <a:r>
              <a:rPr lang="en-CA" altLang="en-US" sz="2000" i="1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,)</a:t>
            </a:r>
            <a:r>
              <a:rPr lang="en-CA" altLang="en-US" sz="2000" i="1" dirty="0" smtClean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It can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make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difficult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to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know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that a project task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was completed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satisfactorily. Task outcomes can be made tangible by demanding that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the developer produce deliverables.</a:t>
            </a:r>
            <a:endParaRPr lang="en-CA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CA" altLang="en-US" sz="2000" i="1" u="sng" dirty="0" smtClean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Accumulating </a:t>
            </a:r>
            <a:r>
              <a:rPr lang="en-CA" altLang="en-US" sz="2000" i="1" u="sng" dirty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errors during software </a:t>
            </a:r>
            <a:r>
              <a:rPr lang="en-CA" altLang="en-US" sz="2000" i="1" u="sng" dirty="0" smtClean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development:</a:t>
            </a:r>
            <a:r>
              <a:rPr lang="en-CA" altLang="en-US" sz="2000" u="sng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As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computer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system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development comprises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steps where the output from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one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step is the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input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to the next, the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errors in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later deliverables will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be added to those in the earlier steps, </a:t>
            </a:r>
            <a:endParaRPr lang="en-CA" alt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CA" altLang="en-US" sz="2000" i="1" u="sng" dirty="0" smtClean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Leading </a:t>
            </a:r>
            <a:r>
              <a:rPr lang="en-CA" altLang="en-US" sz="2000" i="1" u="sng" dirty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to </a:t>
            </a:r>
            <a:r>
              <a:rPr lang="en-CA" altLang="en-US" sz="2000" i="1" u="sng" dirty="0" smtClean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 accumulating </a:t>
            </a:r>
            <a:r>
              <a:rPr lang="en-CA" altLang="en-US" sz="2000" i="1" u="sng" dirty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detrimental </a:t>
            </a:r>
            <a:r>
              <a:rPr lang="en-CA" altLang="en-US" sz="2000" i="1" u="sng" dirty="0" smtClean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effect:</a:t>
            </a:r>
            <a:r>
              <a:rPr lang="en-CA" altLang="en-US" sz="2000" u="sng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ln general, the later in a project that an error is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found the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more expensive it will be to fix.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because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number of errors in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the system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is unknown, the debugging phases of a project are particularly difficult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to control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endParaRPr lang="en-CA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CA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CA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27139" y="258270"/>
            <a:ext cx="717228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b="1" u="sng" dirty="0">
                <a:solidFill>
                  <a:srgbClr val="FF0000"/>
                </a:solidFill>
              </a:rPr>
              <a:t>The </a:t>
            </a:r>
            <a:r>
              <a:rPr lang="en-IN" sz="3600" b="1" u="sng" dirty="0">
                <a:solidFill>
                  <a:srgbClr val="FF0000"/>
                </a:solidFill>
                <a:latin typeface="Calibri" panose="020F0502020204030204" pitchFamily="34" charset="0"/>
              </a:rPr>
              <a:t>importance</a:t>
            </a:r>
            <a:r>
              <a:rPr lang="en-IN" sz="3200" b="1" u="sng" dirty="0">
                <a:solidFill>
                  <a:srgbClr val="FF0000"/>
                </a:solidFill>
              </a:rPr>
              <a:t> of software </a:t>
            </a:r>
            <a:r>
              <a:rPr lang="en-IN" sz="3200" b="1" u="sng" dirty="0" smtClean="0">
                <a:solidFill>
                  <a:srgbClr val="FF0000"/>
                </a:solidFill>
              </a:rPr>
              <a:t>quality</a:t>
            </a:r>
            <a:endParaRPr lang="en-IN" sz="3200" b="1" u="sng" dirty="0">
              <a:solidFill>
                <a:srgbClr val="FF0000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1D481-DB6B-4C54-B9E1-9A34410E3559}" type="datetime5">
              <a:rPr lang="en-US" smtClean="0"/>
              <a:t>28-Nov-25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BAD86-379D-49EE-975C-62BC7A511027}" type="slidenum">
              <a:rPr lang="en-US" altLang="en-US" smtClean="0"/>
              <a:pPr/>
              <a:t>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88819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3">
            <a:extLst>
              <a:ext uri="{FF2B5EF4-FFF2-40B4-BE49-F238E27FC236}">
                <a16:creationId xmlns:a16="http://schemas.microsoft.com/office/drawing/2014/main" xmlns="" id="{D1236C37-7732-4F8D-9A31-68C64BEA4C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08342" y="2036983"/>
            <a:ext cx="8229600" cy="3816823"/>
          </a:xfrm>
        </p:spPr>
        <p:txBody>
          <a:bodyPr/>
          <a:lstStyle/>
          <a:p>
            <a:r>
              <a:rPr lang="en-CA" altLang="en-US" sz="2000" i="1" u="sng" dirty="0" smtClean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Definition/description</a:t>
            </a:r>
            <a:r>
              <a:rPr lang="en-CA" altLang="en-US" sz="2000" i="1" u="sng" dirty="0" smtClean="0">
                <a:latin typeface="Cambria" panose="02040503050406030204" pitchFamily="18" charset="0"/>
                <a:ea typeface="Cambria" panose="02040503050406030204" pitchFamily="18" charset="0"/>
              </a:rPr>
              <a:t> :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definition of the quality characteristic;</a:t>
            </a:r>
          </a:p>
          <a:p>
            <a:r>
              <a:rPr lang="en-CA" altLang="en-US" sz="2000" i="1" u="sng" dirty="0" smtClean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Scale</a:t>
            </a:r>
            <a:r>
              <a:rPr lang="en-CA" altLang="en-US" sz="2000" i="1" u="sng" dirty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r>
              <a:rPr lang="en-CA" altLang="en-US" sz="2000" u="sng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unit of measurement;</a:t>
            </a:r>
          </a:p>
          <a:p>
            <a:r>
              <a:rPr lang="en-CA" altLang="en-US" sz="2000" i="1" u="sng" dirty="0" smtClean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Test:</a:t>
            </a:r>
            <a:r>
              <a:rPr lang="en-CA" altLang="en-US" sz="2000" i="1" dirty="0" smtClean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the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practical test of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the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extent to which the attribute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quality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exists;</a:t>
            </a:r>
          </a:p>
          <a:p>
            <a:r>
              <a:rPr lang="en-CA" altLang="en-US" sz="2000" i="1" dirty="0" smtClean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Minimally acceptable: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worst value which might be acceptable if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other characteristics compensated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for it, and below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which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product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would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have to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be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rejected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out of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hand;</a:t>
            </a:r>
          </a:p>
          <a:p>
            <a:r>
              <a:rPr lang="en-CA" altLang="en-US" sz="2000" i="1" u="sng" dirty="0" smtClean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Target </a:t>
            </a:r>
            <a:r>
              <a:rPr lang="en-CA" altLang="en-US" sz="2000" i="1" u="sng" dirty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range: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range of values within which it is planned the quality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measurement value.</a:t>
            </a:r>
            <a:endParaRPr lang="en-CA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CA" altLang="en-US" sz="2000" i="1" u="sng" dirty="0" smtClean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Finally: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value that applies currently.</a:t>
            </a:r>
          </a:p>
          <a:p>
            <a:endParaRPr lang="en-CA" alt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CA" alt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CA" alt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CA" alt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27139" y="258270"/>
            <a:ext cx="717228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b="1" u="sng" dirty="0" smtClean="0">
                <a:solidFill>
                  <a:srgbClr val="FF0000"/>
                </a:solidFill>
              </a:rPr>
              <a:t>Defining software quality</a:t>
            </a:r>
            <a:endParaRPr lang="en-IN" sz="3200" b="1" u="sng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7139" y="874129"/>
            <a:ext cx="800246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u="sng" dirty="0">
                <a:latin typeface="Calibri" panose="020F0502020204030204" pitchFamily="34" charset="0"/>
              </a:rPr>
              <a:t>Software quality </a:t>
            </a:r>
            <a:r>
              <a:rPr lang="en-IN" sz="2000" dirty="0">
                <a:latin typeface="Calibri" panose="020F0502020204030204" pitchFamily="34" charset="0"/>
              </a:rPr>
              <a:t>refers to how well a software product meets its intended purpose and satisfies the needs of its users and stakeholders.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864BE-B863-4702-BC62-399A580C72DD}" type="datetime5">
              <a:rPr lang="en-US" smtClean="0"/>
              <a:t>28-Nov-25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BAD86-379D-49EE-975C-62BC7A511027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3169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3">
            <a:extLst>
              <a:ext uri="{FF2B5EF4-FFF2-40B4-BE49-F238E27FC236}">
                <a16:creationId xmlns:a16="http://schemas.microsoft.com/office/drawing/2014/main" xmlns="" id="{D1236C37-7732-4F8D-9A31-68C64BEA4C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524000"/>
            <a:ext cx="8534400" cy="3505199"/>
          </a:xfrm>
        </p:spPr>
        <p:txBody>
          <a:bodyPr>
            <a:normAutofit/>
          </a:bodyPr>
          <a:lstStyle/>
          <a:p>
            <a:pPr algn="just"/>
            <a:r>
              <a:rPr lang="en-CA" altLang="en-US" i="1" u="sng" dirty="0" smtClean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Availability: </a:t>
            </a:r>
            <a:r>
              <a:rPr lang="en-CA" altLang="en-US" dirty="0">
                <a:latin typeface="Cambria" panose="02040503050406030204" pitchFamily="18" charset="0"/>
                <a:ea typeface="Cambria" panose="02040503050406030204" pitchFamily="18" charset="0"/>
              </a:rPr>
              <a:t>the percentage of a particular time interval that a system is usable;</a:t>
            </a:r>
          </a:p>
          <a:p>
            <a:pPr algn="just"/>
            <a:r>
              <a:rPr lang="en-CA" altLang="en-US" i="1" u="sng" dirty="0" smtClean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Mean </a:t>
            </a:r>
            <a:r>
              <a:rPr lang="en-CA" altLang="en-US" i="1" u="sng" dirty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time between failures: </a:t>
            </a:r>
            <a:r>
              <a:rPr lang="en-CA" altLang="en-US" dirty="0">
                <a:latin typeface="Cambria" panose="02040503050406030204" pitchFamily="18" charset="0"/>
                <a:ea typeface="Cambria" panose="02040503050406030204" pitchFamily="18" charset="0"/>
              </a:rPr>
              <a:t>the total service time divided by the number </a:t>
            </a:r>
            <a:r>
              <a:rPr lang="en-CA" alt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of failures</a:t>
            </a:r>
            <a:r>
              <a:rPr lang="en-CA" altLang="en-US" dirty="0">
                <a:latin typeface="Cambria" panose="02040503050406030204" pitchFamily="18" charset="0"/>
                <a:ea typeface="Cambria" panose="02040503050406030204" pitchFamily="18" charset="0"/>
              </a:rPr>
              <a:t>;</a:t>
            </a:r>
          </a:p>
          <a:p>
            <a:pPr algn="just"/>
            <a:r>
              <a:rPr lang="en-CA" altLang="en-US" i="1" u="sng" dirty="0" smtClean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Failure </a:t>
            </a:r>
            <a:r>
              <a:rPr lang="en-CA" altLang="en-US" i="1" u="sng" dirty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on demand: </a:t>
            </a:r>
            <a:r>
              <a:rPr lang="en-CA" altLang="en-US" dirty="0">
                <a:latin typeface="Cambria" panose="02040503050406030204" pitchFamily="18" charset="0"/>
                <a:ea typeface="Cambria" panose="02040503050406030204" pitchFamily="18" charset="0"/>
              </a:rPr>
              <a:t>the probability that a system will not be available at the </a:t>
            </a:r>
            <a:r>
              <a:rPr lang="en-CA" alt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time required </a:t>
            </a:r>
            <a:r>
              <a:rPr lang="en-CA" altLang="en-US" dirty="0">
                <a:latin typeface="Cambria" panose="02040503050406030204" pitchFamily="18" charset="0"/>
                <a:ea typeface="Cambria" panose="02040503050406030204" pitchFamily="18" charset="0"/>
              </a:rPr>
              <a:t>or the probability that a transaction will fail;</a:t>
            </a:r>
          </a:p>
          <a:p>
            <a:pPr algn="just"/>
            <a:r>
              <a:rPr lang="en-CA" altLang="en-US" i="1" u="sng" dirty="0" smtClean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Support </a:t>
            </a:r>
            <a:r>
              <a:rPr lang="en-CA" altLang="en-US" i="1" u="sng" dirty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activity: </a:t>
            </a:r>
            <a:r>
              <a:rPr lang="en-CA" altLang="en-US" dirty="0">
                <a:latin typeface="Cambria" panose="02040503050406030204" pitchFamily="18" charset="0"/>
                <a:ea typeface="Cambria" panose="02040503050406030204" pitchFamily="18" charset="0"/>
              </a:rPr>
              <a:t>the number of fault reports that are generated and processed.</a:t>
            </a:r>
          </a:p>
          <a:p>
            <a:pPr algn="just"/>
            <a:endParaRPr lang="en-CA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endParaRPr lang="en-CA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258270"/>
            <a:ext cx="830726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b="1" u="sng" dirty="0" smtClean="0">
                <a:solidFill>
                  <a:srgbClr val="FF0000"/>
                </a:solidFill>
              </a:rPr>
              <a:t>The Measurements </a:t>
            </a:r>
            <a:r>
              <a:rPr lang="en-IN" sz="3200" b="1" u="sng" dirty="0">
                <a:solidFill>
                  <a:srgbClr val="FF0000"/>
                </a:solidFill>
              </a:rPr>
              <a:t>applicable to a quality characteristic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B68AA-B9E2-41AD-BC57-92881BC53680}" type="datetime5">
              <a:rPr lang="en-US" smtClean="0"/>
              <a:t>28-Nov-25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553200" y="5460961"/>
            <a:ext cx="2194560" cy="1397039"/>
          </a:xfrm>
        </p:spPr>
        <p:txBody>
          <a:bodyPr/>
          <a:lstStyle/>
          <a:p>
            <a:fld id="{DA1BAD86-379D-49EE-975C-62BC7A511027}" type="slidenum">
              <a:rPr lang="en-US" altLang="en-US" sz="2800" smtClean="0">
                <a:solidFill>
                  <a:schemeClr val="tx1">
                    <a:alpha val="20000"/>
                  </a:schemeClr>
                </a:solidFill>
              </a:rPr>
              <a:pPr/>
              <a:t>5</a:t>
            </a:fld>
            <a:endParaRPr lang="en-US" altLang="en-US" sz="2800" dirty="0">
              <a:solidFill>
                <a:schemeClr val="tx1">
                  <a:alpha val="2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6527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3">
            <a:extLst>
              <a:ext uri="{FF2B5EF4-FFF2-40B4-BE49-F238E27FC236}">
                <a16:creationId xmlns:a16="http://schemas.microsoft.com/office/drawing/2014/main" xmlns="" id="{D1236C37-7732-4F8D-9A31-68C64BEA4C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4998006"/>
          </a:xfrm>
        </p:spPr>
        <p:txBody>
          <a:bodyPr/>
          <a:lstStyle/>
          <a:p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Functional Quality:</a:t>
            </a:r>
          </a:p>
          <a:p>
            <a:pPr marL="114300" indent="0">
              <a:buNone/>
            </a:pPr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    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Reflects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how well the software meets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functional requirements. </a:t>
            </a:r>
          </a:p>
          <a:p>
            <a:pPr marL="114300" indent="0">
              <a:buNone/>
            </a:pPr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    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Ensures accuracy, correctness, and completeness.</a:t>
            </a:r>
          </a:p>
          <a:p>
            <a:pPr marL="114300" indent="0">
              <a:buNone/>
            </a:pPr>
            <a:endParaRPr lang="en-CA" alt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Non-Functional Quality: </a:t>
            </a:r>
          </a:p>
          <a:p>
            <a:pPr marL="114300" indent="0" algn="just">
              <a:buNone/>
            </a:pPr>
            <a:r>
              <a:rPr lang="en-CA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  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Addresses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aspects like performance, scalability, security,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and usability.          </a:t>
            </a:r>
            <a:r>
              <a:rPr lang="en-CA" altLang="en-US" sz="8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    Includes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software's reliability, efficiency, and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maintainability.</a:t>
            </a:r>
          </a:p>
          <a:p>
            <a:pPr marL="114300" indent="0" algn="just">
              <a:buNone/>
            </a:pPr>
            <a:endParaRPr lang="en-CA" alt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Process Quality: </a:t>
            </a:r>
          </a:p>
          <a:p>
            <a:pPr marL="114300" indent="0" algn="just">
              <a:buNone/>
            </a:pPr>
            <a:r>
              <a:rPr lang="en-CA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  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Focuses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on how the software is developed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. A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well-managed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                                                                                                                                            </a:t>
            </a:r>
            <a:r>
              <a:rPr lang="en-CA" altLang="en-US" sz="8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    development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process leads to higher software quality.</a:t>
            </a:r>
          </a:p>
          <a:p>
            <a:endParaRPr lang="en-CA" alt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CA" alt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CA" alt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27139" y="258270"/>
            <a:ext cx="717228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b="1" u="sng" dirty="0">
                <a:solidFill>
                  <a:srgbClr val="FF0000"/>
                </a:solidFill>
              </a:rPr>
              <a:t>Dimensions of Software </a:t>
            </a:r>
            <a:r>
              <a:rPr lang="en-IN" sz="3200" b="1" u="sng" dirty="0" smtClean="0">
                <a:solidFill>
                  <a:srgbClr val="FF0000"/>
                </a:solidFill>
              </a:rPr>
              <a:t>Quality</a:t>
            </a:r>
            <a:endParaRPr lang="en-IN" sz="3200" b="1" u="sng" dirty="0">
              <a:solidFill>
                <a:srgbClr val="FF0000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AD387-FAC1-40B7-BC8E-9CB8BDBBEBC2}" type="datetime5">
              <a:rPr lang="en-US" smtClean="0"/>
              <a:t>28-Nov-25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BAD86-379D-49EE-975C-62BC7A511027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4269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3">
            <a:extLst>
              <a:ext uri="{FF2B5EF4-FFF2-40B4-BE49-F238E27FC236}">
                <a16:creationId xmlns:a16="http://schemas.microsoft.com/office/drawing/2014/main" xmlns="" id="{D1236C37-7732-4F8D-9A31-68C64BEA4C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74169" y="2362200"/>
            <a:ext cx="8336430" cy="3705726"/>
          </a:xfrm>
        </p:spPr>
        <p:txBody>
          <a:bodyPr/>
          <a:lstStyle/>
          <a:p>
            <a:pPr algn="just"/>
            <a:r>
              <a:rPr lang="en-CA" altLang="en-US" sz="2400" i="1" dirty="0" smtClean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Effectiveness:</a:t>
            </a:r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CA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ability to achieve user goals with accuracy and completeness;</a:t>
            </a:r>
          </a:p>
          <a:p>
            <a:pPr algn="just"/>
            <a:r>
              <a:rPr lang="en-CA" altLang="en-US" sz="2400" i="1" dirty="0" smtClean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Productivity:</a:t>
            </a:r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 avoiding </a:t>
            </a:r>
            <a:r>
              <a:rPr lang="en-CA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excessive use of resources, such as staff effort, in </a:t>
            </a:r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achieving user </a:t>
            </a:r>
            <a:r>
              <a:rPr lang="en-CA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goals;</a:t>
            </a:r>
          </a:p>
          <a:p>
            <a:pPr algn="just"/>
            <a:r>
              <a:rPr lang="en-CA" altLang="en-US" sz="2400" i="1" dirty="0" smtClean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Safety: </a:t>
            </a:r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within </a:t>
            </a:r>
            <a:r>
              <a:rPr lang="en-CA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reasonable levels of risk of harm to people </a:t>
            </a:r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and </a:t>
            </a:r>
            <a:r>
              <a:rPr lang="en-CA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other entities such </a:t>
            </a:r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as business</a:t>
            </a:r>
            <a:r>
              <a:rPr lang="en-CA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, software, property and the environment;</a:t>
            </a:r>
          </a:p>
          <a:p>
            <a:pPr algn="just"/>
            <a:r>
              <a:rPr lang="en-CA" altLang="en-US" sz="2400" i="1" dirty="0" smtClean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Satisfaction</a:t>
            </a:r>
            <a:r>
              <a:rPr lang="en-CA" altLang="en-US" sz="2400" i="1" dirty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r>
              <a:rPr lang="en-CA" altLang="en-US" sz="2400" dirty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CA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smiling users.</a:t>
            </a:r>
          </a:p>
          <a:p>
            <a:pPr algn="just"/>
            <a:endParaRPr lang="en-CA" alt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endParaRPr lang="en-CA" alt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endParaRPr lang="en-CA" alt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9600" y="556957"/>
            <a:ext cx="71722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u="sng" dirty="0">
                <a:solidFill>
                  <a:srgbClr val="FF0000"/>
                </a:solidFill>
              </a:rPr>
              <a:t>ISO </a:t>
            </a:r>
            <a:r>
              <a:rPr lang="en-IN" sz="2400" b="1" u="sng" dirty="0" smtClean="0">
                <a:solidFill>
                  <a:srgbClr val="FF0000"/>
                </a:solidFill>
              </a:rPr>
              <a:t>9126 introduces </a:t>
            </a:r>
            <a:r>
              <a:rPr lang="en-IN" sz="2400" b="1" u="sng" dirty="0">
                <a:solidFill>
                  <a:srgbClr val="FF0000"/>
                </a:solidFill>
              </a:rPr>
              <a:t>another type </a:t>
            </a:r>
            <a:r>
              <a:rPr lang="en-IN" sz="2400" b="1" u="sng" dirty="0" smtClean="0">
                <a:solidFill>
                  <a:srgbClr val="FF0000"/>
                </a:solidFill>
              </a:rPr>
              <a:t>of </a:t>
            </a:r>
            <a:r>
              <a:rPr lang="en-IN" sz="2400" b="1" u="sng" dirty="0">
                <a:solidFill>
                  <a:srgbClr val="FF0000"/>
                </a:solidFill>
              </a:rPr>
              <a:t>quality in use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168" y="1371600"/>
            <a:ext cx="833643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400" dirty="0" smtClean="0">
                <a:latin typeface="Calibri" panose="020F0502020204030204" pitchFamily="34" charset="0"/>
              </a:rPr>
              <a:t>ISO, Offers </a:t>
            </a:r>
            <a:r>
              <a:rPr lang="en-IN" sz="2400" dirty="0">
                <a:latin typeface="Calibri" panose="020F0502020204030204" pitchFamily="34" charset="0"/>
              </a:rPr>
              <a:t>a structured way to evaluate </a:t>
            </a:r>
            <a:r>
              <a:rPr lang="en-IN" sz="2400" dirty="0" smtClean="0">
                <a:latin typeface="Calibri" panose="020F0502020204030204" pitchFamily="34" charset="0"/>
              </a:rPr>
              <a:t>software and Identifies </a:t>
            </a:r>
            <a:r>
              <a:rPr lang="en-IN" sz="2400" dirty="0">
                <a:latin typeface="Calibri" panose="020F0502020204030204" pitchFamily="34" charset="0"/>
              </a:rPr>
              <a:t>areas of improvement during the software development lifecycle.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92CB3-2C29-48AA-B7C4-EC61DC9B6E90}" type="datetime5">
              <a:rPr lang="en-US" smtClean="0"/>
              <a:t>28-Nov-25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BAD86-379D-49EE-975C-62BC7A511027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3393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3">
            <a:extLst>
              <a:ext uri="{FF2B5EF4-FFF2-40B4-BE49-F238E27FC236}">
                <a16:creationId xmlns:a16="http://schemas.microsoft.com/office/drawing/2014/main" xmlns="" id="{D1236C37-7732-4F8D-9A31-68C64BEA4C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571236"/>
            <a:ext cx="8459661" cy="4998006"/>
          </a:xfrm>
        </p:spPr>
        <p:txBody>
          <a:bodyPr>
            <a:normAutofit lnSpcReduction="10000"/>
          </a:bodyPr>
          <a:lstStyle/>
          <a:p>
            <a:pPr algn="just"/>
            <a:r>
              <a:rPr lang="en-CA" altLang="en-US" sz="2400" i="1" u="sng" dirty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Functional Suitability: </a:t>
            </a:r>
            <a:r>
              <a:rPr lang="en-CA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Meeting specified requirements</a:t>
            </a:r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algn="just"/>
            <a:r>
              <a:rPr lang="en-CA" altLang="en-US" sz="2400" i="1" u="sng" dirty="0" smtClean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Reliability</a:t>
            </a:r>
            <a:r>
              <a:rPr lang="en-CA" altLang="en-US" sz="2400" i="1" u="sng" dirty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CA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Ability to perform under specified conditions consistently</a:t>
            </a:r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algn="just"/>
            <a:r>
              <a:rPr lang="en-CA" altLang="en-US" sz="2400" i="1" u="sng" dirty="0" smtClean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Usability</a:t>
            </a:r>
            <a:r>
              <a:rPr lang="en-CA" altLang="en-US" sz="2400" i="1" u="sng" dirty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CA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Ease of use and learnability</a:t>
            </a:r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algn="just"/>
            <a:r>
              <a:rPr lang="en-CA" altLang="en-US" sz="2400" i="1" u="sng" dirty="0" smtClean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Performance </a:t>
            </a:r>
            <a:r>
              <a:rPr lang="en-CA" altLang="en-US" sz="2400" i="1" u="sng" dirty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Efficiency: </a:t>
            </a:r>
            <a:r>
              <a:rPr lang="en-CA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Responsiveness and resource usage</a:t>
            </a:r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algn="just"/>
            <a:r>
              <a:rPr lang="en-CA" altLang="en-US" sz="2400" i="1" u="sng" dirty="0" smtClean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Maintainability</a:t>
            </a:r>
            <a:r>
              <a:rPr lang="en-CA" altLang="en-US" sz="2400" i="1" u="sng" dirty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CA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Ease of updates and fixes</a:t>
            </a:r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algn="just"/>
            <a:r>
              <a:rPr lang="en-CA" altLang="en-US" sz="2400" i="1" u="sng" dirty="0" smtClean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Portability</a:t>
            </a:r>
            <a:r>
              <a:rPr lang="en-CA" altLang="en-US" sz="2400" i="1" u="sng" dirty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CA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Adaptability across different environments</a:t>
            </a:r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algn="just"/>
            <a:endParaRPr lang="en-CA" altLang="en-US" sz="2400" i="1" u="sng" dirty="0" smtClean="0">
              <a:solidFill>
                <a:srgbClr val="FB5B3B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14300" indent="0" algn="just">
              <a:buNone/>
            </a:pPr>
            <a:r>
              <a:rPr lang="en-CA" altLang="en-US" sz="2400" b="1" i="1" dirty="0" smtClean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</a:t>
            </a:r>
            <a:r>
              <a:rPr lang="en-CA" altLang="en-US" sz="2400" b="1" i="1" u="sng" dirty="0" err="1" smtClean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Aditional</a:t>
            </a:r>
            <a:endParaRPr lang="en-CA" altLang="en-US" sz="2400" b="1" i="1" u="sng" dirty="0">
              <a:solidFill>
                <a:srgbClr val="FB5B3B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CA" altLang="en-US" sz="2400" i="1" u="sng" dirty="0" smtClean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Security</a:t>
            </a:r>
            <a:r>
              <a:rPr lang="en-CA" altLang="en-US" sz="2400" i="1" u="sng" dirty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r>
              <a:rPr lang="en-CA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Protection against unauthorized access or attacks</a:t>
            </a:r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algn="just"/>
            <a:r>
              <a:rPr lang="en-CA" altLang="en-US" sz="2400" i="1" u="sng" dirty="0" smtClean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Compatibility</a:t>
            </a:r>
            <a:r>
              <a:rPr lang="en-CA" altLang="en-US" sz="2400" i="1" u="sng" dirty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CA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Ability to function in diverse hardware/software ecosystems.</a:t>
            </a:r>
          </a:p>
          <a:p>
            <a:endParaRPr lang="en-CA" alt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CA" alt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CA" alt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51202" y="444350"/>
            <a:ext cx="717228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u="sng" dirty="0">
                <a:solidFill>
                  <a:srgbClr val="FF0000"/>
                </a:solidFill>
              </a:rPr>
              <a:t>ISO 9126 identifies </a:t>
            </a:r>
            <a:r>
              <a:rPr lang="en-IN" sz="2400" b="1" u="sng" dirty="0" smtClean="0">
                <a:solidFill>
                  <a:srgbClr val="FF0000"/>
                </a:solidFill>
              </a:rPr>
              <a:t>6-major </a:t>
            </a:r>
            <a:r>
              <a:rPr lang="en-IN" sz="2400" b="1" u="sng" dirty="0">
                <a:solidFill>
                  <a:srgbClr val="FF0000"/>
                </a:solidFill>
              </a:rPr>
              <a:t>external software quality characteristics: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477000"/>
            <a:ext cx="3086100" cy="228600"/>
          </a:xfrm>
        </p:spPr>
        <p:txBody>
          <a:bodyPr/>
          <a:lstStyle/>
          <a:p>
            <a:fld id="{92AAB70D-9983-4AC3-8FFA-10AA7ED3A31F}" type="datetime5">
              <a:rPr lang="en-US" sz="1400" smtClean="0"/>
              <a:t>28-Nov-25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BAD86-379D-49EE-975C-62BC7A511027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7285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3">
            <a:extLst>
              <a:ext uri="{FF2B5EF4-FFF2-40B4-BE49-F238E27FC236}">
                <a16:creationId xmlns:a16="http://schemas.microsoft.com/office/drawing/2014/main" xmlns="" id="{D1236C37-7732-4F8D-9A31-68C64BEA4C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28156"/>
            <a:ext cx="8229600" cy="4998006"/>
          </a:xfrm>
        </p:spPr>
        <p:txBody>
          <a:bodyPr/>
          <a:lstStyle/>
          <a:p>
            <a:endParaRPr lang="en-CA" alt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CA" alt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CA" alt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CA" alt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976" y="914401"/>
            <a:ext cx="7515225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925" y="3888959"/>
            <a:ext cx="7553325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7102F-A7D3-4687-A3C1-16432FE6F69E}" type="datetime5">
              <a:rPr lang="en-US" smtClean="0"/>
              <a:t>28-Nov-25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BAD86-379D-49EE-975C-62BC7A511027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4874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3">
            <a:extLst>
              <a:ext uri="{FF2B5EF4-FFF2-40B4-BE49-F238E27FC236}">
                <a16:creationId xmlns:a16="http://schemas.microsoft.com/office/drawing/2014/main" xmlns="" id="{D1236C37-7732-4F8D-9A31-68C64BEA4C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28156"/>
            <a:ext cx="8229600" cy="4998006"/>
          </a:xfrm>
        </p:spPr>
        <p:txBody>
          <a:bodyPr/>
          <a:lstStyle/>
          <a:p>
            <a:endParaRPr lang="en-CA" alt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CA" alt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CA" alt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CA" alt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32" y="619627"/>
            <a:ext cx="7496175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031" y="2677027"/>
            <a:ext cx="7572375" cy="183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031" y="4503319"/>
            <a:ext cx="7572375" cy="203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A773F-5B9F-4FCA-97CC-FDBA17B695A5}" type="datetime5">
              <a:rPr lang="en-US" smtClean="0"/>
              <a:t>28-Nov-25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BAD86-379D-49EE-975C-62BC7A511027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2393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3">
            <a:extLst>
              <a:ext uri="{FF2B5EF4-FFF2-40B4-BE49-F238E27FC236}">
                <a16:creationId xmlns:a16="http://schemas.microsoft.com/office/drawing/2014/main" xmlns="" id="{D1236C37-7732-4F8D-9A31-68C64BEA4C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09074" y="906015"/>
            <a:ext cx="8229600" cy="4998006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CA" altLang="en-US" sz="1800" i="1" dirty="0">
                <a:latin typeface="Cambria" panose="02040503050406030204" pitchFamily="18" charset="0"/>
                <a:ea typeface="Cambria" panose="02040503050406030204" pitchFamily="18" charset="0"/>
              </a:rPr>
              <a:t>Judge the importance of each quality characteristic for the </a:t>
            </a:r>
            <a:r>
              <a:rPr lang="en-CA" altLang="en-US" sz="1800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application: </a:t>
            </a:r>
            <a:r>
              <a:rPr lang="en-CA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Thus </a:t>
            </a:r>
            <a:r>
              <a:rPr lang="en-CA" alt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reliability will </a:t>
            </a:r>
            <a:r>
              <a:rPr lang="en-CA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be of particular concern with safety-critical systems while efficiency will </a:t>
            </a:r>
            <a:r>
              <a:rPr lang="en-CA" alt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be important </a:t>
            </a:r>
            <a:r>
              <a:rPr lang="en-CA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for some real-time systems.</a:t>
            </a:r>
          </a:p>
          <a:p>
            <a:pPr>
              <a:buFont typeface="+mj-lt"/>
              <a:buAutoNum type="arabicPeriod"/>
            </a:pPr>
            <a:r>
              <a:rPr lang="en-CA" altLang="en-US" sz="1800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Select </a:t>
            </a:r>
            <a:r>
              <a:rPr lang="en-CA" altLang="en-US" sz="1800" i="1" dirty="0">
                <a:latin typeface="Cambria" panose="02040503050406030204" pitchFamily="18" charset="0"/>
                <a:ea typeface="Cambria" panose="02040503050406030204" pitchFamily="18" charset="0"/>
              </a:rPr>
              <a:t>the </a:t>
            </a:r>
            <a:r>
              <a:rPr lang="en-CA" altLang="en-US" sz="1800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extremal </a:t>
            </a:r>
            <a:r>
              <a:rPr lang="en-CA" altLang="en-US" sz="1800" i="1" dirty="0">
                <a:latin typeface="Cambria" panose="02040503050406030204" pitchFamily="18" charset="0"/>
                <a:ea typeface="Cambria" panose="02040503050406030204" pitchFamily="18" charset="0"/>
              </a:rPr>
              <a:t>quality measurements within the ISO 9126 framework relevant </a:t>
            </a:r>
            <a:r>
              <a:rPr lang="en-CA" altLang="en-US" sz="1800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to the </a:t>
            </a:r>
            <a:r>
              <a:rPr lang="en-CA" altLang="en-US" sz="1800" i="1" dirty="0">
                <a:latin typeface="Cambria" panose="02040503050406030204" pitchFamily="18" charset="0"/>
                <a:ea typeface="Cambria" panose="02040503050406030204" pitchFamily="18" charset="0"/>
              </a:rPr>
              <a:t>qualities prioritized </a:t>
            </a:r>
            <a:r>
              <a:rPr lang="en-CA" altLang="en-US" sz="1800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above: </a:t>
            </a:r>
            <a:r>
              <a:rPr lang="en-CA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Thus for reliability mean time between failures </a:t>
            </a:r>
            <a:r>
              <a:rPr lang="en-CA" alt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would be </a:t>
            </a:r>
            <a:r>
              <a:rPr lang="en-CA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an important measurement, while for efficiency, and more specifically </a:t>
            </a:r>
            <a:r>
              <a:rPr lang="en-CA" alt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'time behaviour</a:t>
            </a:r>
            <a:r>
              <a:rPr lang="en-CA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', response time would be an obvious measurement</a:t>
            </a:r>
            <a:r>
              <a:rPr lang="en-CA" alt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endParaRPr lang="en-CA" alt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+mj-lt"/>
              <a:buAutoNum type="arabicPeriod"/>
            </a:pPr>
            <a:r>
              <a:rPr lang="en-CA" alt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Map </a:t>
            </a:r>
            <a:r>
              <a:rPr lang="en-CA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measurements </a:t>
            </a:r>
            <a:r>
              <a:rPr lang="en-CA" alt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into </a:t>
            </a:r>
            <a:r>
              <a:rPr lang="en-CA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ratings that reflect user </a:t>
            </a:r>
            <a:r>
              <a:rPr lang="en-CA" alt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satisfaction </a:t>
            </a:r>
            <a:r>
              <a:rPr lang="en-CA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For response time, </a:t>
            </a:r>
            <a:r>
              <a:rPr lang="en-CA" alt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for example</a:t>
            </a:r>
            <a:r>
              <a:rPr lang="en-CA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, the mappings might </a:t>
            </a:r>
            <a:r>
              <a:rPr lang="en-CA" alt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be</a:t>
            </a:r>
            <a:endParaRPr lang="en-CA" alt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+mj-lt"/>
              <a:buAutoNum type="arabicPeriod"/>
            </a:pPr>
            <a:endParaRPr lang="en-CA" alt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CA" alt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51202" y="213517"/>
            <a:ext cx="71722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u="sng" dirty="0">
                <a:solidFill>
                  <a:srgbClr val="FF0000"/>
                </a:solidFill>
              </a:rPr>
              <a:t>ISO 9126 </a:t>
            </a:r>
            <a:r>
              <a:rPr lang="en-IN" sz="2400" b="1" u="sng" dirty="0" smtClean="0">
                <a:solidFill>
                  <a:srgbClr val="FF0000"/>
                </a:solidFill>
              </a:rPr>
              <a:t>Suggestions:</a:t>
            </a:r>
            <a:endParaRPr lang="en-IN" sz="2400" b="1" u="sng" dirty="0">
              <a:solidFill>
                <a:srgbClr val="FF0000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" y="3838075"/>
            <a:ext cx="7543800" cy="168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17474-A56E-45A7-BD86-8BE9DE1D16C1}" type="datetime5">
              <a:rPr lang="en-US" smtClean="0"/>
              <a:t>28-Nov-25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BAD86-379D-49EE-975C-62BC7A511027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87544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3">
            <a:extLst>
              <a:ext uri="{FF2B5EF4-FFF2-40B4-BE49-F238E27FC236}">
                <a16:creationId xmlns:a16="http://schemas.microsoft.com/office/drawing/2014/main" xmlns="" id="{D1236C37-7732-4F8D-9A31-68C64BEA4C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09074" y="906015"/>
            <a:ext cx="8229600" cy="4998006"/>
          </a:xfrm>
        </p:spPr>
        <p:txBody>
          <a:bodyPr/>
          <a:lstStyle/>
          <a:p>
            <a:pPr>
              <a:buFont typeface="+mj-lt"/>
              <a:buAutoNum type="arabicPeriod" startAt="4"/>
            </a:pPr>
            <a:r>
              <a:rPr lang="en-CA" altLang="en-US" sz="1800" i="1" dirty="0">
                <a:latin typeface="Cambria" panose="02040503050406030204" pitchFamily="18" charset="0"/>
                <a:ea typeface="Cambria" panose="02040503050406030204" pitchFamily="18" charset="0"/>
              </a:rPr>
              <a:t> I</a:t>
            </a:r>
            <a:r>
              <a:rPr lang="en-CA" altLang="en-US" sz="1800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dentify </a:t>
            </a:r>
            <a:r>
              <a:rPr lang="en-CA" altLang="en-US" sz="1800" i="1" dirty="0">
                <a:latin typeface="Cambria" panose="02040503050406030204" pitchFamily="18" charset="0"/>
                <a:ea typeface="Cambria" panose="02040503050406030204" pitchFamily="18" charset="0"/>
              </a:rPr>
              <a:t>the relevant internal </a:t>
            </a:r>
            <a:r>
              <a:rPr lang="en-CA" altLang="en-US" sz="1800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measurements </a:t>
            </a:r>
            <a:r>
              <a:rPr lang="en-CA" altLang="en-US" sz="1800" i="1" dirty="0">
                <a:latin typeface="Cambria" panose="02040503050406030204" pitchFamily="18" charset="0"/>
                <a:ea typeface="Cambria" panose="02040503050406030204" pitchFamily="18" charset="0"/>
              </a:rPr>
              <a:t>and the intermediate products in </a:t>
            </a:r>
            <a:r>
              <a:rPr lang="en-CA" altLang="en-US" sz="1800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which they </a:t>
            </a:r>
            <a:r>
              <a:rPr lang="en-CA" altLang="en-US" sz="1800" i="1" dirty="0">
                <a:latin typeface="Cambria" panose="02040503050406030204" pitchFamily="18" charset="0"/>
                <a:ea typeface="Cambria" panose="02040503050406030204" pitchFamily="18" charset="0"/>
              </a:rPr>
              <a:t>appear </a:t>
            </a:r>
            <a:r>
              <a:rPr lang="en-CA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t</a:t>
            </a:r>
            <a:r>
              <a:rPr lang="en-CA" alt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his </a:t>
            </a:r>
            <a:r>
              <a:rPr lang="en-CA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would only be important where software was being developed</a:t>
            </a:r>
            <a:r>
              <a:rPr lang="en-CA" alt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, rather </a:t>
            </a:r>
            <a:r>
              <a:rPr lang="en-CA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than existing software being </a:t>
            </a:r>
            <a:r>
              <a:rPr lang="en-CA" alt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evaluated</a:t>
            </a:r>
            <a:r>
              <a:rPr lang="en-CA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r>
              <a:rPr lang="en-CA" alt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CA" alt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+mj-lt"/>
              <a:buAutoNum type="arabicPeriod" startAt="4"/>
            </a:pPr>
            <a:r>
              <a:rPr lang="en-CA" altLang="en-US" sz="1800" i="1" dirty="0">
                <a:latin typeface="Cambria" panose="02040503050406030204" pitchFamily="18" charset="0"/>
                <a:ea typeface="Cambria" panose="02040503050406030204" pitchFamily="18" charset="0"/>
              </a:rPr>
              <a:t>Overall assessment of product </a:t>
            </a:r>
            <a:r>
              <a:rPr lang="en-CA" altLang="en-US" sz="1800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quality </a:t>
            </a:r>
            <a:r>
              <a:rPr lang="en-CA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To what extent is it possible to combine </a:t>
            </a:r>
            <a:r>
              <a:rPr lang="en-CA" alt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ratings for </a:t>
            </a:r>
            <a:r>
              <a:rPr lang="en-CA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different quality characteristics into a single overall rating for </a:t>
            </a:r>
            <a:r>
              <a:rPr lang="en-CA" alt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the software</a:t>
            </a:r>
            <a:endParaRPr lang="en-CA" alt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51202" y="213517"/>
            <a:ext cx="71722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u="sng" dirty="0">
                <a:solidFill>
                  <a:srgbClr val="FF0000"/>
                </a:solidFill>
              </a:rPr>
              <a:t>ISO 9126 </a:t>
            </a:r>
            <a:r>
              <a:rPr lang="en-IN" sz="2400" b="1" u="sng" dirty="0" smtClean="0">
                <a:solidFill>
                  <a:srgbClr val="FF0000"/>
                </a:solidFill>
              </a:rPr>
              <a:t>Suggestions:</a:t>
            </a:r>
            <a:endParaRPr lang="en-IN" sz="2400" b="1" u="sng" dirty="0">
              <a:solidFill>
                <a:srgbClr val="FF0000"/>
              </a:solidFill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092" y="2791575"/>
            <a:ext cx="7595665" cy="33720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6953D-0EC4-485D-8097-88C159CCC057}" type="datetime5">
              <a:rPr lang="en-US" smtClean="0"/>
              <a:t>28-Nov-25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BAD86-379D-49EE-975C-62BC7A511027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49913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3">
            <a:extLst>
              <a:ext uri="{FF2B5EF4-FFF2-40B4-BE49-F238E27FC236}">
                <a16:creationId xmlns:a16="http://schemas.microsoft.com/office/drawing/2014/main" xmlns="" id="{D1236C37-7732-4F8D-9A31-68C64BEA4C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202" y="1164251"/>
            <a:ext cx="8229600" cy="4998006"/>
          </a:xfrm>
        </p:spPr>
        <p:txBody>
          <a:bodyPr/>
          <a:lstStyle/>
          <a:p>
            <a:pPr algn="just"/>
            <a:r>
              <a:rPr lang="en-CA" altLang="en-US" sz="2000" i="1" dirty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Entry </a:t>
            </a:r>
            <a:r>
              <a:rPr lang="en-CA" altLang="en-US" sz="2000" i="1" dirty="0" smtClean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retirements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, which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have to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be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place before an activity can start. An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example would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be that a comprehensive set of test data and expected results be prepared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and approved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before program testing can commence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algn="just"/>
            <a:endParaRPr lang="en-CA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CA" altLang="en-US" sz="2000" i="1" dirty="0" smtClean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implementation </a:t>
            </a:r>
            <a:r>
              <a:rPr lang="en-CA" altLang="en-US" sz="2000" i="1" dirty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requirements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, which define how the process is to be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conducted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In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testing phase, for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example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, it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could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be raid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down       that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whenever an error is found and conducted, all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test runs  must be  repeated, even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those that have previously been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found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to run correctly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algn="just"/>
            <a:endParaRPr lang="en-CA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CA" altLang="en-US" sz="2000" i="1" dirty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Exit requirements,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which have to be fulfilled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before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an activity is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claimed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to have been completed. For example, for the testing phase to be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recognized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as being completed, all tests will have to have been run successfully with no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outstanding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errors.</a:t>
            </a:r>
          </a:p>
          <a:p>
            <a:endParaRPr lang="en-CA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CA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CA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51202" y="213517"/>
            <a:ext cx="71722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u="sng" dirty="0">
                <a:solidFill>
                  <a:srgbClr val="FF0000"/>
                </a:solidFill>
              </a:rPr>
              <a:t>Product versus process quality management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790B4-E357-4479-BC36-2517AEF7FBB7}" type="datetime5">
              <a:rPr lang="en-US" smtClean="0"/>
              <a:t>28-Nov-25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BAD86-379D-49EE-975C-62BC7A511027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83553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3">
            <a:extLst>
              <a:ext uri="{FF2B5EF4-FFF2-40B4-BE49-F238E27FC236}">
                <a16:creationId xmlns:a16="http://schemas.microsoft.com/office/drawing/2014/main" xmlns="" id="{D1236C37-7732-4F8D-9A31-68C64BEA4C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28156"/>
            <a:ext cx="8229600" cy="4998006"/>
          </a:xfrm>
        </p:spPr>
        <p:txBody>
          <a:bodyPr/>
          <a:lstStyle/>
          <a:p>
            <a:endParaRPr lang="en-CA" alt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CA" alt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CA" alt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CA" alt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335" y="755233"/>
            <a:ext cx="7089506" cy="5874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0" y="213516"/>
            <a:ext cx="862810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u="sng" dirty="0" smtClean="0">
                <a:solidFill>
                  <a:srgbClr val="FF0000"/>
                </a:solidFill>
              </a:rPr>
              <a:t>Example for </a:t>
            </a:r>
            <a:r>
              <a:rPr lang="en-IN" sz="2000" b="1" u="sng" dirty="0">
                <a:solidFill>
                  <a:srgbClr val="FF0000"/>
                </a:solidFill>
              </a:rPr>
              <a:t>sequence of processes and deliverables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8F10-E84E-40E0-A2C2-09DA7A414C5D}" type="datetime5">
              <a:rPr lang="en-US" smtClean="0"/>
              <a:t>28-Nov-25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BAD86-379D-49EE-975C-62BC7A511027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51165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3">
            <a:extLst>
              <a:ext uri="{FF2B5EF4-FFF2-40B4-BE49-F238E27FC236}">
                <a16:creationId xmlns:a16="http://schemas.microsoft.com/office/drawing/2014/main" xmlns="" id="{D1236C37-7732-4F8D-9A31-68C64BEA4C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9646" y="1484170"/>
            <a:ext cx="8169442" cy="5253514"/>
          </a:xfrm>
        </p:spPr>
        <p:txBody>
          <a:bodyPr>
            <a:normAutofit lnSpcReduction="10000"/>
          </a:bodyPr>
          <a:lstStyle/>
          <a:p>
            <a:pPr marL="628650" indent="-514350" algn="just">
              <a:buFont typeface="+mj-lt"/>
              <a:buAutoNum type="arabicPeriod"/>
            </a:pPr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Understanding </a:t>
            </a:r>
            <a:r>
              <a:rPr lang="en-CA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requirements of </a:t>
            </a:r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customers </a:t>
            </a:r>
            <a:r>
              <a:rPr lang="en-CA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so that they can be met</a:t>
            </a:r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, or even </a:t>
            </a:r>
            <a:r>
              <a:rPr lang="en-CA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exceeded</a:t>
            </a:r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;</a:t>
            </a:r>
          </a:p>
          <a:p>
            <a:pPr marL="628650" indent="-514350" algn="just">
              <a:buFont typeface="+mj-lt"/>
              <a:buAutoNum type="arabicPeriod"/>
            </a:pPr>
            <a:r>
              <a:rPr lang="en-CA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leadership to </a:t>
            </a:r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provide </a:t>
            </a:r>
            <a:r>
              <a:rPr lang="en-CA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unity of purpose and direction needed </a:t>
            </a:r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to achieve quality </a:t>
            </a:r>
            <a:r>
              <a:rPr lang="en-CA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;</a:t>
            </a:r>
          </a:p>
          <a:p>
            <a:pPr marL="628650" indent="-514350" algn="just">
              <a:buFont typeface="+mj-lt"/>
              <a:buAutoNum type="arabicPeriod"/>
            </a:pPr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Involvement </a:t>
            </a:r>
            <a:r>
              <a:rPr lang="en-CA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of staff at all levels</a:t>
            </a:r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;</a:t>
            </a:r>
          </a:p>
          <a:p>
            <a:pPr marL="628650" indent="-514350" algn="just">
              <a:buFont typeface="+mj-lt"/>
              <a:buAutoNum type="arabicPeriod"/>
            </a:pPr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A </a:t>
            </a:r>
            <a:r>
              <a:rPr lang="en-CA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focus on the individual processes which create intermediate </a:t>
            </a:r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or deliverable </a:t>
            </a:r>
            <a:r>
              <a:rPr lang="en-CA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products and services</a:t>
            </a:r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;</a:t>
            </a:r>
          </a:p>
          <a:p>
            <a:pPr marL="628650" indent="-514350" algn="just">
              <a:buFont typeface="+mj-lt"/>
              <a:buAutoNum type="arabicPeriod"/>
            </a:pPr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A </a:t>
            </a:r>
            <a:r>
              <a:rPr lang="en-CA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focus on the systems of interrelated processes that create delivered products </a:t>
            </a:r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and services;</a:t>
            </a:r>
          </a:p>
          <a:p>
            <a:pPr marL="628650" indent="-514350" algn="just">
              <a:buFont typeface="+mj-lt"/>
              <a:buAutoNum type="arabicPeriod"/>
            </a:pPr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Continuous </a:t>
            </a:r>
            <a:r>
              <a:rPr lang="en-CA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improvement of processes</a:t>
            </a:r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;</a:t>
            </a:r>
          </a:p>
          <a:p>
            <a:pPr marL="628650" indent="-514350" algn="just">
              <a:buFont typeface="+mj-lt"/>
              <a:buAutoNum type="arabicPeriod"/>
            </a:pPr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Decision </a:t>
            </a:r>
            <a:r>
              <a:rPr lang="en-CA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making based on factual evidence;</a:t>
            </a:r>
          </a:p>
          <a:p>
            <a:pPr marL="628650" indent="-514350" algn="just">
              <a:buFont typeface="+mj-lt"/>
              <a:buAutoNum type="arabicPeriod"/>
            </a:pPr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Building </a:t>
            </a:r>
            <a:r>
              <a:rPr lang="en-CA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mutually beneficial relationships with suppliers.</a:t>
            </a:r>
          </a:p>
          <a:p>
            <a:endParaRPr lang="en-CA" alt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CA" alt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CA" alt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0316" y="966220"/>
            <a:ext cx="86281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rgbClr val="FF0000"/>
                </a:solidFill>
              </a:rPr>
              <a:t>                </a:t>
            </a:r>
            <a:r>
              <a:rPr lang="en-IN" sz="2400" b="1" u="sng" dirty="0" smtClean="0">
                <a:solidFill>
                  <a:srgbClr val="FF0000"/>
                </a:solidFill>
              </a:rPr>
              <a:t>BS EN IS0 </a:t>
            </a:r>
            <a:r>
              <a:rPr lang="en-IN" sz="2400" b="1" u="sng" dirty="0">
                <a:solidFill>
                  <a:srgbClr val="FF0000"/>
                </a:solidFill>
              </a:rPr>
              <a:t>9001:2000 </a:t>
            </a:r>
            <a:r>
              <a:rPr lang="en-IN" sz="2400" b="1" u="sng" dirty="0" smtClean="0">
                <a:solidFill>
                  <a:srgbClr val="FF0000"/>
                </a:solidFill>
              </a:rPr>
              <a:t>QMS requirements principles</a:t>
            </a:r>
            <a:endParaRPr lang="en-IN" sz="2400" b="1" u="sng" dirty="0">
              <a:solidFill>
                <a:srgbClr val="FF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90412" y="170965"/>
            <a:ext cx="52405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u="sng" dirty="0" smtClean="0">
                <a:solidFill>
                  <a:srgbClr val="FB5B3B"/>
                </a:solidFill>
                <a:latin typeface="Calibri" panose="020F0502020204030204" pitchFamily="34" charset="0"/>
              </a:rPr>
              <a:t>Quality </a:t>
            </a:r>
            <a:r>
              <a:rPr lang="en-IN" sz="3200" b="1" u="sng" dirty="0">
                <a:solidFill>
                  <a:srgbClr val="FB5B3B"/>
                </a:solidFill>
                <a:latin typeface="Calibri" panose="020F0502020204030204" pitchFamily="34" charset="0"/>
              </a:rPr>
              <a:t>management systems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9349F-CBD0-415A-B5E3-86F255FB852F}" type="datetime5">
              <a:rPr lang="en-US" smtClean="0"/>
              <a:t>28-Nov-25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BAD86-379D-49EE-975C-62BC7A511027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38848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3">
            <a:extLst>
              <a:ext uri="{FF2B5EF4-FFF2-40B4-BE49-F238E27FC236}">
                <a16:creationId xmlns:a16="http://schemas.microsoft.com/office/drawing/2014/main" xmlns="" id="{D1236C37-7732-4F8D-9A31-68C64BEA4C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128156"/>
            <a:ext cx="8610600" cy="4998006"/>
          </a:xfrm>
        </p:spPr>
        <p:txBody>
          <a:bodyPr>
            <a:noAutofit/>
          </a:bodyPr>
          <a:lstStyle/>
          <a:p>
            <a:pPr algn="just">
              <a:buFont typeface="+mj-lt"/>
              <a:buAutoNum type="arabicPeriod"/>
            </a:pPr>
            <a:r>
              <a:rPr lang="en-CA" alt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 Determining </a:t>
            </a:r>
            <a:r>
              <a:rPr lang="en-CA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the needs and expectations of the customer;</a:t>
            </a:r>
          </a:p>
          <a:p>
            <a:pPr algn="just">
              <a:buFont typeface="+mj-lt"/>
              <a:buAutoNum type="arabicPeriod"/>
            </a:pPr>
            <a:r>
              <a:rPr lang="en-CA" alt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 Establishing </a:t>
            </a:r>
            <a:r>
              <a:rPr lang="en-CA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quality policy, that is, a framework which allows the </a:t>
            </a:r>
            <a:r>
              <a:rPr lang="en-CA" alt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organization's objectives </a:t>
            </a:r>
            <a:r>
              <a:rPr lang="en-CA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in relation to quality to be defined;</a:t>
            </a:r>
          </a:p>
          <a:p>
            <a:pPr algn="just">
              <a:buFont typeface="+mj-lt"/>
              <a:buAutoNum type="arabicPeriod" startAt="3"/>
            </a:pPr>
            <a:r>
              <a:rPr lang="en-CA" alt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 Design </a:t>
            </a:r>
            <a:r>
              <a:rPr lang="en-CA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of the processes which will create the products (or deliver the services) </a:t>
            </a:r>
            <a:r>
              <a:rPr lang="en-CA" alt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which will </a:t>
            </a:r>
            <a:r>
              <a:rPr lang="en-CA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have the qualities implied in the organization's quality objectives;</a:t>
            </a:r>
          </a:p>
          <a:p>
            <a:pPr algn="just">
              <a:buFont typeface="+mj-lt"/>
              <a:buAutoNum type="arabicPeriod" startAt="4"/>
            </a:pPr>
            <a:r>
              <a:rPr lang="en-CA" alt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 Allocation </a:t>
            </a:r>
            <a:r>
              <a:rPr lang="en-CA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of the responsibilities for meeting these requirements for each element </a:t>
            </a:r>
            <a:r>
              <a:rPr lang="en-CA" alt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of each </a:t>
            </a:r>
            <a:r>
              <a:rPr lang="en-CA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process;</a:t>
            </a:r>
          </a:p>
          <a:p>
            <a:pPr algn="just">
              <a:buFont typeface="+mj-lt"/>
              <a:buAutoNum type="arabicPeriod" startAt="5"/>
            </a:pPr>
            <a:r>
              <a:rPr lang="en-CA" alt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 Ensuring </a:t>
            </a:r>
            <a:r>
              <a:rPr lang="en-CA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that resources are available to execute these processes properly</a:t>
            </a:r>
            <a:r>
              <a:rPr lang="en-CA" alt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; </a:t>
            </a:r>
            <a:endParaRPr lang="en-CA" alt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buFont typeface="+mj-lt"/>
              <a:buAutoNum type="arabicPeriod" startAt="6"/>
            </a:pPr>
            <a:r>
              <a:rPr lang="en-CA" alt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 Design </a:t>
            </a:r>
            <a:r>
              <a:rPr lang="en-CA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of methods for measuring the effectiveness and efficiency of each process </a:t>
            </a:r>
            <a:r>
              <a:rPr lang="en-CA" alt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in contributing </a:t>
            </a:r>
            <a:r>
              <a:rPr lang="en-CA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to the organization's quality objectives;</a:t>
            </a:r>
          </a:p>
          <a:p>
            <a:pPr algn="just">
              <a:buFont typeface="+mj-lt"/>
              <a:buAutoNum type="arabicPeriod" startAt="7"/>
            </a:pPr>
            <a:r>
              <a:rPr lang="en-CA" alt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 Gathering </a:t>
            </a:r>
            <a:r>
              <a:rPr lang="en-CA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of measurements;</a:t>
            </a:r>
          </a:p>
          <a:p>
            <a:pPr algn="just">
              <a:buFont typeface="+mj-lt"/>
              <a:buAutoNum type="arabicPeriod" startAt="8"/>
            </a:pPr>
            <a:r>
              <a:rPr lang="en-CA" alt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  Identification </a:t>
            </a:r>
            <a:r>
              <a:rPr lang="en-CA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of any discrepancies between the actual measurements and the </a:t>
            </a:r>
            <a:r>
              <a:rPr lang="en-CA" alt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target values</a:t>
            </a:r>
            <a:r>
              <a:rPr lang="en-CA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;</a:t>
            </a:r>
          </a:p>
          <a:p>
            <a:pPr algn="just">
              <a:buFont typeface="+mj-lt"/>
              <a:buAutoNum type="arabicPeriod" startAt="9"/>
            </a:pPr>
            <a:r>
              <a:rPr lang="en-CA" alt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 Analysis </a:t>
            </a:r>
            <a:r>
              <a:rPr lang="en-CA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and elimination of the causes of discrepancies.</a:t>
            </a:r>
          </a:p>
          <a:p>
            <a:pPr marL="114300" indent="0">
              <a:buNone/>
            </a:pPr>
            <a:endParaRPr lang="en-CA" altLang="en-US" sz="18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14300" indent="0">
              <a:buNone/>
            </a:pPr>
            <a:r>
              <a:rPr lang="en-CA" altLang="en-US" sz="2800" dirty="0" smtClean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                                        DEDAEDGIA</a:t>
            </a:r>
            <a:endParaRPr lang="en-CA" altLang="en-US" sz="2800" dirty="0">
              <a:solidFill>
                <a:srgbClr val="FB5B3B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CA" alt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CA" alt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4000" y="279089"/>
            <a:ext cx="5562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u="sng" dirty="0">
                <a:solidFill>
                  <a:srgbClr val="FF0000"/>
                </a:solidFill>
              </a:rPr>
              <a:t>BS EN IS0 9001:2000 Principle </a:t>
            </a:r>
            <a:r>
              <a:rPr lang="en-IN" sz="2400" b="1" u="sng" dirty="0" smtClean="0">
                <a:solidFill>
                  <a:srgbClr val="FF0000"/>
                </a:solidFill>
              </a:rPr>
              <a:t>Activities</a:t>
            </a:r>
            <a:endParaRPr lang="en-IN" sz="2400" b="1" u="sng" dirty="0">
              <a:solidFill>
                <a:srgbClr val="FF0000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F1A78-ACE2-47C2-A339-2EDE452EB112}" type="datetime5">
              <a:rPr lang="en-US" smtClean="0"/>
              <a:t>28-Nov-25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BAD86-379D-49EE-975C-62BC7A511027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60431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3">
            <a:extLst>
              <a:ext uri="{FF2B5EF4-FFF2-40B4-BE49-F238E27FC236}">
                <a16:creationId xmlns:a16="http://schemas.microsoft.com/office/drawing/2014/main" xmlns="" id="{D1236C37-7732-4F8D-9A31-68C64BEA4C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143000"/>
            <a:ext cx="7831282" cy="4343400"/>
          </a:xfrm>
        </p:spPr>
        <p:txBody>
          <a:bodyPr/>
          <a:lstStyle/>
          <a:p>
            <a:pPr algn="just">
              <a:buFont typeface="+mj-lt"/>
              <a:buAutoNum type="arabicPeriod"/>
            </a:pPr>
            <a:r>
              <a:rPr lang="en-CA" altLang="en-US" sz="2000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Documentation </a:t>
            </a:r>
            <a:r>
              <a:rPr lang="en-CA" altLang="en-US" sz="2000" i="1" dirty="0">
                <a:latin typeface="Cambria" panose="02040503050406030204" pitchFamily="18" charset="0"/>
                <a:ea typeface="Cambria" panose="02040503050406030204" pitchFamily="18" charset="0"/>
              </a:rPr>
              <a:t>of objectives, </a:t>
            </a:r>
            <a:r>
              <a:rPr lang="en-CA" altLang="en-US" sz="2000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procedures </a:t>
            </a:r>
            <a:r>
              <a:rPr lang="en-CA" altLang="en-US" sz="2000" i="1" dirty="0">
                <a:latin typeface="Cambria" panose="02040503050406030204" pitchFamily="18" charset="0"/>
                <a:ea typeface="Cambria" panose="02040503050406030204" pitchFamily="18" charset="0"/>
              </a:rPr>
              <a:t>(in the form of a quality manual),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plans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, and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records relating to the actual operation of processes. The documentation must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be subject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to a change control system that ensures that it is current. </a:t>
            </a:r>
            <a:endParaRPr lang="en-CA" alt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buFont typeface="+mj-lt"/>
              <a:buAutoNum type="arabicPeriod" startAt="2"/>
            </a:pPr>
            <a:r>
              <a:rPr lang="en-CA" altLang="en-US" sz="2000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Management </a:t>
            </a:r>
            <a:r>
              <a:rPr lang="en-CA" altLang="en-US" sz="2000" i="1" dirty="0">
                <a:latin typeface="Cambria" panose="02040503050406030204" pitchFamily="18" charset="0"/>
                <a:ea typeface="Cambria" panose="02040503050406030204" pitchFamily="18" charset="0"/>
              </a:rPr>
              <a:t>responsibility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-the organization needs to show that the QMS and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the processes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that produce goods and services conforming to the quality objectives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are actively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and properly managed.</a:t>
            </a:r>
          </a:p>
          <a:p>
            <a:pPr algn="just">
              <a:buFont typeface="+mj-lt"/>
              <a:buAutoNum type="arabicPeriod" startAt="3"/>
            </a:pPr>
            <a:r>
              <a:rPr lang="en-CA" altLang="en-US" sz="2000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Resources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- an organization must ensure that adequate resources,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including appropriately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trained staff and appropriate infrastructure, are applied to the processes.</a:t>
            </a:r>
          </a:p>
          <a:p>
            <a:pPr algn="just">
              <a:buFont typeface="+mj-lt"/>
              <a:buAutoNum type="arabicPeriod" startAt="4"/>
            </a:pP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Production- of goals and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provision of services should be under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controlled conditions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to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ensure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adequate provision of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information,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work instruction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, equipment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, measurement devices,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and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post-delivery activities;</a:t>
            </a:r>
            <a:endParaRPr lang="en-CA" alt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CA" alt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54054" y="395125"/>
            <a:ext cx="768964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u="sng" dirty="0">
                <a:solidFill>
                  <a:srgbClr val="FF0000"/>
                </a:solidFill>
              </a:rPr>
              <a:t>ISO 9001 </a:t>
            </a:r>
            <a:r>
              <a:rPr lang="en-IN" sz="2800" b="1" u="sng" dirty="0" smtClean="0">
                <a:solidFill>
                  <a:srgbClr val="FF0000"/>
                </a:solidFill>
              </a:rPr>
              <a:t>requirements for effective QMS</a:t>
            </a:r>
            <a:endParaRPr lang="en-IN" sz="2800" b="1" u="sng" dirty="0">
              <a:solidFill>
                <a:srgbClr val="FF0000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B2FF0-C310-4420-B452-DC27F0F57C45}" type="datetime5">
              <a:rPr lang="en-US" smtClean="0"/>
              <a:t>28-Nov-25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BAD86-379D-49EE-975C-62BC7A511027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64574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3">
            <a:extLst>
              <a:ext uri="{FF2B5EF4-FFF2-40B4-BE49-F238E27FC236}">
                <a16:creationId xmlns:a16="http://schemas.microsoft.com/office/drawing/2014/main" xmlns="" id="{D1236C37-7732-4F8D-9A31-68C64BEA4C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457200"/>
            <a:ext cx="8475518" cy="5799221"/>
          </a:xfrm>
        </p:spPr>
        <p:txBody>
          <a:bodyPr>
            <a:normAutofit/>
          </a:bodyPr>
          <a:lstStyle/>
          <a:p>
            <a:pPr marL="114300" indent="0" algn="just">
              <a:buNone/>
            </a:pPr>
            <a:r>
              <a:rPr lang="en-CA" altLang="en-US" sz="2000" b="1" u="sng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Production should be characterized by:</a:t>
            </a:r>
          </a:p>
          <a:p>
            <a:pPr marL="571500" indent="-457200" algn="just">
              <a:buFont typeface="+mj-lt"/>
              <a:buAutoNum type="arabicPeriod"/>
            </a:pP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Planning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;</a:t>
            </a:r>
          </a:p>
          <a:p>
            <a:pPr marL="571500" indent="-457200" algn="just">
              <a:buFont typeface="+mj-lt"/>
              <a:buAutoNum type="arabicPeriod"/>
            </a:pP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Determination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and review of customer requirements;</a:t>
            </a:r>
          </a:p>
          <a:p>
            <a:pPr marL="571500" indent="-457200" algn="just">
              <a:buFont typeface="+mj-lt"/>
              <a:buAutoNum type="arabicPeriod"/>
            </a:pP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Effective communications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between the customer and supplier;</a:t>
            </a:r>
          </a:p>
          <a:p>
            <a:pPr marL="571500" indent="-457200" algn="just">
              <a:buFont typeface="+mj-lt"/>
              <a:buAutoNum type="arabicPeriod"/>
            </a:pP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Design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and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development being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subject to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planning control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and review;</a:t>
            </a:r>
          </a:p>
          <a:p>
            <a:pPr marL="571500" indent="-457200" algn="just">
              <a:buFont typeface="+mj-lt"/>
              <a:buAutoNum type="arabicPeriod"/>
            </a:pP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Requirements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and other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information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used in design being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clearly recorded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;</a:t>
            </a:r>
          </a:p>
          <a:p>
            <a:pPr marL="571500" indent="-457200" algn="just">
              <a:buFont typeface="+mj-lt"/>
              <a:buAutoNum type="arabicPeriod"/>
            </a:pP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D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esign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outcomes being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verified,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validated and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documented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in a way that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provides sufficient information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for those who have to use the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designs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;</a:t>
            </a:r>
          </a:p>
          <a:p>
            <a:pPr marL="571500" indent="-457200" algn="just">
              <a:buFont typeface="+mj-lt"/>
              <a:buAutoNum type="arabicPeriod"/>
            </a:pP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Changes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to the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designs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should be properly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controlled;</a:t>
            </a:r>
            <a:endParaRPr lang="en-CA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71500" indent="-457200" algn="just">
              <a:buFont typeface="+mj-lt"/>
              <a:buAutoNum type="arabicPeriod"/>
            </a:pP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Adequate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measures to specify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and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evaluate the quality of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purchased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components;</a:t>
            </a:r>
          </a:p>
          <a:p>
            <a:pPr marL="571500" indent="-457200" algn="just">
              <a:buFont typeface="+mj-lt"/>
              <a:buAutoNum type="arabicPeriod"/>
            </a:pP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Measurement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- to demonstrate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that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products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conform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to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standards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and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QMS is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effective, and to improve the effectiveness of processes that create products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or services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algn="just"/>
            <a:endParaRPr lang="en-CA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endParaRPr lang="en-CA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endParaRPr lang="en-CA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D2D5E-17EA-4817-8231-4645B9EF9755}" type="datetime5">
              <a:rPr lang="en-US" smtClean="0"/>
              <a:t>28-Nov-25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BAD86-379D-49EE-975C-62BC7A511027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86692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3">
            <a:extLst>
              <a:ext uri="{FF2B5EF4-FFF2-40B4-BE49-F238E27FC236}">
                <a16:creationId xmlns:a16="http://schemas.microsoft.com/office/drawing/2014/main" xmlns="" id="{D1236C37-7732-4F8D-9A31-68C64BEA4C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8671" y="1066800"/>
            <a:ext cx="8229600" cy="5062486"/>
          </a:xfrm>
        </p:spPr>
        <p:txBody>
          <a:bodyPr>
            <a:normAutofit lnSpcReduction="10000"/>
          </a:bodyPr>
          <a:lstStyle/>
          <a:p>
            <a:pPr marL="114300" indent="0" algn="just">
              <a:buNone/>
            </a:pPr>
            <a:r>
              <a:rPr lang="en-CA" altLang="en-US" sz="2000" dirty="0" smtClean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Level </a:t>
            </a:r>
            <a:r>
              <a:rPr lang="en-CA" altLang="en-US" sz="2000" dirty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1: </a:t>
            </a:r>
            <a:r>
              <a:rPr lang="en-CA" altLang="en-US" sz="2000" dirty="0" smtClean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“</a:t>
            </a:r>
            <a:r>
              <a:rPr lang="en-CA" altLang="en-US" sz="2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lnitial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”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procedures followed tend to be haphazard. Some projects may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be successful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, but this tends to be because of the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skills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of particular individuals,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including project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managers. </a:t>
            </a:r>
            <a:endParaRPr lang="en-CA" alt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14300" indent="0" algn="just">
              <a:buNone/>
            </a:pPr>
            <a:endParaRPr lang="en-CA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14300" indent="0" algn="just">
              <a:buNone/>
            </a:pPr>
            <a:r>
              <a:rPr lang="en-CA" altLang="en-US" sz="2000" dirty="0" smtClean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Level </a:t>
            </a:r>
            <a:r>
              <a:rPr lang="en-CA" altLang="en-US" sz="2000" dirty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2: </a:t>
            </a:r>
            <a:r>
              <a:rPr lang="en-CA" altLang="en-US" sz="2000" dirty="0" smtClean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“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Managed”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Organizations at this level will have basic project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management procedures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in place. </a:t>
            </a:r>
            <a:endParaRPr lang="en-CA" alt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14300" indent="0" algn="just">
              <a:buNone/>
            </a:pPr>
            <a:endParaRPr lang="en-CA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14300" indent="0" algn="just">
              <a:buNone/>
            </a:pPr>
            <a:r>
              <a:rPr lang="en-CA" altLang="en-US" sz="2000" dirty="0" smtClean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Level </a:t>
            </a:r>
            <a:r>
              <a:rPr lang="en-CA" altLang="en-US" sz="2000" dirty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3: </a:t>
            </a:r>
            <a:r>
              <a:rPr lang="en-CA" altLang="en-US" sz="2000" dirty="0" smtClean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“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Defined”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organization has defined the way that each task in the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software development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life cycle should be done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  <a:p>
            <a:pPr marL="114300" indent="0" algn="just">
              <a:buNone/>
            </a:pPr>
            <a:endParaRPr lang="en-CA" alt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14300" indent="0" algn="just">
              <a:buNone/>
            </a:pPr>
            <a:r>
              <a:rPr lang="en-CA" altLang="en-US" sz="2000" dirty="0" smtClean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Level </a:t>
            </a:r>
            <a:r>
              <a:rPr lang="en-CA" altLang="en-US" sz="2000" dirty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4: </a:t>
            </a:r>
            <a:r>
              <a:rPr lang="en-CA" altLang="en-US" sz="2000" dirty="0" smtClean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“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Quantitatively managed”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products and processes involved in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software development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are subject to measurement and control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114300" indent="0" algn="just">
              <a:buNone/>
            </a:pPr>
            <a:endParaRPr lang="en-CA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14300" indent="0" algn="just">
              <a:buNone/>
            </a:pPr>
            <a:r>
              <a:rPr lang="en-CA" altLang="en-US" sz="2000" dirty="0" smtClean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Level </a:t>
            </a:r>
            <a:r>
              <a:rPr lang="en-CA" altLang="en-US" sz="2000" dirty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5: </a:t>
            </a:r>
            <a:r>
              <a:rPr lang="en-CA" altLang="en-US" sz="2000" dirty="0" smtClean="0">
                <a:solidFill>
                  <a:srgbClr val="FB5B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“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Optimizing” Improvement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in procedures can be designed and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implemented using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data gathered from the measurement process.</a:t>
            </a:r>
          </a:p>
          <a:p>
            <a:endParaRPr lang="en-CA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CA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CA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213516"/>
            <a:ext cx="862810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u="sng" dirty="0">
                <a:solidFill>
                  <a:srgbClr val="FF0000"/>
                </a:solidFill>
              </a:rPr>
              <a:t>Process capability models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04B13-79E5-4A40-914C-B7D9574ADE7F}" type="datetime5">
              <a:rPr lang="en-US" smtClean="0"/>
              <a:t>28-Nov-25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BAD86-379D-49EE-975C-62BC7A511027}" type="slidenum">
              <a:rPr lang="en-US" altLang="en-US" smtClean="0"/>
              <a:pPr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36681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08104" y="736736"/>
            <a:ext cx="431405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u="sng" dirty="0">
                <a:solidFill>
                  <a:srgbClr val="FF0000"/>
                </a:solidFill>
              </a:rPr>
              <a:t>Process capability models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820" y="1816768"/>
            <a:ext cx="8484671" cy="391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84159-86D8-4DD8-9D00-39B2F871A422}" type="datetime5">
              <a:rPr lang="en-US" smtClean="0"/>
              <a:t>28-Nov-25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BAD86-379D-49EE-975C-62BC7A511027}" type="slidenum">
              <a:rPr lang="en-US" altLang="en-US" smtClean="0"/>
              <a:pPr/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51601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D5D00-DE9B-4072-8D54-FA55EA2A9B20}" type="datetime5">
              <a:rPr lang="en-US" smtClean="0"/>
              <a:t>28-Nov-25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BAD86-379D-49EE-975C-62BC7A511027}" type="slidenum">
              <a:rPr lang="en-US" altLang="en-US" smtClean="0"/>
              <a:pPr/>
              <a:t>21</a:t>
            </a:fld>
            <a:endParaRPr lang="en-US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855376" y="12290"/>
            <a:ext cx="34332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 smtClean="0">
                <a:solidFill>
                  <a:srgbClr val="FF0000"/>
                </a:solidFill>
              </a:rPr>
              <a:t>ISO 15504 Process Assessment</a:t>
            </a:r>
            <a:endParaRPr lang="en-IN" sz="2000" b="1" dirty="0">
              <a:solidFill>
                <a:srgbClr val="FF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35523"/>
            <a:ext cx="6629400" cy="61869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822264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3">
            <a:extLst>
              <a:ext uri="{FF2B5EF4-FFF2-40B4-BE49-F238E27FC236}">
                <a16:creationId xmlns:a16="http://schemas.microsoft.com/office/drawing/2014/main" xmlns="" id="{D1236C37-7732-4F8D-9A31-68C64BEA4C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28156"/>
            <a:ext cx="8229600" cy="4998006"/>
          </a:xfrm>
        </p:spPr>
        <p:txBody>
          <a:bodyPr/>
          <a:lstStyle/>
          <a:p>
            <a:endParaRPr lang="en-CA" altLang="en-US" sz="2400" b="1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endParaRPr lang="en-CA" altLang="en-US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CA" altLang="en-US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Increasing visibility:</a:t>
            </a:r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CA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 </a:t>
            </a:r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landmark </a:t>
            </a:r>
            <a:r>
              <a:rPr lang="en-CA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in the </a:t>
            </a:r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movement towards </a:t>
            </a:r>
            <a:r>
              <a:rPr lang="en-CA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 </a:t>
            </a:r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focus on </a:t>
            </a:r>
            <a:r>
              <a:rPr lang="en-CA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software quality </a:t>
            </a:r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of 'egoless programming</a:t>
            </a:r>
            <a:r>
              <a:rPr lang="en-CA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'.</a:t>
            </a:r>
          </a:p>
          <a:p>
            <a:pPr algn="just"/>
            <a:r>
              <a:rPr lang="en-CA" alt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Procedural </a:t>
            </a:r>
            <a:r>
              <a:rPr lang="en-CA" altLang="en-US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structure: </a:t>
            </a:r>
            <a:r>
              <a:rPr lang="en-CA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At first, programmers were left to get on </a:t>
            </a:r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with writing </a:t>
            </a:r>
            <a:r>
              <a:rPr lang="en-CA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programs as best they could</a:t>
            </a:r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algn="just"/>
            <a:r>
              <a:rPr lang="en-CA" alt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Checking intermediate </a:t>
            </a:r>
            <a:r>
              <a:rPr lang="en-CA" altLang="en-US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stages: </a:t>
            </a:r>
            <a:r>
              <a:rPr lang="en-CA" alt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lt</a:t>
            </a:r>
            <a:r>
              <a:rPr lang="en-CA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is tempting to push forward </a:t>
            </a:r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quickly with </a:t>
            </a:r>
            <a:r>
              <a:rPr lang="en-CA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development of any </a:t>
            </a:r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engineered </a:t>
            </a:r>
            <a:r>
              <a:rPr lang="en-CA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object until a </a:t>
            </a:r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'working‘ model, however </a:t>
            </a:r>
            <a:r>
              <a:rPr lang="en-CA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imperfect, has been produced </a:t>
            </a:r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which </a:t>
            </a:r>
            <a:r>
              <a:rPr lang="en-CA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can then be 'debugged'.</a:t>
            </a:r>
          </a:p>
          <a:p>
            <a:endParaRPr lang="en-CA" alt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CA" alt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213516"/>
            <a:ext cx="862810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u="sng" dirty="0" smtClean="0">
                <a:solidFill>
                  <a:srgbClr val="FF0000"/>
                </a:solidFill>
              </a:rPr>
              <a:t>Techniques </a:t>
            </a:r>
            <a:r>
              <a:rPr lang="en-IN" sz="2800" b="1" u="sng" dirty="0">
                <a:solidFill>
                  <a:srgbClr val="FF0000"/>
                </a:solidFill>
              </a:rPr>
              <a:t>to enhance software quality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CA7A9-FDC9-4AA7-B6A5-0B6A929073AD}" type="datetime5">
              <a:rPr lang="en-US" smtClean="0"/>
              <a:t>28-Nov-25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BAD86-379D-49EE-975C-62BC7A511027}" type="slidenum">
              <a:rPr lang="en-US" altLang="en-US" smtClean="0"/>
              <a:pPr/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63085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3">
            <a:extLst>
              <a:ext uri="{FF2B5EF4-FFF2-40B4-BE49-F238E27FC236}">
                <a16:creationId xmlns:a16="http://schemas.microsoft.com/office/drawing/2014/main" xmlns="" id="{D1236C37-7732-4F8D-9A31-68C64BEA4C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95504" y="1537230"/>
            <a:ext cx="8229600" cy="3415770"/>
          </a:xfrm>
        </p:spPr>
        <p:txBody>
          <a:bodyPr/>
          <a:lstStyle/>
          <a:p>
            <a:pPr marL="114300" indent="0" algn="just">
              <a:buNone/>
            </a:pPr>
            <a:r>
              <a:rPr lang="en-CA" alt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CA" alt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nspections: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can be applied to documents produced at any development stage.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For instance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, test cases need to be reviewed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their production is usually not a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high-profile task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even though errors can get through to operational running because of their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poor quality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571500" indent="-457200" algn="just">
              <a:buFont typeface="+mj-lt"/>
              <a:buAutoNum type="arabicPeriod"/>
            </a:pP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It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is a very effective way of removing superficial errors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;</a:t>
            </a:r>
          </a:p>
          <a:p>
            <a:pPr marL="571500" indent="-457200" algn="just">
              <a:buFont typeface="+mj-lt"/>
              <a:buAutoNum type="arabicPeriod"/>
            </a:pP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It motivates developers to produce better structured and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self-exploratory software;</a:t>
            </a:r>
          </a:p>
          <a:p>
            <a:pPr marL="571500" indent="-457200" algn="just">
              <a:buFont typeface="+mj-lt"/>
              <a:buAutoNum type="arabicPeriod"/>
            </a:pP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It helps spread good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programming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practices as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the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participants discuss specific pieces of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code;</a:t>
            </a:r>
          </a:p>
          <a:p>
            <a:pPr marL="571500" indent="-457200" algn="just">
              <a:buFont typeface="+mj-lt"/>
              <a:buAutoNum type="arabicPeriod"/>
            </a:pP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It can enhance team spirit</a:t>
            </a:r>
          </a:p>
          <a:p>
            <a:pPr algn="just"/>
            <a:endParaRPr lang="en-CA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endParaRPr lang="en-CA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19200" y="213516"/>
            <a:ext cx="740890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u="sng" dirty="0" err="1">
                <a:solidFill>
                  <a:srgbClr val="FF0000"/>
                </a:solidFill>
              </a:rPr>
              <a:t>lnspections</a:t>
            </a:r>
            <a:endParaRPr lang="en-IN" sz="2800" b="1" u="sng" dirty="0">
              <a:solidFill>
                <a:srgbClr val="FF0000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D06C5-C7FD-4A76-8895-FBC14B004AF0}" type="datetime5">
              <a:rPr lang="en-US" smtClean="0"/>
              <a:t>28-Nov-25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BAD86-379D-49EE-975C-62BC7A511027}" type="slidenum">
              <a:rPr lang="en-US" altLang="en-US" smtClean="0"/>
              <a:pPr/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106160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3">
            <a:extLst>
              <a:ext uri="{FF2B5EF4-FFF2-40B4-BE49-F238E27FC236}">
                <a16:creationId xmlns:a16="http://schemas.microsoft.com/office/drawing/2014/main" xmlns="" id="{D1236C37-7732-4F8D-9A31-68C64BEA4C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8503" y="863462"/>
            <a:ext cx="8229600" cy="5573433"/>
          </a:xfrm>
        </p:spPr>
        <p:txBody>
          <a:bodyPr>
            <a:normAutofit fontScale="77500" lnSpcReduction="20000"/>
          </a:bodyPr>
          <a:lstStyle/>
          <a:p>
            <a:pPr marL="571500" indent="-457200" algn="just">
              <a:buFont typeface="+mj-lt"/>
              <a:buAutoNum type="arabicPeriod"/>
            </a:pP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Inspections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are carried out on all major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deliverables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'</a:t>
            </a:r>
          </a:p>
          <a:p>
            <a:pPr marL="571500" indent="-457200" algn="just">
              <a:buFont typeface="+mj-lt"/>
              <a:buAutoNum type="arabicPeriod"/>
            </a:pP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All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types of defect are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noted -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not just logic or function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errors</a:t>
            </a:r>
          </a:p>
          <a:p>
            <a:pPr marL="571500" indent="-457200" algn="just">
              <a:buFont typeface="+mj-lt"/>
              <a:buAutoNum type="arabicPeriod"/>
            </a:pP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Inspections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can be carried out by colleagues at all levels except the very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top</a:t>
            </a:r>
          </a:p>
          <a:p>
            <a:pPr marL="571500" indent="-457200" algn="just">
              <a:buFont typeface="+mj-lt"/>
              <a:buAutoNum type="arabicPeriod"/>
            </a:pP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Inspections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are carried out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using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 predefined set of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steps</a:t>
            </a:r>
          </a:p>
          <a:p>
            <a:pPr marL="571500" indent="-457200" algn="just">
              <a:buFont typeface="+mj-lt"/>
              <a:buAutoNum type="arabicPeriod"/>
            </a:pP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Inspection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meetings do not last for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more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than two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hours</a:t>
            </a:r>
          </a:p>
          <a:p>
            <a:pPr marL="571500" indent="-457200" algn="just">
              <a:buFont typeface="+mj-lt"/>
              <a:buAutoNum type="arabicPeriod"/>
            </a:pP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he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inspection is led by a moderator who has had specific training, in the technique.</a:t>
            </a:r>
          </a:p>
          <a:p>
            <a:pPr marL="571500" indent="-457200" algn="just">
              <a:buFont typeface="+mj-lt"/>
              <a:buAutoNum type="arabicPeriod"/>
            </a:pP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The other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participants have defined roles. For example, one person will act as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a recorder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and note all defects found, and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another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will act as reader and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talk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other</a:t>
            </a:r>
          </a:p>
          <a:p>
            <a:pPr marL="571500" indent="-457200" algn="just">
              <a:buFont typeface="+mj-lt"/>
              <a:buAutoNum type="arabicPeriod"/>
            </a:pP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participants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through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document under inspection.</a:t>
            </a:r>
          </a:p>
          <a:p>
            <a:pPr marL="571500" indent="-457200" algn="just">
              <a:buFont typeface="+mj-lt"/>
              <a:buAutoNum type="arabicPeriod"/>
            </a:pP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Checklists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are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used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to assist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the fault finding process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571500" indent="-457200" algn="just">
              <a:buFont typeface="+mj-lt"/>
              <a:buAutoNum type="arabicPeriod"/>
            </a:pP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Material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is inspected at an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optimal rate of about 100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lines an hour'</a:t>
            </a:r>
          </a:p>
          <a:p>
            <a:pPr marL="571500" indent="-457200" algn="just">
              <a:buFont typeface="+mj-lt"/>
              <a:buAutoNum type="arabicPeriod"/>
            </a:pP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Statistics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are maintained so that the effectiveness of the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inspection 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process can </a:t>
            </a:r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be monitored</a:t>
            </a:r>
            <a:r>
              <a:rPr lang="en-CA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algn="just"/>
            <a:endParaRPr lang="en-CA" alt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endParaRPr lang="en-CA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endParaRPr lang="en-CA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CA" alt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endParaRPr lang="en-CA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endParaRPr lang="en-CA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213516"/>
            <a:ext cx="862810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u="sng" dirty="0">
                <a:solidFill>
                  <a:srgbClr val="FF0000"/>
                </a:solidFill>
              </a:rPr>
              <a:t>The general principles behind the Fagan method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03EAE-A43E-4EAF-93E4-E9713BDDD007}" type="datetime5">
              <a:rPr lang="en-US" smtClean="0"/>
              <a:t>28-Nov-25</a:t>
            </a:fld>
            <a:r>
              <a:rPr lang="en-US" dirty="0" smtClean="0"/>
              <a:t>               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BAD86-379D-49EE-975C-62BC7A511027}" type="slidenum">
              <a:rPr lang="en-US" altLang="en-US" smtClean="0"/>
              <a:pPr/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85428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3">
            <a:extLst>
              <a:ext uri="{FF2B5EF4-FFF2-40B4-BE49-F238E27FC236}">
                <a16:creationId xmlns:a16="http://schemas.microsoft.com/office/drawing/2014/main" xmlns="" id="{D1236C37-7732-4F8D-9A31-68C64BEA4C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8503" y="1681609"/>
            <a:ext cx="8229600" cy="3880991"/>
          </a:xfrm>
        </p:spPr>
        <p:txBody>
          <a:bodyPr/>
          <a:lstStyle/>
          <a:p>
            <a:pPr marL="571500" indent="-457200" algn="just">
              <a:buFont typeface="+mj-lt"/>
              <a:buAutoNum type="arabicPeriod"/>
            </a:pPr>
            <a:r>
              <a:rPr lang="en-CA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A </a:t>
            </a:r>
            <a:r>
              <a:rPr lang="en-CA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specification team, which obtains the user requirements and also a usage profile estimating the volume of use for each feature in the system</a:t>
            </a:r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;</a:t>
            </a:r>
          </a:p>
          <a:p>
            <a:pPr marL="571500" indent="-457200" algn="just">
              <a:buFont typeface="+mj-lt"/>
              <a:buAutoNum type="arabicPeriod"/>
            </a:pPr>
            <a:endParaRPr lang="en-CA" alt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71500" indent="-457200" algn="just">
              <a:buFont typeface="+mj-lt"/>
              <a:buAutoNum type="arabicPeriod"/>
            </a:pPr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A </a:t>
            </a:r>
            <a:r>
              <a:rPr lang="en-CA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development </a:t>
            </a:r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team </a:t>
            </a:r>
            <a:r>
              <a:rPr lang="en-CA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which develops the code but which does no  machine testing of the program code produced</a:t>
            </a:r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;</a:t>
            </a:r>
          </a:p>
          <a:p>
            <a:pPr marL="571500" indent="-457200" algn="just">
              <a:buFont typeface="+mj-lt"/>
              <a:buAutoNum type="arabicPeriod"/>
            </a:pPr>
            <a:endParaRPr lang="en-CA" alt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71500" indent="-457200" algn="just">
              <a:buFont typeface="+mj-lt"/>
              <a:buAutoNum type="arabicPeriod"/>
            </a:pPr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A certification team which carries </a:t>
            </a:r>
            <a:r>
              <a:rPr lang="en-CA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out testing</a:t>
            </a:r>
          </a:p>
          <a:p>
            <a:endParaRPr lang="en-CA" alt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80999" y="675181"/>
            <a:ext cx="82471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u="sng" dirty="0" smtClean="0">
                <a:solidFill>
                  <a:srgbClr val="FF0000"/>
                </a:solidFill>
              </a:rPr>
              <a:t>Structured </a:t>
            </a:r>
            <a:r>
              <a:rPr lang="en-IN" sz="2400" b="1" u="sng" dirty="0" err="1" smtClean="0">
                <a:solidFill>
                  <a:srgbClr val="FF0000"/>
                </a:solidFill>
              </a:rPr>
              <a:t>programmg</a:t>
            </a:r>
            <a:r>
              <a:rPr lang="en-IN" sz="2400" b="1" u="sng" dirty="0" smtClean="0">
                <a:solidFill>
                  <a:srgbClr val="FF0000"/>
                </a:solidFill>
              </a:rPr>
              <a:t> and clean-room </a:t>
            </a:r>
            <a:r>
              <a:rPr lang="en-IN" sz="2400" b="1" u="sng" dirty="0">
                <a:solidFill>
                  <a:srgbClr val="FF0000"/>
                </a:solidFill>
              </a:rPr>
              <a:t>software development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F1F7-07E4-42E3-AF0B-1CC12C6BAA58}" type="datetime5">
              <a:rPr lang="en-US" smtClean="0"/>
              <a:t>28-Nov-25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BAD86-379D-49EE-975C-62BC7A511027}" type="slidenum">
              <a:rPr lang="en-US" altLang="en-US" smtClean="0"/>
              <a:pPr/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73928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3">
            <a:extLst>
              <a:ext uri="{FF2B5EF4-FFF2-40B4-BE49-F238E27FC236}">
                <a16:creationId xmlns:a16="http://schemas.microsoft.com/office/drawing/2014/main" xmlns="" id="{D1236C37-7732-4F8D-9A31-68C64BEA4C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28156"/>
            <a:ext cx="8229600" cy="4998006"/>
          </a:xfrm>
        </p:spPr>
        <p:txBody>
          <a:bodyPr/>
          <a:lstStyle/>
          <a:p>
            <a:pPr marL="114300" indent="0">
              <a:buNone/>
            </a:pPr>
            <a:r>
              <a:rPr lang="en-CA" alt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Testing</a:t>
            </a:r>
            <a:r>
              <a:rPr lang="en-CA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is the process of evaluating a system, application, or product to ensure that it functions as intended, meets specified requirements, and is free of defects.</a:t>
            </a:r>
          </a:p>
          <a:p>
            <a:endParaRPr lang="en-CA" alt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CA" alt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CA" alt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213516"/>
            <a:ext cx="862810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u="sng" dirty="0" smtClean="0">
                <a:solidFill>
                  <a:srgbClr val="FF0000"/>
                </a:solidFill>
              </a:rPr>
              <a:t>Testing </a:t>
            </a:r>
            <a:endParaRPr lang="en-IN" sz="2800" b="1" u="sng" dirty="0">
              <a:solidFill>
                <a:srgbClr val="FF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347" y="2281487"/>
            <a:ext cx="6703116" cy="369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BA992-97DA-4B4E-80A4-ECBA5DCA7F24}" type="datetime5">
              <a:rPr lang="en-US" smtClean="0"/>
              <a:t>28-Nov-25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BAD86-379D-49EE-975C-62BC7A511027}" type="slidenum">
              <a:rPr lang="en-US" altLang="en-US" smtClean="0"/>
              <a:pPr/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84753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3">
            <a:extLst>
              <a:ext uri="{FF2B5EF4-FFF2-40B4-BE49-F238E27FC236}">
                <a16:creationId xmlns:a16="http://schemas.microsoft.com/office/drawing/2014/main" xmlns="" id="{D1236C37-7732-4F8D-9A31-68C64BEA4C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28156"/>
            <a:ext cx="8229600" cy="4998006"/>
          </a:xfrm>
        </p:spPr>
        <p:txBody>
          <a:bodyPr/>
          <a:lstStyle/>
          <a:p>
            <a:pPr marL="571500" indent="-457200">
              <a:buFont typeface="+mj-lt"/>
              <a:buAutoNum type="arabicPeriod"/>
            </a:pPr>
            <a:r>
              <a:rPr lang="en-IN" sz="2000" b="1" dirty="0" smtClean="0">
                <a:latin typeface="Calibri" panose="020F0502020204030204" pitchFamily="34" charset="0"/>
              </a:rPr>
              <a:t>Software </a:t>
            </a:r>
            <a:r>
              <a:rPr lang="en-IN" sz="2000" b="1" dirty="0">
                <a:latin typeface="Calibri" panose="020F0502020204030204" pitchFamily="34" charset="0"/>
              </a:rPr>
              <a:t>Testing</a:t>
            </a:r>
            <a:r>
              <a:rPr lang="en-IN" sz="2000" dirty="0">
                <a:latin typeface="Calibri" panose="020F0502020204030204" pitchFamily="34" charset="0"/>
              </a:rPr>
              <a:t>: Verifies that a software application performs as expected.</a:t>
            </a:r>
          </a:p>
          <a:p>
            <a:pPr lvl="1"/>
            <a:r>
              <a:rPr lang="en-IN" sz="1800" b="1" dirty="0">
                <a:latin typeface="Calibri" panose="020F0502020204030204" pitchFamily="34" charset="0"/>
              </a:rPr>
              <a:t>Functional Testing</a:t>
            </a:r>
            <a:r>
              <a:rPr lang="en-IN" sz="1800" dirty="0">
                <a:latin typeface="Calibri" panose="020F0502020204030204" pitchFamily="34" charset="0"/>
              </a:rPr>
              <a:t>: Ensures the software meets functional requirements (e.g., unit testing, integration testing).</a:t>
            </a:r>
          </a:p>
          <a:p>
            <a:pPr lvl="1"/>
            <a:r>
              <a:rPr lang="en-IN" sz="1800" b="1" dirty="0">
                <a:latin typeface="Calibri" panose="020F0502020204030204" pitchFamily="34" charset="0"/>
              </a:rPr>
              <a:t>Non-Functional Testing</a:t>
            </a:r>
            <a:r>
              <a:rPr lang="en-IN" sz="1800" dirty="0">
                <a:latin typeface="Calibri" panose="020F0502020204030204" pitchFamily="34" charset="0"/>
              </a:rPr>
              <a:t>: Examines aspects like performance, usability, and scalability.</a:t>
            </a:r>
          </a:p>
          <a:p>
            <a:pPr lvl="1"/>
            <a:r>
              <a:rPr lang="en-IN" sz="1800" b="1" dirty="0">
                <a:latin typeface="Calibri" panose="020F0502020204030204" pitchFamily="34" charset="0"/>
              </a:rPr>
              <a:t>Manual Testing</a:t>
            </a:r>
            <a:r>
              <a:rPr lang="en-IN" sz="1800" dirty="0">
                <a:latin typeface="Calibri" panose="020F0502020204030204" pitchFamily="34" charset="0"/>
              </a:rPr>
              <a:t>: Testers execute test cases manually without using tools.</a:t>
            </a:r>
          </a:p>
          <a:p>
            <a:pPr lvl="1"/>
            <a:r>
              <a:rPr lang="en-IN" sz="1800" b="1" dirty="0">
                <a:latin typeface="Calibri" panose="020F0502020204030204" pitchFamily="34" charset="0"/>
              </a:rPr>
              <a:t>Automated Testing</a:t>
            </a:r>
            <a:r>
              <a:rPr lang="en-IN" sz="1800" dirty="0">
                <a:latin typeface="Calibri" panose="020F0502020204030204" pitchFamily="34" charset="0"/>
              </a:rPr>
              <a:t>: Tools or scripts automatically run tests.</a:t>
            </a:r>
          </a:p>
          <a:p>
            <a:pPr marL="571500" indent="-457200">
              <a:buFont typeface="+mj-lt"/>
              <a:buAutoNum type="arabicPeriod"/>
            </a:pPr>
            <a:r>
              <a:rPr lang="en-IN" sz="2000" b="1" dirty="0">
                <a:latin typeface="Calibri" panose="020F0502020204030204" pitchFamily="34" charset="0"/>
              </a:rPr>
              <a:t>Hardware Testing</a:t>
            </a:r>
            <a:r>
              <a:rPr lang="en-IN" sz="2000" dirty="0">
                <a:latin typeface="Calibri" panose="020F0502020204030204" pitchFamily="34" charset="0"/>
              </a:rPr>
              <a:t>: Checks physical components for defects or malfunctions.</a:t>
            </a:r>
          </a:p>
          <a:p>
            <a:pPr marL="571500" indent="-457200">
              <a:buFont typeface="+mj-lt"/>
              <a:buAutoNum type="arabicPeriod"/>
            </a:pPr>
            <a:r>
              <a:rPr lang="en-IN" sz="2000" b="1" dirty="0">
                <a:latin typeface="Calibri" panose="020F0502020204030204" pitchFamily="34" charset="0"/>
              </a:rPr>
              <a:t>Quality Testing in Manufacturing</a:t>
            </a:r>
            <a:r>
              <a:rPr lang="en-IN" sz="2000" dirty="0">
                <a:latin typeface="Calibri" panose="020F0502020204030204" pitchFamily="34" charset="0"/>
              </a:rPr>
              <a:t>: Evaluates products for durability, safety, and compliance with standards.</a:t>
            </a:r>
          </a:p>
          <a:p>
            <a:pPr marL="571500" indent="-457200">
              <a:buFont typeface="+mj-lt"/>
              <a:buAutoNum type="arabicPeriod"/>
            </a:pPr>
            <a:r>
              <a:rPr lang="en-IN" sz="2000" b="1" dirty="0">
                <a:latin typeface="Calibri" panose="020F0502020204030204" pitchFamily="34" charset="0"/>
              </a:rPr>
              <a:t>User Acceptance Testing (UAT)</a:t>
            </a:r>
            <a:r>
              <a:rPr lang="en-IN" sz="2000" dirty="0">
                <a:latin typeface="Calibri" panose="020F0502020204030204" pitchFamily="34" charset="0"/>
              </a:rPr>
              <a:t>: Ensures that a product meets user needs and requirements.</a:t>
            </a:r>
          </a:p>
          <a:p>
            <a:endParaRPr lang="en-CA" altLang="en-US" sz="1800" dirty="0">
              <a:latin typeface="Calibri" panose="020F0502020204030204" pitchFamily="34" charset="0"/>
              <a:ea typeface="Cambria" panose="02040503050406030204" pitchFamily="18" charset="0"/>
            </a:endParaRPr>
          </a:p>
          <a:p>
            <a:endParaRPr lang="en-CA" altLang="en-US" sz="1800" dirty="0">
              <a:latin typeface="Calibri" panose="020F0502020204030204" pitchFamily="34" charset="0"/>
              <a:ea typeface="Cambria" panose="02040503050406030204" pitchFamily="18" charset="0"/>
            </a:endParaRPr>
          </a:p>
          <a:p>
            <a:endParaRPr lang="en-CA" altLang="en-US" sz="1800" dirty="0">
              <a:latin typeface="Calibri" panose="020F0502020204030204" pitchFamily="34" charset="0"/>
              <a:ea typeface="Cambria" panose="02040503050406030204" pitchFamily="18" charset="0"/>
            </a:endParaRPr>
          </a:p>
          <a:p>
            <a:endParaRPr lang="en-CA" altLang="en-US" sz="1800" dirty="0">
              <a:latin typeface="Calibri" panose="020F0502020204030204" pitchFamily="34" charset="0"/>
              <a:ea typeface="Cambria" panose="020405030504060302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213516"/>
            <a:ext cx="862810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u="sng" dirty="0">
                <a:solidFill>
                  <a:srgbClr val="FF0000"/>
                </a:solidFill>
              </a:rPr>
              <a:t>Types of Testing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B10F0-5CD9-4B4C-B4DD-7DB8F3D1BF34}" type="datetime5">
              <a:rPr lang="en-US" smtClean="0"/>
              <a:t>28-Nov-25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BAD86-379D-49EE-975C-62BC7A511027}" type="slidenum">
              <a:rPr lang="en-US" altLang="en-US" smtClean="0"/>
              <a:pPr/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71884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3">
            <a:extLst>
              <a:ext uri="{FF2B5EF4-FFF2-40B4-BE49-F238E27FC236}">
                <a16:creationId xmlns:a16="http://schemas.microsoft.com/office/drawing/2014/main" xmlns="" id="{D1236C37-7732-4F8D-9A31-68C64BEA4C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8503" y="736736"/>
            <a:ext cx="8229600" cy="5053263"/>
          </a:xfrm>
        </p:spPr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CA" altLang="en-US" sz="24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Objectives of Testing</a:t>
            </a:r>
          </a:p>
          <a:p>
            <a:pPr marL="571500" indent="-457200">
              <a:buFont typeface="+mj-lt"/>
              <a:buAutoNum type="arabicPeriod"/>
            </a:pPr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Identify </a:t>
            </a:r>
            <a:r>
              <a:rPr lang="en-CA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and fix bugs or defects</a:t>
            </a:r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571500" indent="-457200">
              <a:buFont typeface="+mj-lt"/>
              <a:buAutoNum type="arabicPeriod"/>
            </a:pPr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Validate </a:t>
            </a:r>
            <a:r>
              <a:rPr lang="en-CA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that the product meets requirements</a:t>
            </a:r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571500" indent="-457200">
              <a:buFont typeface="+mj-lt"/>
              <a:buAutoNum type="arabicPeriod"/>
            </a:pPr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Ensure </a:t>
            </a:r>
            <a:r>
              <a:rPr lang="en-CA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product is user-friendly and reliable</a:t>
            </a:r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571500" indent="-457200">
              <a:buFont typeface="+mj-lt"/>
              <a:buAutoNum type="arabicPeriod"/>
            </a:pPr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Prevent </a:t>
            </a:r>
            <a:r>
              <a:rPr lang="en-CA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future issues by identifying root causes of defects</a:t>
            </a:r>
          </a:p>
          <a:p>
            <a:endParaRPr lang="en-CA" alt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14300" indent="0">
              <a:buNone/>
            </a:pPr>
            <a:r>
              <a:rPr lang="en-CA" altLang="en-US" sz="24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Benefits of </a:t>
            </a:r>
            <a:r>
              <a:rPr lang="en-CA" altLang="en-US" sz="2400" b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Testing</a:t>
            </a:r>
          </a:p>
          <a:p>
            <a:pPr marL="571500" indent="-457200">
              <a:buFont typeface="+mj-lt"/>
              <a:buAutoNum type="arabicPeriod"/>
            </a:pPr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Enhances </a:t>
            </a:r>
            <a:r>
              <a:rPr lang="en-CA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product quality</a:t>
            </a:r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571500" indent="-457200">
              <a:buFont typeface="+mj-lt"/>
              <a:buAutoNum type="arabicPeriod"/>
            </a:pPr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Increases </a:t>
            </a:r>
            <a:r>
              <a:rPr lang="en-CA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customer satisfaction</a:t>
            </a:r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571500" indent="-457200">
              <a:buFont typeface="+mj-lt"/>
              <a:buAutoNum type="arabicPeriod"/>
            </a:pPr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Reduces </a:t>
            </a:r>
            <a:r>
              <a:rPr lang="en-CA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maintenance costs</a:t>
            </a:r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571500" indent="-457200">
              <a:buFont typeface="+mj-lt"/>
              <a:buAutoNum type="arabicPeriod"/>
            </a:pPr>
            <a:r>
              <a:rPr lang="en-CA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Mitigates </a:t>
            </a:r>
            <a:r>
              <a:rPr lang="en-CA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risks of failure in production environments.</a:t>
            </a:r>
          </a:p>
          <a:p>
            <a:endParaRPr lang="en-CA" alt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39F50-B1DB-45FC-9DDB-24A50CD6F2FC}" type="datetime5">
              <a:rPr lang="en-US" smtClean="0"/>
              <a:t>28-Nov-25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BAD86-379D-49EE-975C-62BC7A511027}" type="slidenum">
              <a:rPr lang="en-US" altLang="en-US" smtClean="0"/>
              <a:pPr/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12180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3">
            <a:extLst>
              <a:ext uri="{FF2B5EF4-FFF2-40B4-BE49-F238E27FC236}">
                <a16:creationId xmlns:a16="http://schemas.microsoft.com/office/drawing/2014/main" xmlns="" id="{D1236C37-7732-4F8D-9A31-68C64BEA4C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8503" y="736736"/>
            <a:ext cx="8229600" cy="5531717"/>
          </a:xfrm>
        </p:spPr>
        <p:txBody>
          <a:bodyPr/>
          <a:lstStyle/>
          <a:p>
            <a:pPr marL="114300" indent="0" algn="just">
              <a:buNone/>
            </a:pPr>
            <a:r>
              <a:rPr lang="en-CA" altLang="en-US" sz="2000" b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</a:t>
            </a:r>
            <a:r>
              <a:rPr lang="en-CA" altLang="en-US" sz="20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test cases are </a:t>
            </a:r>
            <a:r>
              <a:rPr lang="en-CA" altLang="en-US" sz="2000" b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run either any one of the following situation</a:t>
            </a:r>
          </a:p>
          <a:p>
            <a:pPr algn="just"/>
            <a:endParaRPr lang="en-CA" altLang="en-US" sz="18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CA" alt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The </a:t>
            </a:r>
            <a:r>
              <a:rPr lang="en-CA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issue is dismissed on the grounds that there has been a </a:t>
            </a:r>
            <a:r>
              <a:rPr lang="en-CA" alt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misunderstanding </a:t>
            </a:r>
            <a:r>
              <a:rPr lang="en-CA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of </a:t>
            </a:r>
            <a:r>
              <a:rPr lang="en-CA" alt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a requirement </a:t>
            </a:r>
            <a:r>
              <a:rPr lang="en-CA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by the tester</a:t>
            </a:r>
            <a:r>
              <a:rPr lang="en-CA" alt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algn="just"/>
            <a:endParaRPr lang="en-CA" alt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CA" alt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The </a:t>
            </a:r>
            <a:r>
              <a:rPr lang="en-CA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issue is identified as a fault which the developers need to correct </a:t>
            </a:r>
            <a:r>
              <a:rPr lang="en-CA" alt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– where development </a:t>
            </a:r>
            <a:r>
              <a:rPr lang="en-CA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is being clone by </a:t>
            </a:r>
            <a:r>
              <a:rPr lang="en-CA" alt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 contractors </a:t>
            </a:r>
            <a:r>
              <a:rPr lang="en-CA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then they would be expected to </a:t>
            </a:r>
            <a:r>
              <a:rPr lang="en-CA" alt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cover the </a:t>
            </a:r>
            <a:r>
              <a:rPr lang="en-CA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cost of the correction</a:t>
            </a:r>
            <a:r>
              <a:rPr lang="en-CA" alt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algn="just"/>
            <a:endParaRPr lang="en-CA" alt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CA" alt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It is </a:t>
            </a:r>
            <a:r>
              <a:rPr lang="en-CA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recognized that the software is i:ehaving as specified, but the </a:t>
            </a:r>
            <a:r>
              <a:rPr lang="en-CA" alt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requirement originally </a:t>
            </a:r>
            <a:r>
              <a:rPr lang="en-CA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agreed is in fact incorrect - remedying this means </a:t>
            </a:r>
            <a:r>
              <a:rPr lang="en-CA" alt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adding </a:t>
            </a:r>
            <a:r>
              <a:rPr lang="en-CA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a </a:t>
            </a:r>
            <a:r>
              <a:rPr lang="en-CA" alt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new requirement </a:t>
            </a:r>
            <a:r>
              <a:rPr lang="en-CA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and a contractor could expect to receive payment for the </a:t>
            </a:r>
            <a:r>
              <a:rPr lang="en-CA" alt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additional work.</a:t>
            </a:r>
          </a:p>
          <a:p>
            <a:pPr algn="just"/>
            <a:endParaRPr lang="en-CA" alt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CA" alt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The </a:t>
            </a:r>
            <a:r>
              <a:rPr lang="en-CA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issue is </a:t>
            </a:r>
            <a:r>
              <a:rPr lang="en-CA" alt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identified </a:t>
            </a:r>
            <a:r>
              <a:rPr lang="en-CA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as a fault but is </a:t>
            </a:r>
            <a:r>
              <a:rPr lang="en-CA" alt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treated </a:t>
            </a:r>
            <a:r>
              <a:rPr lang="en-CA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as an off-specification - it is </a:t>
            </a:r>
            <a:r>
              <a:rPr lang="en-CA" alt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decided that the </a:t>
            </a:r>
            <a:r>
              <a:rPr lang="en-CA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application can be made operational with the error still in place.</a:t>
            </a:r>
            <a:endParaRPr lang="en-CA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4D059-E95A-49B0-98C1-15A22FB7C7BA}" type="datetime5">
              <a:rPr lang="en-US" smtClean="0"/>
              <a:t>28-Nov-25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BAD86-379D-49EE-975C-62BC7A511027}" type="slidenum">
              <a:rPr lang="en-US" altLang="en-US" smtClean="0"/>
              <a:pPr/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54765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3">
            <a:extLst>
              <a:ext uri="{FF2B5EF4-FFF2-40B4-BE49-F238E27FC236}">
                <a16:creationId xmlns:a16="http://schemas.microsoft.com/office/drawing/2014/main" xmlns="" id="{D1236C37-7732-4F8D-9A31-68C64BEA4C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41421" y="1260503"/>
            <a:ext cx="8458200" cy="4998006"/>
          </a:xfrm>
        </p:spPr>
        <p:txBody>
          <a:bodyPr>
            <a:normAutofit lnSpcReduction="10000"/>
          </a:bodyPr>
          <a:lstStyle/>
          <a:p>
            <a:pPr>
              <a:buFont typeface="+mj-lt"/>
              <a:buAutoNum type="arabicPeriod"/>
            </a:pPr>
            <a:r>
              <a:rPr lang="en-CA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P</a:t>
            </a:r>
            <a:r>
              <a:rPr lang="en-CA" alt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urpose </a:t>
            </a:r>
            <a:r>
              <a:rPr lang="en-CA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- scope of plan;</a:t>
            </a:r>
          </a:p>
          <a:p>
            <a:pPr>
              <a:buFont typeface="+mj-lt"/>
              <a:buAutoNum type="arabicPeriod"/>
            </a:pPr>
            <a:r>
              <a:rPr lang="en-CA" alt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List </a:t>
            </a:r>
            <a:r>
              <a:rPr lang="en-CA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of references to other documents;</a:t>
            </a:r>
          </a:p>
          <a:p>
            <a:pPr>
              <a:buFont typeface="+mj-lt"/>
              <a:buAutoNum type="arabicPeriod"/>
            </a:pPr>
            <a:r>
              <a:rPr lang="en-CA" alt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Management </a:t>
            </a:r>
            <a:r>
              <a:rPr lang="en-CA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arrangements, including organization, tasks </a:t>
            </a:r>
            <a:r>
              <a:rPr lang="en-CA" alt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and  responsibilities</a:t>
            </a:r>
            <a:r>
              <a:rPr lang="en-CA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;</a:t>
            </a:r>
          </a:p>
          <a:p>
            <a:pPr>
              <a:buFont typeface="+mj-lt"/>
              <a:buAutoNum type="arabicPeriod"/>
            </a:pPr>
            <a:r>
              <a:rPr lang="en-CA" alt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Documentation </a:t>
            </a:r>
            <a:r>
              <a:rPr lang="en-CA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to be Produced;</a:t>
            </a:r>
          </a:p>
          <a:p>
            <a:pPr>
              <a:buFont typeface="+mj-lt"/>
              <a:buAutoNum type="arabicPeriod"/>
            </a:pPr>
            <a:r>
              <a:rPr lang="en-CA" alt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Standards</a:t>
            </a:r>
            <a:r>
              <a:rPr lang="en-CA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, practices and conventions;</a:t>
            </a:r>
          </a:p>
          <a:p>
            <a:pPr>
              <a:buFont typeface="+mj-lt"/>
              <a:buAutoNum type="arabicPeriod"/>
            </a:pPr>
            <a:r>
              <a:rPr lang="en-CA" alt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Reviews </a:t>
            </a:r>
            <a:r>
              <a:rPr lang="en-CA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and audits;</a:t>
            </a:r>
          </a:p>
          <a:p>
            <a:pPr>
              <a:buFont typeface="+mj-lt"/>
              <a:buAutoNum type="arabicPeriod"/>
            </a:pPr>
            <a:r>
              <a:rPr lang="en-CA" alt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Testing</a:t>
            </a:r>
            <a:r>
              <a:rPr lang="en-CA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;</a:t>
            </a:r>
          </a:p>
          <a:p>
            <a:pPr>
              <a:buFont typeface="+mj-lt"/>
              <a:buAutoNum type="arabicPeriod"/>
            </a:pPr>
            <a:r>
              <a:rPr lang="en-CA" alt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Problem </a:t>
            </a:r>
            <a:r>
              <a:rPr lang="en-CA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reporting and corrective action;</a:t>
            </a:r>
          </a:p>
          <a:p>
            <a:pPr>
              <a:buFont typeface="+mj-lt"/>
              <a:buAutoNum type="arabicPeriod"/>
            </a:pPr>
            <a:r>
              <a:rPr lang="en-CA" alt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Tools</a:t>
            </a:r>
            <a:r>
              <a:rPr lang="en-CA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, techniques and methodologies;</a:t>
            </a:r>
          </a:p>
          <a:p>
            <a:pPr>
              <a:buFont typeface="+mj-lt"/>
              <a:buAutoNum type="arabicPeriod"/>
            </a:pPr>
            <a:r>
              <a:rPr lang="en-CA" alt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Code</a:t>
            </a:r>
            <a:r>
              <a:rPr lang="en-CA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, media and supplier control;</a:t>
            </a:r>
          </a:p>
          <a:p>
            <a:pPr>
              <a:buFont typeface="+mj-lt"/>
              <a:buAutoNum type="arabicPeriod"/>
            </a:pPr>
            <a:r>
              <a:rPr lang="en-CA" alt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Records </a:t>
            </a:r>
            <a:r>
              <a:rPr lang="en-CA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collection, maintenance and retention;</a:t>
            </a:r>
          </a:p>
          <a:p>
            <a:pPr>
              <a:buFont typeface="+mj-lt"/>
              <a:buAutoNum type="arabicPeriod"/>
            </a:pPr>
            <a:r>
              <a:rPr lang="en-CA" alt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Training</a:t>
            </a:r>
            <a:r>
              <a:rPr lang="en-CA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;</a:t>
            </a:r>
          </a:p>
          <a:p>
            <a:pPr>
              <a:buFont typeface="+mj-lt"/>
              <a:buAutoNum type="arabicPeriod"/>
            </a:pPr>
            <a:r>
              <a:rPr lang="en-CA" alt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Risk </a:t>
            </a:r>
            <a:r>
              <a:rPr lang="en-CA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management - the methods of risk management that are to be used</a:t>
            </a:r>
          </a:p>
          <a:p>
            <a:endParaRPr lang="en-CA" alt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CA" alt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CA" alt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430379" y="610558"/>
            <a:ext cx="386213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u="sng" dirty="0" smtClean="0">
                <a:solidFill>
                  <a:srgbClr val="FF0000"/>
                </a:solidFill>
              </a:rPr>
              <a:t>Quality Plans</a:t>
            </a:r>
            <a:endParaRPr lang="en-IN" sz="2800" b="1" u="sng" dirty="0">
              <a:solidFill>
                <a:srgbClr val="FF0000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80164-DABB-41B9-8463-9E90B82A0884}" type="datetime5">
              <a:rPr lang="en-US" smtClean="0"/>
              <a:t>28-Nov-25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BAD86-379D-49EE-975C-62BC7A511027}" type="slidenum">
              <a:rPr lang="en-US" altLang="en-US" smtClean="0"/>
              <a:pPr/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50709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3">
            <a:extLst>
              <a:ext uri="{FF2B5EF4-FFF2-40B4-BE49-F238E27FC236}">
                <a16:creationId xmlns:a16="http://schemas.microsoft.com/office/drawing/2014/main" xmlns="" id="{D1236C37-7732-4F8D-9A31-68C64BEA4C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28156"/>
            <a:ext cx="8229600" cy="4998006"/>
          </a:xfrm>
        </p:spPr>
        <p:txBody>
          <a:bodyPr/>
          <a:lstStyle/>
          <a:p>
            <a:endParaRPr lang="en-CA" alt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CA" alt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CA" alt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CA" alt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624263" y="2830506"/>
            <a:ext cx="6653463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8000" b="1" dirty="0" smtClean="0"/>
              <a:t>Thank You</a:t>
            </a:r>
            <a:endParaRPr lang="en-IN" sz="8000" b="1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23AB-D1A3-4889-B095-A9F4B177BD46}" type="datetime5">
              <a:rPr lang="en-US" smtClean="0"/>
              <a:t>28-Nov-25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5257800"/>
            <a:ext cx="2194560" cy="1397039"/>
          </a:xfrm>
        </p:spPr>
        <p:txBody>
          <a:bodyPr/>
          <a:lstStyle/>
          <a:p>
            <a:fld id="{DA1BAD86-379D-49EE-975C-62BC7A511027}" type="slidenum">
              <a:rPr lang="en-US" altLang="en-US" sz="2000" smtClean="0">
                <a:solidFill>
                  <a:schemeClr val="tx1">
                    <a:lumMod val="95000"/>
                    <a:lumOff val="5000"/>
                    <a:alpha val="20000"/>
                  </a:schemeClr>
                </a:solidFill>
              </a:rPr>
              <a:pPr/>
              <a:t>31</a:t>
            </a:fld>
            <a:endParaRPr lang="en-US" altLang="en-US" sz="2000" dirty="0">
              <a:solidFill>
                <a:schemeClr val="tx1">
                  <a:lumMod val="95000"/>
                  <a:lumOff val="5000"/>
                  <a:alpha val="2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74497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ustom 1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25317</TotalTime>
  <Words>2518</Words>
  <Application>Microsoft Office PowerPoint</Application>
  <PresentationFormat>On-screen Show (4:3)</PresentationFormat>
  <Paragraphs>289</Paragraphs>
  <Slides>31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Metropolitan</vt:lpstr>
      <vt:lpstr>PowerPoint Presentation</vt:lpstr>
      <vt:lpstr>Module-5:  Software Quality Syllabus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RS Pressman &amp; Associates,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Set to accompany Web Engineering: A Practitioner Approach</dc:title>
  <dc:creator>Roger Pressman</dc:creator>
  <cp:lastModifiedBy>Venkateswarlu Bondu</cp:lastModifiedBy>
  <cp:revision>181</cp:revision>
  <dcterms:created xsi:type="dcterms:W3CDTF">2008-02-08T18:09:54Z</dcterms:created>
  <dcterms:modified xsi:type="dcterms:W3CDTF">2025-11-28T07:23:52Z</dcterms:modified>
</cp:coreProperties>
</file>